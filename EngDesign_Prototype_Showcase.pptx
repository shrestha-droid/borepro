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6d1637b-8483-9be7-1231-ea609326a7cb}">
          <p14:sldIdLst>
            <p14:sldId id="256"/>
            <p14:sldId id="257"/>
            <p14:sldId id="258"/>
          </p14:sldIdLst>
        </p14:section>
        <p14:section name="Design" id="{fee4b1a7-ab5f-d5a5-3a65-48ee92e731fc}">
          <p14:sldIdLst>
            <p14:sldId id="259"/>
            <p14:sldId id="260"/>
            <p14:sldId id="261"/>
          </p14:sldIdLst>
        </p14:section>
        <p14:section name="Modelling" id="{419188e4-bdb4-1188-e4aa-313d326c58a5}">
          <p14:sldIdLst>
            <p14:sldId id="262"/>
            <p14:sldId id="263"/>
            <p14:sldId id="264"/>
          </p14:sldIdLst>
        </p14:section>
        <p14:section name="Build &amp; Test" id="{94fdafab-1ace-ad1f-2b2d-19dddbde6f93}">
          <p14:sldIdLst>
            <p14:sldId id="265"/>
            <p14:sldId id="266"/>
            <p14:sldId id="267"/>
          </p14:sldIdLst>
        </p14:section>
        <p14:section name="Wrap-up" id="{450c008d-1315-4373-fd37-78056e2f8425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A254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A2540"/>
                </a:solidFill>
                <a:latin typeface="+mn-lt"/>
              </a:rPr>
              <a:t>Load on the neck vs. forward head tilt (lb)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Effective load on neck (lb)</c:v>
                </c:pt>
              </c:strCache>
            </c:strRef>
          </c:tx>
          <c:spPr>
            <a:solidFill>
              <a:srgbClr val="1FA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220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A3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C14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2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663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64B4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0°</c:v>
                  </c:pt>
                  <c:pt idx="1">
                    <c:v>15°</c:v>
                  </c:pt>
                  <c:pt idx="2">
                    <c:v>30°</c:v>
                  </c:pt>
                  <c:pt idx="3">
                    <c:v>45°</c:v>
                  </c:pt>
                  <c:pt idx="4">
                    <c:v>60°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27</c:v>
                </c:pt>
                <c:pt idx="2">
                  <c:v>40</c:v>
                </c:pt>
                <c:pt idx="3">
                  <c:v>49</c:v>
                </c:pt>
                <c:pt idx="4">
                  <c:v>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220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773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773"/>
                    </a:solidFill>
                    <a:latin typeface="+mn-lt"/>
                  </a:rPr>
                  <a:t>Forward head tilt angle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220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9525" cap="flat">
              <a:solidFill>
                <a:srgbClr val="DDE5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7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A254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A2540"/>
                </a:solidFill>
                <a:latin typeface="+mn-lt"/>
              </a:rPr>
              <a:t>Mid-span deflection vs. tray thickness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 deflection (mm)</c:v>
                </c:pt>
              </c:strCache>
            </c:strRef>
          </c:tx>
          <c:spPr>
            <a:solidFill>
              <a:srgbClr val="2563A8"/>
            </a:solidFill>
            <a:ln w="38100" cap="flat">
              <a:solidFill>
                <a:srgbClr val="2563A8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2563A8"/>
              </a:solidFill>
              <a:ln w="9525" cap="flat">
                <a:solidFill>
                  <a:srgbClr val="2563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 mm</c:v>
                  </c:pt>
                  <c:pt idx="1">
                    <c:v>1.5 mm</c:v>
                  </c:pt>
                  <c:pt idx="2">
                    <c:v>2 mm</c:v>
                  </c:pt>
                  <c:pt idx="3">
                    <c:v>2.5 mm</c:v>
                  </c:pt>
                  <c:pt idx="4">
                    <c:v>3 mm</c:v>
                  </c:pt>
                  <c:pt idx="5">
                    <c:v>4 mm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11.12</c:v>
                </c:pt>
                <c:pt idx="1">
                  <c:v>3.3</c:v>
                </c:pt>
                <c:pt idx="2">
                  <c:v>1.39</c:v>
                </c:pt>
                <c:pt idx="3">
                  <c:v>0.71</c:v>
                </c:pt>
                <c:pt idx="4">
                  <c:v>0.41</c:v>
                </c:pt>
                <c:pt idx="5">
                  <c:v>0.17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Deflection limit (1.5 mm)</c:v>
                </c:pt>
              </c:strCache>
            </c:strRef>
          </c:tx>
          <c:spPr>
            <a:solidFill>
              <a:srgbClr val="D64B4B"/>
            </a:solidFill>
            <a:ln w="38100" cap="flat">
              <a:solidFill>
                <a:srgbClr val="D64B4B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D64B4B"/>
              </a:solidFill>
              <a:ln w="9525" cap="flat">
                <a:solidFill>
                  <a:srgbClr val="D64B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 mm</c:v>
                  </c:pt>
                  <c:pt idx="1">
                    <c:v>1.5 mm</c:v>
                  </c:pt>
                  <c:pt idx="2">
                    <c:v>2 mm</c:v>
                  </c:pt>
                  <c:pt idx="3">
                    <c:v>2.5 mm</c:v>
                  </c:pt>
                  <c:pt idx="4">
                    <c:v>3 mm</c:v>
                  </c:pt>
                  <c:pt idx="5">
                    <c:v>4 mm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1.5</c:v>
                </c:pt>
                <c:pt idx="1">
                  <c:v>1.5</c:v>
                </c:pt>
                <c:pt idx="2">
                  <c:v>1.5</c:v>
                </c:pt>
                <c:pt idx="3">
                  <c:v>1.5</c:v>
                </c:pt>
                <c:pt idx="4">
                  <c:v>1.5</c:v>
                </c:pt>
                <c:pt idx="5">
                  <c:v>1.5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773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773"/>
                    </a:solidFill>
                    <a:latin typeface="+mn-lt"/>
                  </a:rPr>
                  <a:t>Tray thickness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220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l"/>
        <c:majorGridlines>
          <c:spPr>
            <a:ln w="9525" cap="flat">
              <a:solidFill>
                <a:srgbClr val="DDE5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7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220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A254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A2540"/>
                </a:solidFill>
                <a:latin typeface="+mn-lt"/>
              </a:rPr>
              <a:t>Predicted deflected shape of the tray under 5 kg (hand calculation)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Deflection (mm)</c:v>
                </c:pt>
              </c:strCache>
            </c:strRef>
          </c:tx>
          <c:spPr>
            <a:solidFill>
              <a:srgbClr val="2563A8"/>
            </a:solidFill>
            <a:ln w="38100" cap="flat">
              <a:solidFill>
                <a:srgbClr val="2563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563A8"/>
              </a:solidFill>
              <a:ln w="9525" cap="flat">
                <a:solidFill>
                  <a:srgbClr val="2563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25</c:v>
                  </c:pt>
                  <c:pt idx="2">
                    <c:v>50</c:v>
                  </c:pt>
                  <c:pt idx="3">
                    <c:v>75</c:v>
                  </c:pt>
                  <c:pt idx="4">
                    <c:v>100</c:v>
                  </c:pt>
                  <c:pt idx="5">
                    <c:v>125</c:v>
                  </c:pt>
                  <c:pt idx="6">
                    <c:v>150</c:v>
                  </c:pt>
                  <c:pt idx="7">
                    <c:v>175</c:v>
                  </c:pt>
                  <c:pt idx="8">
                    <c:v>200</c:v>
                  </c:pt>
                  <c:pt idx="9">
                    <c:v>225</c:v>
                  </c:pt>
                  <c:pt idx="10">
                    <c:v>250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-0.412</c:v>
                </c:pt>
                <c:pt idx="2">
                  <c:v>-0.79</c:v>
                </c:pt>
                <c:pt idx="3">
                  <c:v>-1.101</c:v>
                </c:pt>
                <c:pt idx="4">
                  <c:v>-1.313</c:v>
                </c:pt>
                <c:pt idx="5">
                  <c:v>-1.39</c:v>
                </c:pt>
                <c:pt idx="6">
                  <c:v>-1.313</c:v>
                </c:pt>
                <c:pt idx="7">
                  <c:v>-1.101</c:v>
                </c:pt>
                <c:pt idx="8">
                  <c:v>-0.79</c:v>
                </c:pt>
                <c:pt idx="9">
                  <c:v>-0.412</c:v>
                </c:pt>
                <c:pt idx="10">
                  <c:v>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773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773"/>
                    </a:solidFill>
                    <a:latin typeface="+mn-lt"/>
                  </a:rPr>
                  <a:t>Position along the 250 mm span (mm)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220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1.6"/>
        </c:scaling>
        <c:delete val="0"/>
        <c:axPos val="l"/>
        <c:majorGridlines>
          <c:spPr>
            <a:ln w="9525" cap="flat">
              <a:solidFill>
                <a:srgbClr val="DDE5ED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7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project. One-sentence pitch: StandUp is a foldable laptop stand that raises the screen to eye level, designed and verified using the engineering design process and mechanics-based modelling.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Motivate the project with data, not opinion. Hansraj (2014) modelled the effective load on the cervical spine as the head tilts forward: roughly 12 lb upright rising to 60 lb at 60 degrees. A laptop on a desk forces ~30-45 degrees of neck flexion. That is the problem we translate into an engineering need.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five stages briefly (about 20 seconds each). The point to land: this was not 'build then hope' — each stage produced an artefact (observations, spec table, concept matrix, CAD + calculations, test plan). The dashed banner shows the loop: testing changed the design. Highlighted stages 4 and 5 are where the engineering modelling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simplified House-of-Quality step: customer needs on the left, the engineering metric that captures each need in the middle, and a target value on the right. Explain WHY each target was chosen: e.g. 1.5 mm deflection is below what a typist can feel; 20 mm folded thickness fits a laptop sleeve pocket; factor of safety &gt;= 3 is typical for consumer products with uncertain loading.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method: weights sum to 100% and come from the needs (portability and adjustability matter most to our users). Each concept is scored 1-5 per criterion; the weighted sum picks the winner. Concept C wins with 4.20 vs 3.40 (A) and 3.45 (B). Mention sensitivity: if you changed weights by +/-10%, C still wins — a good robustness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four functional parts of the final design. Each part has a clear function, and each material and geometry choice traces back to a spec. The dashed leg in the drawing shows the adjustable positions.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model: idealise the tray as a simply supported beam with a centre point load — the worst case, because a real laptop spreads its weight. Walk through M = FL/4 = 3.07 N·m, I = b t^3/12 = 1.67e-10 m^4, sigma = Mc/I = 18.4 MPa, and delta = FL^3/(48EI) = 1.39 mm. State the assumptions out loud — examiners love hearing what the model ignores (dynamic loads, fatigue, stress concentrations at holes and bends).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'I understand the subject' slide. Most students check stress only. Here the design is stiffness-driven: because deflection goes as 1/t^3 while stress goes as 1/t^2, the deflection limit binds first. Sweep thickness in the model (or in a CAD parametric study) and pick the thinnest tray that meets the limit — this minimises mass and cost. Values: 1 mm -&gt; 11.12 mm; 1.5 mm -&gt; 3.3 mm; 2 mm -&gt; 1.39 mm; 2.5 mm -&gt; 0.71 mm; 3 mm -&gt; 0.41 mm; 4 mm -&gt; 0.17 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four-step workflow: a parametric CAD model drives the analysis, so changing thickness or span updates everything. The chart shows the hand-calculation deflected shape; FEA on the same geometry should reproduce the peak of about 1.4 mm within 10%. If it does not, the mesh, boundary conditions or the idealisation need revisiting. Mention mesh convergence.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materials, manufacturing process and cost. Total BOM is $10.40 against a $12 target. Link choices back to the specs: aluminium is light and corrosion-resistant; laser cutting plus bending needs no tooling; slotted holes make assembly tolerant of fabrication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spec from slide 4 gets a test with a pass criterion. The Model predicts column comes from the calculations; physical tests will be compared against it. If a measurement disagrees with the model, the likely causes are bolt clearance adding play, the point-load idealisation, and sheet thickness tolerance.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how the design was refined. The 1 mm to 2 mm change is directly traceable to the model: deflection goes as 1/t^3, so doubling thickness cuts predicted deflection by 8x (11.1 mm to 1.4 mm). The other two changes address practical issues found in design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engineering maturity: a design is more than its stress number. Safety, sustainability and ergonomics are standard design considerations; the limitations card is where you state what your model does NOT capture. Being upfront about limitations is a strength, not a weakness.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restating the three messages: need to spec, model-led design, build and iterate. Then the next steps (these show you know what a fuller study would include).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_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58521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246120"/>
            <a:ext cx="5394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Shape 0"/>
          <p:cNvSpPr/>
          <p:nvPr/>
        </p:nvSpPr>
        <p:spPr>
          <a:xfrm>
            <a:off x="228600" y="228600"/>
            <a:ext cx="11734495" cy="6400800"/>
          </a:xfrm>
          <a:prstGeom prst="rect">
            <a:avLst/>
          </a:prstGeom>
          <a:noFill/>
          <a:ln w="9525">
            <a:solidFill>
              <a:srgbClr val="C9D5E1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48640" y="62910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4"/>
                </a:solidFill>
              </a:rPr>
              <a:t>ENGINEERING DESIGN &amp; MODELLING  ·  STANDUP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ENGINEERING DESIGN &amp; MODELLING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StandUp</a:t>
            </a:r>
            <a:endParaRPr lang="en-US" sz="6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24612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An adjustable, foldable laptop stand — from user need to engineered prototype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TEAM  ·  VIT BHOPAL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937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Shrestha Pandey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57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chemeClr val="bg2"/>
                </a:solidFill>
              </a:rPr>
              <a:t>25BCE11099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4937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Yeshika Murjani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5257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chemeClr val="bg2"/>
                </a:solidFill>
              </a:rPr>
              <a:t>25BCE10494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669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Vivek Krishna V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chemeClr val="bg2"/>
                </a:solidFill>
              </a:rPr>
              <a:t>24BAI10099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5669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Archana Santhosh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chemeClr val="bg2"/>
                </a:solidFill>
              </a:rPr>
              <a:t>24BAI10840</a:t>
            </a:r>
            <a:endParaRPr lang="en-US" sz="1400" dirty="0"/>
          </a:p>
        </p:txBody>
      </p:sp>
      <p:sp>
        <p:nvSpPr>
          <p:cNvPr id="14" name="Drawing frame"/>
          <p:cNvSpPr/>
          <p:nvPr/>
        </p:nvSpPr>
        <p:spPr>
          <a:xfrm>
            <a:off x="6675120" y="1097280"/>
            <a:ext cx="4983480" cy="4572000"/>
          </a:xfrm>
          <a:prstGeom prst="roundRect">
            <a:avLst>
              <a:gd name="adj" fmla="val 3000"/>
            </a:avLst>
          </a:prstGeom>
          <a:solidFill>
            <a:schemeClr val="bg1">
              <a:alpha val="6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and drawing line"/>
          <p:cNvSpPr/>
          <p:nvPr/>
        </p:nvSpPr>
        <p:spPr>
          <a:xfrm flipV="1">
            <a:off x="7096476" y="4343400"/>
            <a:ext cx="138257" cy="138257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16" name="Stand drawing line"/>
          <p:cNvSpPr/>
          <p:nvPr/>
        </p:nvSpPr>
        <p:spPr>
          <a:xfrm flipV="1">
            <a:off x="7343364" y="4343400"/>
            <a:ext cx="138257" cy="138257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17" name="Stand drawing line"/>
          <p:cNvSpPr/>
          <p:nvPr/>
        </p:nvSpPr>
        <p:spPr>
          <a:xfrm flipV="1">
            <a:off x="7590252" y="4343400"/>
            <a:ext cx="138257" cy="138257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18" name="Stand drawing line"/>
          <p:cNvSpPr/>
          <p:nvPr/>
        </p:nvSpPr>
        <p:spPr>
          <a:xfrm flipV="1">
            <a:off x="7837140" y="4343400"/>
            <a:ext cx="138257" cy="138257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19" name="Stand drawing line"/>
          <p:cNvSpPr/>
          <p:nvPr/>
        </p:nvSpPr>
        <p:spPr>
          <a:xfrm flipV="1">
            <a:off x="8084028" y="4343400"/>
            <a:ext cx="138257" cy="138257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0" name="Stand drawing line"/>
          <p:cNvSpPr/>
          <p:nvPr/>
        </p:nvSpPr>
        <p:spPr>
          <a:xfrm flipV="1">
            <a:off x="8330916" y="4343400"/>
            <a:ext cx="138257" cy="138257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1" name="Stand drawing line"/>
          <p:cNvSpPr/>
          <p:nvPr/>
        </p:nvSpPr>
        <p:spPr>
          <a:xfrm flipV="1">
            <a:off x="8577804" y="4343400"/>
            <a:ext cx="138257" cy="138257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2" name="Stand drawing line"/>
          <p:cNvSpPr/>
          <p:nvPr/>
        </p:nvSpPr>
        <p:spPr>
          <a:xfrm flipV="1">
            <a:off x="8824692" y="4343400"/>
            <a:ext cx="138257" cy="138257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3" name="Stand drawing line"/>
          <p:cNvSpPr/>
          <p:nvPr/>
        </p:nvSpPr>
        <p:spPr>
          <a:xfrm flipV="1">
            <a:off x="9071580" y="4343400"/>
            <a:ext cx="138257" cy="138257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4" name="Stand drawing line"/>
          <p:cNvSpPr/>
          <p:nvPr/>
        </p:nvSpPr>
        <p:spPr>
          <a:xfrm flipV="1">
            <a:off x="9318468" y="4343400"/>
            <a:ext cx="138257" cy="138257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5" name="Stand drawing line"/>
          <p:cNvSpPr/>
          <p:nvPr/>
        </p:nvSpPr>
        <p:spPr>
          <a:xfrm flipV="1">
            <a:off x="9565356" y="4343400"/>
            <a:ext cx="138257" cy="138257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6" name="Stand drawing line"/>
          <p:cNvSpPr/>
          <p:nvPr/>
        </p:nvSpPr>
        <p:spPr>
          <a:xfrm flipV="1">
            <a:off x="9812244" y="4343400"/>
            <a:ext cx="138257" cy="138257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7" name="Stand drawing line"/>
          <p:cNvSpPr/>
          <p:nvPr/>
        </p:nvSpPr>
        <p:spPr>
          <a:xfrm flipV="1">
            <a:off x="10059132" y="4343400"/>
            <a:ext cx="138257" cy="138257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8" name="Stand drawing line"/>
          <p:cNvSpPr/>
          <p:nvPr/>
        </p:nvSpPr>
        <p:spPr>
          <a:xfrm flipV="1">
            <a:off x="10306020" y="4343400"/>
            <a:ext cx="138257" cy="138257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9" name="Stand drawing line"/>
          <p:cNvSpPr/>
          <p:nvPr/>
        </p:nvSpPr>
        <p:spPr>
          <a:xfrm flipV="1">
            <a:off x="10552908" y="4343400"/>
            <a:ext cx="138257" cy="138257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30" name="Stand drawing line"/>
          <p:cNvSpPr/>
          <p:nvPr/>
        </p:nvSpPr>
        <p:spPr>
          <a:xfrm flipV="1">
            <a:off x="10799796" y="4343400"/>
            <a:ext cx="138257" cy="138257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31" name="Stand drawing line"/>
          <p:cNvSpPr/>
          <p:nvPr/>
        </p:nvSpPr>
        <p:spPr>
          <a:xfrm flipV="1">
            <a:off x="11046684" y="4343400"/>
            <a:ext cx="138257" cy="138257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32" name="Stand drawing line"/>
          <p:cNvSpPr/>
          <p:nvPr/>
        </p:nvSpPr>
        <p:spPr>
          <a:xfrm>
            <a:off x="7086600" y="4343400"/>
            <a:ext cx="4246474" cy="0"/>
          </a:xfrm>
          <a:prstGeom prst="line">
            <a:avLst/>
          </a:prstGeom>
          <a:noFill/>
          <a:ln w="38100">
            <a:solidFill>
              <a:srgbClr val="BFD7F2"/>
            </a:solidFill>
            <a:prstDash val="solid"/>
          </a:ln>
        </p:spPr>
      </p:sp>
      <p:sp>
        <p:nvSpPr>
          <p:cNvPr id="33" name="Stand drawing line"/>
          <p:cNvSpPr/>
          <p:nvPr/>
        </p:nvSpPr>
        <p:spPr>
          <a:xfrm>
            <a:off x="7382866" y="3849624"/>
            <a:ext cx="0" cy="493776"/>
          </a:xfrm>
          <a:prstGeom prst="line">
            <a:avLst/>
          </a:prstGeom>
          <a:noFill/>
          <a:ln w="38100">
            <a:solidFill>
              <a:srgbClr val="BFD7F2"/>
            </a:solidFill>
            <a:prstDash val="solid"/>
          </a:ln>
        </p:spPr>
      </p:sp>
      <p:sp>
        <p:nvSpPr>
          <p:cNvPr id="34" name="Stand drawing line"/>
          <p:cNvSpPr/>
          <p:nvPr/>
        </p:nvSpPr>
        <p:spPr>
          <a:xfrm flipV="1">
            <a:off x="7382866" y="2911450"/>
            <a:ext cx="3653942" cy="938174"/>
          </a:xfrm>
          <a:prstGeom prst="line">
            <a:avLst/>
          </a:prstGeom>
          <a:noFill/>
          <a:ln w="50800">
            <a:solidFill>
              <a:srgbClr val="BFD7F2"/>
            </a:solidFill>
            <a:prstDash val="solid"/>
          </a:ln>
        </p:spPr>
      </p:sp>
      <p:sp>
        <p:nvSpPr>
          <p:cNvPr id="35" name="Stand drawing line"/>
          <p:cNvSpPr/>
          <p:nvPr/>
        </p:nvSpPr>
        <p:spPr>
          <a:xfrm flipV="1">
            <a:off x="10148011" y="2987491"/>
            <a:ext cx="592531" cy="1355909"/>
          </a:xfrm>
          <a:prstGeom prst="line">
            <a:avLst/>
          </a:prstGeom>
          <a:noFill/>
          <a:ln w="38100">
            <a:solidFill>
              <a:srgbClr val="BFD7F2"/>
            </a:solidFill>
            <a:prstDash val="solid"/>
          </a:ln>
        </p:spPr>
      </p:sp>
      <p:sp>
        <p:nvSpPr>
          <p:cNvPr id="36" name="Stand drawing line"/>
          <p:cNvSpPr/>
          <p:nvPr/>
        </p:nvSpPr>
        <p:spPr>
          <a:xfrm flipV="1">
            <a:off x="10592410" y="2987491"/>
            <a:ext cx="148133" cy="1355909"/>
          </a:xfrm>
          <a:prstGeom prst="line">
            <a:avLst/>
          </a:prstGeom>
          <a:noFill/>
          <a:ln w="19050">
            <a:solidFill>
              <a:srgbClr val="BFD7F2"/>
            </a:solidFill>
            <a:prstDash val="dash"/>
          </a:ln>
        </p:spPr>
      </p:sp>
      <p:sp>
        <p:nvSpPr>
          <p:cNvPr id="37" name="Stand drawing line"/>
          <p:cNvSpPr/>
          <p:nvPr/>
        </p:nvSpPr>
        <p:spPr>
          <a:xfrm flipV="1">
            <a:off x="7530998" y="2808744"/>
            <a:ext cx="3407054" cy="874971"/>
          </a:xfrm>
          <a:prstGeom prst="line">
            <a:avLst/>
          </a:prstGeom>
          <a:noFill/>
          <a:ln w="76200">
            <a:solidFill>
              <a:srgbClr val="F28C28"/>
            </a:solidFill>
            <a:prstDash val="solid"/>
          </a:ln>
        </p:spPr>
      </p:sp>
      <p:sp>
        <p:nvSpPr>
          <p:cNvPr id="38" name="Stand drawing line"/>
          <p:cNvSpPr/>
          <p:nvPr/>
        </p:nvSpPr>
        <p:spPr>
          <a:xfrm>
            <a:off x="10493654" y="1627632"/>
            <a:ext cx="444398" cy="1181112"/>
          </a:xfrm>
          <a:prstGeom prst="line">
            <a:avLst/>
          </a:prstGeom>
          <a:noFill/>
          <a:ln w="76200">
            <a:solidFill>
              <a:srgbClr val="F28C28"/>
            </a:solidFill>
            <a:prstDash val="solid"/>
          </a:ln>
        </p:spPr>
      </p:sp>
      <p:sp>
        <p:nvSpPr>
          <p:cNvPr id="39" name="Stand drawing line"/>
          <p:cNvSpPr/>
          <p:nvPr/>
        </p:nvSpPr>
        <p:spPr>
          <a:xfrm>
            <a:off x="7501372" y="3503981"/>
            <a:ext cx="0" cy="276515"/>
          </a:xfrm>
          <a:prstGeom prst="line">
            <a:avLst/>
          </a:prstGeom>
          <a:noFill/>
          <a:ln w="38100">
            <a:solidFill>
              <a:srgbClr val="F28C28"/>
            </a:solidFill>
            <a:prstDash val="solid"/>
          </a:ln>
        </p:spPr>
      </p:sp>
      <p:sp>
        <p:nvSpPr>
          <p:cNvPr id="40" name="Hinge"/>
          <p:cNvSpPr/>
          <p:nvPr/>
        </p:nvSpPr>
        <p:spPr>
          <a:xfrm>
            <a:off x="7318858" y="3785616"/>
            <a:ext cx="128016" cy="128016"/>
          </a:xfrm>
          <a:prstGeom prst="ellipse">
            <a:avLst/>
          </a:prstGeom>
          <a:solidFill>
            <a:srgbClr val="F28C28"/>
          </a:solidFill>
          <a:ln w="9525">
            <a:solidFill>
              <a:srgbClr val="F28C28"/>
            </a:solidFill>
            <a:prstDash val="solid"/>
          </a:ln>
        </p:spPr>
      </p:sp>
      <p:sp>
        <p:nvSpPr>
          <p:cNvPr id="41" name="Hinge"/>
          <p:cNvSpPr/>
          <p:nvPr/>
        </p:nvSpPr>
        <p:spPr>
          <a:xfrm>
            <a:off x="10676534" y="2923483"/>
            <a:ext cx="128016" cy="128016"/>
          </a:xfrm>
          <a:prstGeom prst="ellipse">
            <a:avLst/>
          </a:prstGeom>
          <a:solidFill>
            <a:srgbClr val="F28C28"/>
          </a:solidFill>
          <a:ln w="9525">
            <a:solidFill>
              <a:srgbClr val="F28C28"/>
            </a:solidFill>
            <a:prstDash val="solid"/>
          </a:ln>
        </p:spPr>
      </p:sp>
      <p:sp>
        <p:nvSpPr>
          <p:cNvPr id="42" name="Dimension line"/>
          <p:cNvSpPr/>
          <p:nvPr/>
        </p:nvSpPr>
        <p:spPr>
          <a:xfrm>
            <a:off x="7086600" y="4800600"/>
            <a:ext cx="4246474" cy="0"/>
          </a:xfrm>
          <a:prstGeom prst="line">
            <a:avLst/>
          </a:prstGeom>
          <a:noFill/>
          <a:ln w="12700">
            <a:solidFill>
              <a:srgbClr val="BFD7F2"/>
            </a:solidFill>
            <a:prstDash val="solid"/>
            <a:headEnd type="triangle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7086600" y="4828032"/>
            <a:ext cx="42464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L = 250 mm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754380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6858000" y="5257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chemeClr val="bg2"/>
                </a:solidFill>
              </a:rPr>
              <a:t>SIDE VIEW  ·  θ = 15°–40°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The problem: laptops bend our necks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01  ·  THE PROBLEM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66751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43600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Source: Hansraj, K.K. (2014), Surgical Technology International 25, 277–279</a:t>
            </a:r>
            <a:endParaRPr lang="en-US" sz="1000" dirty="0"/>
          </a:p>
        </p:txBody>
      </p:sp>
      <p:sp>
        <p:nvSpPr>
          <p:cNvPr id="6" name="Stat card"/>
          <p:cNvSpPr/>
          <p:nvPr/>
        </p:nvSpPr>
        <p:spPr>
          <a:xfrm>
            <a:off x="7589520" y="1508760"/>
            <a:ext cx="4050792" cy="1874520"/>
          </a:xfrm>
          <a:prstGeom prst="roundRect">
            <a:avLst>
              <a:gd name="adj" fmla="val 5854"/>
            </a:avLst>
          </a:prstGeom>
          <a:solidFill>
            <a:schemeClr val="tx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18120" y="16002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5×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60604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more load on the neck at 60° tilt than when upright (12 → 60 lb)</a:t>
            </a:r>
            <a:endParaRPr lang="en-US" sz="1400" dirty="0"/>
          </a:p>
        </p:txBody>
      </p:sp>
      <p:sp>
        <p:nvSpPr>
          <p:cNvPr id="9" name="Need card"/>
          <p:cNvSpPr/>
          <p:nvPr/>
        </p:nvSpPr>
        <p:spPr>
          <a:xfrm>
            <a:off x="7589520" y="3611880"/>
            <a:ext cx="4050792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A254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818120" y="3749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DESIGN NEED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406908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Raise the screen to eye level while keeping the keyboard at a comfortable typing height — and make it light enough to carry every day.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Following the engineering design process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02  ·  APPROACH</a:t>
            </a:r>
            <a:endParaRPr lang="en-US" sz="1200" dirty="0"/>
          </a:p>
        </p:txBody>
      </p:sp>
      <p:sp>
        <p:nvSpPr>
          <p:cNvPr id="4" name="Step card 1"/>
          <p:cNvSpPr/>
          <p:nvPr/>
        </p:nvSpPr>
        <p:spPr>
          <a:xfrm>
            <a:off x="548640" y="1737360"/>
            <a:ext cx="2011680" cy="306324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tep icon circle 1"/>
          <p:cNvSpPr/>
          <p:nvPr/>
        </p:nvSpPr>
        <p:spPr>
          <a:xfrm>
            <a:off x="731520" y="19202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Empathis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084832"/>
            <a:ext cx="402336" cy="4023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8803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Empathise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3832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Studied how people use laptops; listed pain points</a:t>
            </a:r>
            <a:endParaRPr lang="en-US" sz="1400" dirty="0"/>
          </a:p>
        </p:txBody>
      </p:sp>
      <p:sp>
        <p:nvSpPr>
          <p:cNvPr id="10" name="Step card 2"/>
          <p:cNvSpPr/>
          <p:nvPr/>
        </p:nvSpPr>
        <p:spPr>
          <a:xfrm>
            <a:off x="2819324" y="1737360"/>
            <a:ext cx="2011680" cy="306324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tep icon circle 2"/>
          <p:cNvSpPr/>
          <p:nvPr/>
        </p:nvSpPr>
        <p:spPr>
          <a:xfrm>
            <a:off x="3002204" y="19202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Defin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796" y="20848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90924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3002204" y="28803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Define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3002204" y="33832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Wrote a problem statement and measurable specs</a:t>
            </a:r>
            <a:endParaRPr lang="en-US" sz="1400" dirty="0"/>
          </a:p>
        </p:txBody>
      </p:sp>
      <p:sp>
        <p:nvSpPr>
          <p:cNvPr id="16" name="Step card 3"/>
          <p:cNvSpPr/>
          <p:nvPr/>
        </p:nvSpPr>
        <p:spPr>
          <a:xfrm>
            <a:off x="5090008" y="1737360"/>
            <a:ext cx="2011680" cy="306324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tep icon circle 3"/>
          <p:cNvSpPr/>
          <p:nvPr/>
        </p:nvSpPr>
        <p:spPr>
          <a:xfrm>
            <a:off x="5272888" y="19202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mage 2" descr="Ideat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7480" y="2084832"/>
            <a:ext cx="402336" cy="40233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46160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5"/>
          <p:cNvSpPr txBox="1"/>
          <p:nvPr/>
        </p:nvSpPr>
        <p:spPr>
          <a:xfrm>
            <a:off x="5272888" y="28803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Ideate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5272888" y="33832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Sketched 3 concepts and scored them</a:t>
            </a:r>
            <a:endParaRPr lang="en-US" sz="1400" dirty="0"/>
          </a:p>
        </p:txBody>
      </p:sp>
      <p:sp>
        <p:nvSpPr>
          <p:cNvPr id="22" name="Step card 4"/>
          <p:cNvSpPr/>
          <p:nvPr/>
        </p:nvSpPr>
        <p:spPr>
          <a:xfrm>
            <a:off x="7360691" y="1737360"/>
            <a:ext cx="2011680" cy="306324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tep icon circle 4"/>
          <p:cNvSpPr/>
          <p:nvPr/>
        </p:nvSpPr>
        <p:spPr>
          <a:xfrm>
            <a:off x="7543571" y="1920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mage 3" descr="Prototyp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163" y="2084832"/>
            <a:ext cx="402336" cy="40233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732291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6" name="Text 20"/>
          <p:cNvSpPr txBox="1"/>
          <p:nvPr/>
        </p:nvSpPr>
        <p:spPr>
          <a:xfrm>
            <a:off x="7543571" y="28803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Prototype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7543571" y="33832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Modelled in CAD, analysed the design and prototyped it</a:t>
            </a:r>
            <a:endParaRPr lang="en-US" sz="1400" dirty="0"/>
          </a:p>
        </p:txBody>
      </p:sp>
      <p:sp>
        <p:nvSpPr>
          <p:cNvPr id="28" name="Step card 5"/>
          <p:cNvSpPr/>
          <p:nvPr/>
        </p:nvSpPr>
        <p:spPr>
          <a:xfrm>
            <a:off x="9631375" y="1737360"/>
            <a:ext cx="2011680" cy="306324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tep icon circle 5"/>
          <p:cNvSpPr/>
          <p:nvPr/>
        </p:nvSpPr>
        <p:spPr>
          <a:xfrm>
            <a:off x="9814255" y="1920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mage 4" descr="Test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8847" y="2084832"/>
            <a:ext cx="402336" cy="40233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1002975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32" name="Text 25"/>
          <p:cNvSpPr txBox="1"/>
          <p:nvPr/>
        </p:nvSpPr>
        <p:spPr>
          <a:xfrm>
            <a:off x="9814255" y="28803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Test</a:t>
            </a:r>
            <a:endParaRPr lang="en-US" sz="2000" dirty="0"/>
          </a:p>
        </p:txBody>
      </p:sp>
      <p:sp>
        <p:nvSpPr>
          <p:cNvPr id="33" name="Text 26"/>
          <p:cNvSpPr txBox="1"/>
          <p:nvPr/>
        </p:nvSpPr>
        <p:spPr>
          <a:xfrm>
            <a:off x="9814255" y="33832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Verify the prototype against every spec</a:t>
            </a:r>
            <a:endParaRPr lang="en-US" sz="1400" dirty="0"/>
          </a:p>
        </p:txBody>
      </p:sp>
      <p:sp>
        <p:nvSpPr>
          <p:cNvPr id="34" name="Iteration banner"/>
          <p:cNvSpPr/>
          <p:nvPr/>
        </p:nvSpPr>
        <p:spPr>
          <a:xfrm>
            <a:off x="548640" y="5166360"/>
            <a:ext cx="11094415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pic>
        <p:nvPicPr>
          <p:cNvPr id="35" name="Image 5" descr="Iteration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376672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417320" y="516636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Iteration is the point.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Results feed back into the specs and the CAD model — version 1 was refined into version 2 (see Iteration).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From user needs to measurable specs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03  ·  DEFINE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840480"/>
                <a:gridCol w="4023360"/>
                <a:gridCol w="245059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Customer need (voice of user)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Engineering metric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Target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Screen at eye level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Tilt angle range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15° – 40°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Doesn't bounce while typing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Tray deflection under 5 kg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≤ 1.5 mm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Won't break or collapse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Factor of safety on yield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≥ 3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Fits in a backpack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Folded thickness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≤ 20 mm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Easy to carry daily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Total mass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≤ 0.8 kg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Affordable for students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Material cost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≤ $12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Spec icon circle 1"/>
          <p:cNvSpPr/>
          <p:nvPr/>
        </p:nvSpPr>
        <p:spPr>
          <a:xfrm>
            <a:off x="731520" y="2112264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Spec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2194560"/>
            <a:ext cx="164592" cy="164592"/>
          </a:xfrm>
          <a:prstGeom prst="rect">
            <a:avLst/>
          </a:prstGeom>
        </p:spPr>
      </p:pic>
      <p:sp>
        <p:nvSpPr>
          <p:cNvPr id="7" name="Spec icon circle 2"/>
          <p:cNvSpPr/>
          <p:nvPr/>
        </p:nvSpPr>
        <p:spPr>
          <a:xfrm>
            <a:off x="731520" y="2624328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Image 1" descr="Spec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" y="2706624"/>
            <a:ext cx="164592" cy="164592"/>
          </a:xfrm>
          <a:prstGeom prst="rect">
            <a:avLst/>
          </a:prstGeom>
        </p:spPr>
      </p:pic>
      <p:sp>
        <p:nvSpPr>
          <p:cNvPr id="9" name="Spec icon circle 3"/>
          <p:cNvSpPr/>
          <p:nvPr/>
        </p:nvSpPr>
        <p:spPr>
          <a:xfrm>
            <a:off x="731520" y="3136392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mage 2" descr="Spec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3218688"/>
            <a:ext cx="164592" cy="164592"/>
          </a:xfrm>
          <a:prstGeom prst="rect">
            <a:avLst/>
          </a:prstGeom>
        </p:spPr>
      </p:pic>
      <p:sp>
        <p:nvSpPr>
          <p:cNvPr id="11" name="Spec icon circle 4"/>
          <p:cNvSpPr/>
          <p:nvPr/>
        </p:nvSpPr>
        <p:spPr>
          <a:xfrm>
            <a:off x="731520" y="3648456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3" descr="Spec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3730752"/>
            <a:ext cx="164592" cy="164592"/>
          </a:xfrm>
          <a:prstGeom prst="rect">
            <a:avLst/>
          </a:prstGeom>
        </p:spPr>
      </p:pic>
      <p:sp>
        <p:nvSpPr>
          <p:cNvPr id="13" name="Spec icon circle 5"/>
          <p:cNvSpPr/>
          <p:nvPr/>
        </p:nvSpPr>
        <p:spPr>
          <a:xfrm>
            <a:off x="731520" y="4160520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Image 4" descr="Spec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4242816"/>
            <a:ext cx="164592" cy="164592"/>
          </a:xfrm>
          <a:prstGeom prst="rect">
            <a:avLst/>
          </a:prstGeom>
        </p:spPr>
      </p:pic>
      <p:sp>
        <p:nvSpPr>
          <p:cNvPr id="15" name="Spec icon circle 6"/>
          <p:cNvSpPr/>
          <p:nvPr/>
        </p:nvSpPr>
        <p:spPr>
          <a:xfrm>
            <a:off x="731520" y="4672584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mage 5" descr="Spec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" y="4754880"/>
            <a:ext cx="164592" cy="164592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Translating vague wishes into numbers is what makes a design testable: every target above is later verified by a calculation, a CAD check, or a physical test.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Choosing a concept with a decision matrix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04  ·  IDEATE</a:t>
            </a:r>
            <a:endParaRPr lang="en-US" sz="1200" dirty="0"/>
          </a:p>
        </p:txBody>
      </p:sp>
      <p:sp>
        <p:nvSpPr>
          <p:cNvPr id="4" name="Concept card A"/>
          <p:cNvSpPr/>
          <p:nvPr/>
        </p:nvSpPr>
        <p:spPr>
          <a:xfrm>
            <a:off x="548640" y="1508760"/>
            <a:ext cx="39319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A2540">
                <a:alpha val="10000"/>
              </a:srgbClr>
            </a:outerShdw>
          </a:effectLst>
        </p:spPr>
      </p:sp>
      <p:sp>
        <p:nvSpPr>
          <p:cNvPr id="5" name="Concept badge A"/>
          <p:cNvSpPr/>
          <p:nvPr/>
        </p:nvSpPr>
        <p:spPr>
          <a:xfrm>
            <a:off x="731520" y="169164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6733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Fixed wedge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5000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Solid block; very stable, not adjustable or portable</a:t>
            </a:r>
            <a:endParaRPr lang="en-US" sz="1400" dirty="0"/>
          </a:p>
        </p:txBody>
      </p:sp>
      <p:sp>
        <p:nvSpPr>
          <p:cNvPr id="9" name="Concept card B"/>
          <p:cNvSpPr/>
          <p:nvPr/>
        </p:nvSpPr>
        <p:spPr>
          <a:xfrm>
            <a:off x="548640" y="3063240"/>
            <a:ext cx="39319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A2540">
                <a:alpha val="10000"/>
              </a:srgbClr>
            </a:outerShdw>
          </a:effectLst>
        </p:spPr>
      </p:sp>
      <p:sp>
        <p:nvSpPr>
          <p:cNvPr id="10" name="Concept badge B"/>
          <p:cNvSpPr/>
          <p:nvPr/>
        </p:nvSpPr>
        <p:spPr>
          <a:xfrm>
            <a:off x="731520" y="324612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3246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22783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Scissor lift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90448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Height-adjustable; many parts, wobbly, costly</a:t>
            </a:r>
            <a:endParaRPr lang="en-US" sz="1400" dirty="0"/>
          </a:p>
        </p:txBody>
      </p:sp>
      <p:sp>
        <p:nvSpPr>
          <p:cNvPr id="14" name="Concept card C"/>
          <p:cNvSpPr/>
          <p:nvPr/>
        </p:nvSpPr>
        <p:spPr>
          <a:xfrm>
            <a:off x="548640" y="4617720"/>
            <a:ext cx="393192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A2540">
                <a:alpha val="10000"/>
              </a:srgbClr>
            </a:outerShdw>
          </a:effectLst>
        </p:spPr>
      </p:sp>
      <p:sp>
        <p:nvSpPr>
          <p:cNvPr id="15" name="Concept badge C"/>
          <p:cNvSpPr/>
          <p:nvPr/>
        </p:nvSpPr>
        <p:spPr>
          <a:xfrm>
            <a:off x="731520" y="48006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4800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78231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Hinged tray + adjustable leg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45896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Folds flat; 3 leg positions; few parts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08760"/>
          <a:ext cx="6885432" cy="914400"/>
        </p:xfrm>
        <a:graphic>
          <a:graphicData uri="http://schemas.openxmlformats.org/drawingml/2006/table">
            <a:tbl>
              <a:tblPr/>
              <a:tblGrid>
                <a:gridCol w="2679192"/>
                <a:gridCol w="1097280"/>
                <a:gridCol w="1005840"/>
                <a:gridCol w="1005840"/>
                <a:gridCol w="1097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Criterion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Weight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B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Stability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4"/>
                          </a:solidFill>
                        </a:rPr>
                        <a:t>25%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8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Portability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4"/>
                          </a:solidFill>
                        </a:rPr>
                        <a:t>20%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8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Adjustability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4"/>
                          </a:solidFill>
                        </a:rPr>
                        <a:t>20%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8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Cost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4"/>
                          </a:solidFill>
                        </a:rPr>
                        <a:t>15%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8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Manufacturability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4"/>
                          </a:solidFill>
                        </a:rPr>
                        <a:t>10%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8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Aesthetics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4"/>
                          </a:solidFill>
                        </a:rPr>
                        <a:t>10%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CE8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Weighted score (out of 5)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3.40</a:t>
                      </a:r>
                      <a:endParaRPr lang="en-US" sz="16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3.45</a:t>
                      </a:r>
                      <a:endParaRPr lang="en-US" sz="16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4.20</a:t>
                      </a:r>
                      <a:endParaRPr lang="en-US" sz="16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4754880" y="5486400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Scores 1 (poor) – 5 (excellent). Weights reflect the user needs on the previous slide.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The final design: four functional parts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05  ·  CONCEPT</a:t>
            </a:r>
            <a:endParaRPr lang="en-US" sz="1200" dirty="0"/>
          </a:p>
        </p:txBody>
      </p:sp>
      <p:pic>
        <p:nvPicPr>
          <p:cNvPr id="4" name="Image 0" descr="Drafting grid backg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400800" cy="4572000"/>
          </a:xfrm>
          <a:prstGeom prst="rect">
            <a:avLst/>
          </a:prstGeom>
        </p:spPr>
      </p:pic>
      <p:sp>
        <p:nvSpPr>
          <p:cNvPr id="5" name="Stand drawing line"/>
          <p:cNvSpPr/>
          <p:nvPr/>
        </p:nvSpPr>
        <p:spPr>
          <a:xfrm>
            <a:off x="1051560" y="5394960"/>
            <a:ext cx="5701284" cy="0"/>
          </a:xfrm>
          <a:prstGeom prst="line">
            <a:avLst/>
          </a:prstGeom>
          <a:noFill/>
          <a:ln w="38100">
            <a:solidFill>
              <a:srgbClr val="0A2540"/>
            </a:solidFill>
            <a:prstDash val="solid"/>
          </a:ln>
        </p:spPr>
      </p:sp>
      <p:sp>
        <p:nvSpPr>
          <p:cNvPr id="6" name="Stand drawing line"/>
          <p:cNvSpPr/>
          <p:nvPr/>
        </p:nvSpPr>
        <p:spPr>
          <a:xfrm>
            <a:off x="1449324" y="4732020"/>
            <a:ext cx="0" cy="662940"/>
          </a:xfrm>
          <a:prstGeom prst="line">
            <a:avLst/>
          </a:prstGeom>
          <a:noFill/>
          <a:ln w="38100">
            <a:solidFill>
              <a:srgbClr val="0A2540"/>
            </a:solidFill>
            <a:prstDash val="solid"/>
          </a:ln>
        </p:spPr>
      </p:sp>
      <p:sp>
        <p:nvSpPr>
          <p:cNvPr id="7" name="Stand drawing line"/>
          <p:cNvSpPr/>
          <p:nvPr/>
        </p:nvSpPr>
        <p:spPr>
          <a:xfrm flipV="1">
            <a:off x="1449324" y="3472434"/>
            <a:ext cx="4905756" cy="1259586"/>
          </a:xfrm>
          <a:prstGeom prst="line">
            <a:avLst/>
          </a:prstGeom>
          <a:noFill/>
          <a:ln w="50800">
            <a:solidFill>
              <a:srgbClr val="0A2540"/>
            </a:solidFill>
            <a:prstDash val="solid"/>
          </a:ln>
        </p:spPr>
      </p:sp>
      <p:sp>
        <p:nvSpPr>
          <p:cNvPr id="8" name="Stand drawing line"/>
          <p:cNvSpPr/>
          <p:nvPr/>
        </p:nvSpPr>
        <p:spPr>
          <a:xfrm flipV="1">
            <a:off x="5161788" y="3574527"/>
            <a:ext cx="795528" cy="1820433"/>
          </a:xfrm>
          <a:prstGeom prst="line">
            <a:avLst/>
          </a:prstGeom>
          <a:noFill/>
          <a:ln w="38100">
            <a:solidFill>
              <a:srgbClr val="0A2540"/>
            </a:solidFill>
            <a:prstDash val="solid"/>
          </a:ln>
        </p:spPr>
      </p:sp>
      <p:sp>
        <p:nvSpPr>
          <p:cNvPr id="9" name="Stand drawing line"/>
          <p:cNvSpPr/>
          <p:nvPr/>
        </p:nvSpPr>
        <p:spPr>
          <a:xfrm flipV="1">
            <a:off x="5758434" y="3574527"/>
            <a:ext cx="198882" cy="1820433"/>
          </a:xfrm>
          <a:prstGeom prst="line">
            <a:avLst/>
          </a:prstGeom>
          <a:noFill/>
          <a:ln w="19050">
            <a:solidFill>
              <a:srgbClr val="0A2540"/>
            </a:solidFill>
            <a:prstDash val="dash"/>
          </a:ln>
        </p:spPr>
      </p:sp>
      <p:sp>
        <p:nvSpPr>
          <p:cNvPr id="10" name="Stand drawing line"/>
          <p:cNvSpPr/>
          <p:nvPr/>
        </p:nvSpPr>
        <p:spPr>
          <a:xfrm flipV="1">
            <a:off x="1648206" y="3334542"/>
            <a:ext cx="4574286" cy="1174730"/>
          </a:xfrm>
          <a:prstGeom prst="line">
            <a:avLst/>
          </a:prstGeom>
          <a:noFill/>
          <a:ln w="76200">
            <a:solidFill>
              <a:srgbClr val="F28C28"/>
            </a:solidFill>
            <a:prstDash val="solid"/>
          </a:ln>
        </p:spPr>
      </p:sp>
      <p:sp>
        <p:nvSpPr>
          <p:cNvPr id="11" name="Stand drawing line"/>
          <p:cNvSpPr/>
          <p:nvPr/>
        </p:nvSpPr>
        <p:spPr>
          <a:xfrm>
            <a:off x="5625846" y="1748790"/>
            <a:ext cx="596646" cy="1585752"/>
          </a:xfrm>
          <a:prstGeom prst="line">
            <a:avLst/>
          </a:prstGeom>
          <a:noFill/>
          <a:ln w="76200">
            <a:solidFill>
              <a:srgbClr val="F28C28"/>
            </a:solidFill>
            <a:prstDash val="solid"/>
          </a:ln>
        </p:spPr>
      </p:sp>
      <p:sp>
        <p:nvSpPr>
          <p:cNvPr id="12" name="Stand drawing line"/>
          <p:cNvSpPr/>
          <p:nvPr/>
        </p:nvSpPr>
        <p:spPr>
          <a:xfrm>
            <a:off x="1608430" y="4267962"/>
            <a:ext cx="0" cy="371246"/>
          </a:xfrm>
          <a:prstGeom prst="line">
            <a:avLst/>
          </a:prstGeom>
          <a:noFill/>
          <a:ln w="38100">
            <a:solidFill>
              <a:srgbClr val="F28C28"/>
            </a:solidFill>
            <a:prstDash val="solid"/>
          </a:ln>
        </p:spPr>
      </p:sp>
      <p:sp>
        <p:nvSpPr>
          <p:cNvPr id="13" name="Hinge"/>
          <p:cNvSpPr/>
          <p:nvPr/>
        </p:nvSpPr>
        <p:spPr>
          <a:xfrm>
            <a:off x="1385316" y="4668012"/>
            <a:ext cx="128016" cy="128016"/>
          </a:xfrm>
          <a:prstGeom prst="ellipse">
            <a:avLst/>
          </a:prstGeom>
          <a:solidFill>
            <a:srgbClr val="F28C28"/>
          </a:solidFill>
          <a:ln w="9525">
            <a:solidFill>
              <a:srgbClr val="F28C28"/>
            </a:solidFill>
            <a:prstDash val="solid"/>
          </a:ln>
        </p:spPr>
      </p:sp>
      <p:sp>
        <p:nvSpPr>
          <p:cNvPr id="14" name="Hinge"/>
          <p:cNvSpPr/>
          <p:nvPr/>
        </p:nvSpPr>
        <p:spPr>
          <a:xfrm>
            <a:off x="5893308" y="3510519"/>
            <a:ext cx="128016" cy="128016"/>
          </a:xfrm>
          <a:prstGeom prst="ellipse">
            <a:avLst/>
          </a:prstGeom>
          <a:solidFill>
            <a:srgbClr val="F28C28"/>
          </a:solidFill>
          <a:ln w="9525">
            <a:solidFill>
              <a:srgbClr val="F28C28"/>
            </a:solidFill>
            <a:prstDash val="solid"/>
          </a:ln>
        </p:spPr>
      </p:sp>
      <p:sp>
        <p:nvSpPr>
          <p:cNvPr id="15" name="Leader 1"/>
          <p:cNvSpPr/>
          <p:nvPr/>
        </p:nvSpPr>
        <p:spPr>
          <a:xfrm>
            <a:off x="3703320" y="2544318"/>
            <a:ext cx="0" cy="1524762"/>
          </a:xfrm>
          <a:prstGeom prst="line">
            <a:avLst/>
          </a:prstGeom>
          <a:noFill/>
          <a:ln w="12700">
            <a:solidFill>
              <a:srgbClr val="5B6773"/>
            </a:solidFill>
            <a:prstDash val="solid"/>
          </a:ln>
        </p:spPr>
      </p:sp>
      <p:sp>
        <p:nvSpPr>
          <p:cNvPr id="16" name="Callout 1"/>
          <p:cNvSpPr/>
          <p:nvPr/>
        </p:nvSpPr>
        <p:spPr>
          <a:xfrm>
            <a:off x="3520440" y="236143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520440" y="23614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8" name="Leader 2"/>
          <p:cNvSpPr/>
          <p:nvPr/>
        </p:nvSpPr>
        <p:spPr>
          <a:xfrm>
            <a:off x="5493258" y="4466844"/>
            <a:ext cx="1060704" cy="530352"/>
          </a:xfrm>
          <a:prstGeom prst="line">
            <a:avLst/>
          </a:prstGeom>
          <a:noFill/>
          <a:ln w="12700">
            <a:solidFill>
              <a:srgbClr val="5B6773"/>
            </a:solidFill>
            <a:prstDash val="solid"/>
          </a:ln>
        </p:spPr>
      </p:sp>
      <p:sp>
        <p:nvSpPr>
          <p:cNvPr id="19" name="Callout 2"/>
          <p:cNvSpPr/>
          <p:nvPr/>
        </p:nvSpPr>
        <p:spPr>
          <a:xfrm>
            <a:off x="6371082" y="4814316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371082" y="48143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1" name="Leader 3"/>
          <p:cNvSpPr/>
          <p:nvPr/>
        </p:nvSpPr>
        <p:spPr>
          <a:xfrm flipV="1">
            <a:off x="5957316" y="2676906"/>
            <a:ext cx="596646" cy="897621"/>
          </a:xfrm>
          <a:prstGeom prst="line">
            <a:avLst/>
          </a:prstGeom>
          <a:noFill/>
          <a:ln w="12700">
            <a:solidFill>
              <a:srgbClr val="5B6773"/>
            </a:solidFill>
            <a:prstDash val="solid"/>
          </a:ln>
        </p:spPr>
      </p:sp>
      <p:sp>
        <p:nvSpPr>
          <p:cNvPr id="22" name="Callout 3"/>
          <p:cNvSpPr/>
          <p:nvPr/>
        </p:nvSpPr>
        <p:spPr>
          <a:xfrm>
            <a:off x="6371082" y="2494026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371082" y="24940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Leader 4"/>
          <p:cNvSpPr/>
          <p:nvPr/>
        </p:nvSpPr>
        <p:spPr>
          <a:xfrm>
            <a:off x="1117854" y="3406140"/>
            <a:ext cx="490576" cy="861822"/>
          </a:xfrm>
          <a:prstGeom prst="line">
            <a:avLst/>
          </a:prstGeom>
          <a:noFill/>
          <a:ln w="12700">
            <a:solidFill>
              <a:srgbClr val="5B6773"/>
            </a:solidFill>
            <a:prstDash val="solid"/>
          </a:ln>
        </p:spPr>
      </p:sp>
      <p:sp>
        <p:nvSpPr>
          <p:cNvPr id="25" name="Callout 4"/>
          <p:cNvSpPr/>
          <p:nvPr/>
        </p:nvSpPr>
        <p:spPr>
          <a:xfrm>
            <a:off x="934974" y="322326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34974" y="32232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4315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31520" y="5715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Side view, not to scale</a:t>
            </a:r>
            <a:endParaRPr lang="en-US" sz="1000" dirty="0"/>
          </a:p>
        </p:txBody>
      </p:sp>
      <p:sp>
        <p:nvSpPr>
          <p:cNvPr id="29" name="Part badge 1"/>
          <p:cNvSpPr/>
          <p:nvPr/>
        </p:nvSpPr>
        <p:spPr>
          <a:xfrm>
            <a:off x="7315200" y="1581912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315200" y="1581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955280" y="1508760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Tray (2 mm Al 6061)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7955280" y="1892808"/>
            <a:ext cx="3685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Carries the laptop; sized for stiffness, not just strength</a:t>
            </a:r>
            <a:endParaRPr lang="en-US" sz="1400" dirty="0"/>
          </a:p>
        </p:txBody>
      </p:sp>
      <p:sp>
        <p:nvSpPr>
          <p:cNvPr id="33" name="Part badge 2"/>
          <p:cNvSpPr/>
          <p:nvPr/>
        </p:nvSpPr>
        <p:spPr>
          <a:xfrm>
            <a:off x="7315200" y="2752344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315200" y="2752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7955280" y="2679192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Adjustable rear leg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7955280" y="3063240"/>
            <a:ext cx="3685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Three notches set the tilt from 15° to 40°</a:t>
            </a:r>
            <a:endParaRPr lang="en-US" sz="1400" dirty="0"/>
          </a:p>
        </p:txBody>
      </p:sp>
      <p:sp>
        <p:nvSpPr>
          <p:cNvPr id="37" name="Part badge 3"/>
          <p:cNvSpPr/>
          <p:nvPr/>
        </p:nvSpPr>
        <p:spPr>
          <a:xfrm>
            <a:off x="7315200" y="3922776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315200" y="3922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7955280" y="3849624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Hinge joints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7955280" y="4233672"/>
            <a:ext cx="3685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Let the stand fold flat to about 12 mm</a:t>
            </a:r>
            <a:endParaRPr lang="en-US" sz="1400" dirty="0"/>
          </a:p>
        </p:txBody>
      </p:sp>
      <p:sp>
        <p:nvSpPr>
          <p:cNvPr id="41" name="Part badge 4"/>
          <p:cNvSpPr/>
          <p:nvPr/>
        </p:nvSpPr>
        <p:spPr>
          <a:xfrm>
            <a:off x="7315200" y="509320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731520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7955280" y="50200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Front lip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7955280" y="5404104"/>
            <a:ext cx="3685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Stops the laptop sliding; rounded to protect users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Modelling the tray as a beam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06  ·  MODELLING</a:t>
            </a:r>
            <a:endParaRPr lang="en-US" sz="1200" dirty="0"/>
          </a:p>
        </p:txBody>
      </p:sp>
      <p:pic>
        <p:nvPicPr>
          <p:cNvPr id="4" name="Image 0" descr="Drafting grid backg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5669280" cy="2788920"/>
          </a:xfrm>
          <a:prstGeom prst="rect">
            <a:avLst/>
          </a:prstGeom>
        </p:spPr>
      </p:pic>
      <p:sp>
        <p:nvSpPr>
          <p:cNvPr id="5" name="Beam"/>
          <p:cNvSpPr/>
          <p:nvPr/>
        </p:nvSpPr>
        <p:spPr>
          <a:xfrm>
            <a:off x="1097280" y="3364992"/>
            <a:ext cx="4572000" cy="128016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6" name="Pin support"/>
          <p:cNvSpPr/>
          <p:nvPr/>
        </p:nvSpPr>
        <p:spPr>
          <a:xfrm>
            <a:off x="914400" y="3493008"/>
            <a:ext cx="365760" cy="320040"/>
          </a:xfrm>
          <a:prstGeom prst="triangle">
            <a:avLst/>
          </a:prstGeom>
          <a:solidFill>
            <a:schemeClr val="accent4"/>
          </a:solidFill>
          <a:ln/>
        </p:spPr>
      </p:sp>
      <p:sp>
        <p:nvSpPr>
          <p:cNvPr id="7" name="Roller support"/>
          <p:cNvSpPr/>
          <p:nvPr/>
        </p:nvSpPr>
        <p:spPr>
          <a:xfrm>
            <a:off x="5504688" y="349300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" name="Load arrow"/>
          <p:cNvSpPr/>
          <p:nvPr/>
        </p:nvSpPr>
        <p:spPr>
          <a:xfrm>
            <a:off x="3383280" y="2011680"/>
            <a:ext cx="0" cy="1280160"/>
          </a:xfrm>
          <a:prstGeom prst="line">
            <a:avLst/>
          </a:prstGeom>
          <a:noFill/>
          <a:ln w="38100">
            <a:solidFill>
              <a:srgbClr val="D64B4B"/>
            </a:solidFill>
            <a:prstDash val="solid"/>
            <a:tailEnd type="triangle"/>
          </a:ln>
        </p:spPr>
      </p:sp>
      <p:sp>
        <p:nvSpPr>
          <p:cNvPr id="9" name="Text 6"/>
          <p:cNvSpPr txBox="1"/>
          <p:nvPr/>
        </p:nvSpPr>
        <p:spPr>
          <a:xfrm>
            <a:off x="1737360" y="16459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F = 49 N  (5 kg design load)</a:t>
            </a:r>
            <a:endParaRPr lang="en-US" sz="1400" dirty="0"/>
          </a:p>
        </p:txBody>
      </p:sp>
      <p:sp>
        <p:nvSpPr>
          <p:cNvPr id="10" name="Span dimension"/>
          <p:cNvSpPr/>
          <p:nvPr/>
        </p:nvSpPr>
        <p:spPr>
          <a:xfrm>
            <a:off x="1097280" y="3977640"/>
            <a:ext cx="4572000" cy="0"/>
          </a:xfrm>
          <a:prstGeom prst="line">
            <a:avLst/>
          </a:prstGeom>
          <a:noFill/>
          <a:ln w="15875">
            <a:solidFill>
              <a:srgbClr val="5B6773"/>
            </a:solidFill>
            <a:prstDash val="solid"/>
            <a:headEnd type="triangle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1097280" y="4005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 = 250 mm</a:t>
            </a:r>
            <a:endParaRPr lang="en-US" sz="1400" dirty="0"/>
          </a:p>
        </p:txBody>
      </p:sp>
      <p:sp>
        <p:nvSpPr>
          <p:cNvPr id="12" name="Equation panel"/>
          <p:cNvSpPr/>
          <p:nvPr/>
        </p:nvSpPr>
        <p:spPr>
          <a:xfrm>
            <a:off x="548640" y="4526280"/>
            <a:ext cx="5669280" cy="155448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461772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F·L / 4          σ = M·c / I          I = b·t³ / 12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= F·L³ / (48·E·I)          FoS = σ</a:t>
            </a:r>
            <a:pPr indent="0" marL="0">
              <a:spcAft>
                <a:spcPts val="800"/>
              </a:spcAft>
              <a:buNone/>
            </a:pPr>
            <a:r>
              <a:rPr lang="en-US" sz="1800" i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pPr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σ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492240" y="1508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ASSUMPTIONS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1828800"/>
            <a:ext cx="51480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Material: Al 6061-T6 — E = 68.9 GPa, σy = 276 MPa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Tray: b = 250 mm wide, t = 2 mm thick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Static load, linear-elastic, small deflection</a:t>
            </a:r>
            <a:endParaRPr lang="en-US" sz="1400" dirty="0"/>
          </a:p>
        </p:txBody>
      </p:sp>
      <p:sp>
        <p:nvSpPr>
          <p:cNvPr id="16" name="Result card 1"/>
          <p:cNvSpPr/>
          <p:nvPr/>
        </p:nvSpPr>
        <p:spPr>
          <a:xfrm>
            <a:off x="6492240" y="3429000"/>
            <a:ext cx="51480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A2540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675120" y="34290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18.4 MPa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4290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Peak bending stress σ</a:t>
            </a:r>
            <a:endParaRPr lang="en-US" sz="1400" dirty="0"/>
          </a:p>
        </p:txBody>
      </p:sp>
      <p:sp>
        <p:nvSpPr>
          <p:cNvPr id="19" name="Result card 2"/>
          <p:cNvSpPr/>
          <p:nvPr/>
        </p:nvSpPr>
        <p:spPr>
          <a:xfrm>
            <a:off x="6492240" y="4343400"/>
            <a:ext cx="51480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A254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675120" y="43434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8732520" y="43434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Factor of safety (target ≥ 3)</a:t>
            </a:r>
            <a:endParaRPr lang="en-US" sz="1400" dirty="0"/>
          </a:p>
        </p:txBody>
      </p:sp>
      <p:sp>
        <p:nvSpPr>
          <p:cNvPr id="22" name="Result card 3"/>
          <p:cNvSpPr/>
          <p:nvPr/>
        </p:nvSpPr>
        <p:spPr>
          <a:xfrm>
            <a:off x="6492240" y="5257800"/>
            <a:ext cx="51480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A254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675120" y="52578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1.39 mm</a:t>
            </a:r>
            <a:endParaRPr lang="en-US" sz="2800" dirty="0"/>
          </a:p>
        </p:txBody>
      </p:sp>
      <p:sp>
        <p:nvSpPr>
          <p:cNvPr id="24" name="Text 21"/>
          <p:cNvSpPr txBox="1"/>
          <p:nvPr/>
        </p:nvSpPr>
        <p:spPr>
          <a:xfrm>
            <a:off x="8732520" y="52578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Mid-span deflection δ (limit 1.5 mm)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Stiffness, not strength, sets the thickness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07  ·  ANALYSIS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67665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Insight card 1"/>
          <p:cNvSpPr/>
          <p:nvPr/>
        </p:nvSpPr>
        <p:spPr>
          <a:xfrm>
            <a:off x="7589520" y="1508760"/>
            <a:ext cx="405079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A2540">
                <a:alpha val="10000"/>
              </a:srgbClr>
            </a:outerShdw>
          </a:effectLst>
        </p:spPr>
      </p:sp>
      <p:sp>
        <p:nvSpPr>
          <p:cNvPr id="6" name="Insight icon circle 1"/>
          <p:cNvSpPr/>
          <p:nvPr/>
        </p:nvSpPr>
        <p:spPr>
          <a:xfrm>
            <a:off x="7772400" y="16916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Strength is easy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18288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503920" y="167335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Strength is easy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772400" y="225856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 2 mm the stress is only 18 MPa — factor of safety 15.</a:t>
            </a:r>
            <a:endParaRPr lang="en-US" sz="1400" dirty="0"/>
          </a:p>
        </p:txBody>
      </p:sp>
      <p:sp>
        <p:nvSpPr>
          <p:cNvPr id="10" name="Insight card 2"/>
          <p:cNvSpPr/>
          <p:nvPr/>
        </p:nvSpPr>
        <p:spPr>
          <a:xfrm>
            <a:off x="7589520" y="3063240"/>
            <a:ext cx="405079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A2540">
                <a:alpha val="10000"/>
              </a:srgbClr>
            </a:outerShdw>
          </a:effectLst>
        </p:spPr>
      </p:sp>
      <p:sp>
        <p:nvSpPr>
          <p:cNvPr id="11" name="Insight icon circle 2"/>
          <p:cNvSpPr/>
          <p:nvPr/>
        </p:nvSpPr>
        <p:spPr>
          <a:xfrm>
            <a:off x="7772400" y="32461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Stiffness is the limi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338328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03920" y="322783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Stiffness is the limit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7772400" y="381304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Deflection scales as 1/t³: 2 mm gives 1.4 mm, just under the 1.5 mm limit.</a:t>
            </a:r>
            <a:endParaRPr lang="en-US" sz="1400" dirty="0"/>
          </a:p>
        </p:txBody>
      </p:sp>
      <p:sp>
        <p:nvSpPr>
          <p:cNvPr id="15" name="Insight card 3"/>
          <p:cNvSpPr/>
          <p:nvPr/>
        </p:nvSpPr>
        <p:spPr>
          <a:xfrm>
            <a:off x="7589520" y="4617720"/>
            <a:ext cx="405079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A2540">
                <a:alpha val="10000"/>
              </a:srgbClr>
            </a:outerShdw>
          </a:effectLst>
        </p:spPr>
      </p:sp>
      <p:sp>
        <p:nvSpPr>
          <p:cNvPr id="16" name="Insight icon circle 3"/>
          <p:cNvSpPr/>
          <p:nvPr/>
        </p:nvSpPr>
        <p:spPr>
          <a:xfrm>
            <a:off x="7772400" y="4800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mage 2" descr="Mass scales linearly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493776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503920" y="478231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Mass scales linearly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0" y="536752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Thicker is 8× stiffer per doubling, but only 2× heavier — so we stop at the limit.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From hand calculation to FEA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08  ·  SIMULATION</a:t>
            </a:r>
            <a:endParaRPr lang="en-US" sz="1200" dirty="0"/>
          </a:p>
        </p:txBody>
      </p:sp>
      <p:sp>
        <p:nvSpPr>
          <p:cNvPr id="4" name="Workflow card 1"/>
          <p:cNvSpPr/>
          <p:nvPr/>
        </p:nvSpPr>
        <p:spPr>
          <a:xfrm>
            <a:off x="548640" y="1508760"/>
            <a:ext cx="23774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A254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Sketch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031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Fully constrained profile with driven dimensions</a:t>
            </a:r>
            <a:endParaRPr lang="en-US" sz="1400" dirty="0"/>
          </a:p>
        </p:txBody>
      </p:sp>
      <p:sp>
        <p:nvSpPr>
          <p:cNvPr id="8" name="Workflow arrow 1"/>
          <p:cNvSpPr/>
          <p:nvPr/>
        </p:nvSpPr>
        <p:spPr>
          <a:xfrm>
            <a:off x="2999232" y="2304288"/>
            <a:ext cx="381914" cy="0"/>
          </a:xfrm>
          <a:prstGeom prst="line">
            <a:avLst/>
          </a:prstGeom>
          <a:noFill/>
          <a:ln w="25400">
            <a:solidFill>
              <a:srgbClr val="5B6773"/>
            </a:solidFill>
            <a:prstDash val="solid"/>
            <a:tailEnd type="triangle"/>
          </a:ln>
        </p:spPr>
      </p:sp>
      <p:sp>
        <p:nvSpPr>
          <p:cNvPr id="9" name="Workflow card 2"/>
          <p:cNvSpPr/>
          <p:nvPr/>
        </p:nvSpPr>
        <p:spPr>
          <a:xfrm>
            <a:off x="3454298" y="1508760"/>
            <a:ext cx="23774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A254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637178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140098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Parametrise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37178" y="21031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Tie thickness, span and tilt to named parameters</a:t>
            </a:r>
            <a:endParaRPr lang="en-US" sz="1400" dirty="0"/>
          </a:p>
        </p:txBody>
      </p:sp>
      <p:sp>
        <p:nvSpPr>
          <p:cNvPr id="13" name="Workflow arrow 2"/>
          <p:cNvSpPr/>
          <p:nvPr/>
        </p:nvSpPr>
        <p:spPr>
          <a:xfrm>
            <a:off x="5904890" y="2304288"/>
            <a:ext cx="381914" cy="0"/>
          </a:xfrm>
          <a:prstGeom prst="line">
            <a:avLst/>
          </a:prstGeom>
          <a:noFill/>
          <a:ln w="25400">
            <a:solidFill>
              <a:srgbClr val="5B6773"/>
            </a:solidFill>
            <a:prstDash val="solid"/>
            <a:tailEnd type="triangle"/>
          </a:ln>
        </p:spPr>
      </p:sp>
      <p:sp>
        <p:nvSpPr>
          <p:cNvPr id="14" name="Workflow card 3"/>
          <p:cNvSpPr/>
          <p:nvPr/>
        </p:nvSpPr>
        <p:spPr>
          <a:xfrm>
            <a:off x="6359957" y="1508760"/>
            <a:ext cx="23774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A254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542837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7045757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Simulate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542837" y="21031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Mesh, fix supports, apply 49 N load</a:t>
            </a:r>
            <a:endParaRPr lang="en-US" sz="1400" dirty="0"/>
          </a:p>
        </p:txBody>
      </p:sp>
      <p:sp>
        <p:nvSpPr>
          <p:cNvPr id="18" name="Workflow arrow 3"/>
          <p:cNvSpPr/>
          <p:nvPr/>
        </p:nvSpPr>
        <p:spPr>
          <a:xfrm>
            <a:off x="8810549" y="2304288"/>
            <a:ext cx="381914" cy="0"/>
          </a:xfrm>
          <a:prstGeom prst="line">
            <a:avLst/>
          </a:prstGeom>
          <a:noFill/>
          <a:ln w="25400">
            <a:solidFill>
              <a:srgbClr val="5B6773"/>
            </a:solidFill>
            <a:prstDash val="solid"/>
            <a:tailEnd type="triangle"/>
          </a:ln>
        </p:spPr>
      </p:sp>
      <p:sp>
        <p:nvSpPr>
          <p:cNvPr id="19" name="Workflow card 4"/>
          <p:cNvSpPr/>
          <p:nvPr/>
        </p:nvSpPr>
        <p:spPr>
          <a:xfrm>
            <a:off x="9265615" y="1508760"/>
            <a:ext cx="2377440" cy="1600200"/>
          </a:xfrm>
          <a:prstGeom prst="roundRect">
            <a:avLst>
              <a:gd name="adj" fmla="val 685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A254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448495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9951415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Correlate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448495" y="21031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Compare FEA with hand calc; target within 10%</a:t>
            </a:r>
            <a:endParaRPr lang="en-US" sz="14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548640" y="3383280"/>
          <a:ext cx="67665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7772400" y="3429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WHY VALIDATE?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3749040"/>
            <a:ext cx="3867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FEA must reproduce the 1.4 mm hand-calc peak within 10%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Mesh convergence: refine until results change &lt; 2%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Parameters let one model explore many design variants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Building it: materials, process and cost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09  ·  BUILD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4066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377440"/>
                <a:gridCol w="1645920"/>
                <a:gridCol w="9144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Part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Material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Process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Cost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Tray + base plate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Al 6061-T6, 2 mm sheet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Laser cut + bend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$4.50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Adjustable rear legs (2)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Al tube Ø12 × 1 mm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Cut + drill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$2.80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Hinge pins &amp; bolts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Stainless steel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Off the shelf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$1.20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Fasteners &amp; washers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Zinc-plated steel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Off the shelf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$0.90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Anti-slip feet (4)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Silicone rubber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Press fit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$1.00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Total (target ≤ $12)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$10.40</a:t>
                      </a:r>
                      <a:endParaRPr lang="en-US" sz="16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Unit costs are estimates for a one-off prototype.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DESIGN FOR MANUFACTURE</a:t>
            </a:r>
            <a:endParaRPr lang="en-US" sz="1200" dirty="0"/>
          </a:p>
        </p:txBody>
      </p:sp>
      <p:sp>
        <p:nvSpPr>
          <p:cNvPr id="7" name="DFM icon circle 1"/>
          <p:cNvSpPr/>
          <p:nvPr/>
        </p:nvSpPr>
        <p:spPr>
          <a:xfrm>
            <a:off x="8321040" y="196596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8" name="Image 0" descr="Standard stock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6488" y="2121408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98280" y="192024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Standard stock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9098280" y="228600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Sheet and tube sizes off the shelf</a:t>
            </a:r>
            <a:endParaRPr lang="en-US" sz="1400" dirty="0"/>
          </a:p>
        </p:txBody>
      </p:sp>
      <p:sp>
        <p:nvSpPr>
          <p:cNvPr id="11" name="DFM icon circle 2"/>
          <p:cNvSpPr/>
          <p:nvPr/>
        </p:nvSpPr>
        <p:spPr>
          <a:xfrm>
            <a:off x="8321040" y="333756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Image 1" descr="Few unique parts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488" y="3493008"/>
            <a:ext cx="283464" cy="28346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098280" y="329184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Few unique parts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9098280" y="365760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6 parts, no welding or glue</a:t>
            </a:r>
            <a:endParaRPr lang="en-US" sz="1400" dirty="0"/>
          </a:p>
        </p:txBody>
      </p:sp>
      <p:sp>
        <p:nvSpPr>
          <p:cNvPr id="15" name="DFM icon circle 3"/>
          <p:cNvSpPr/>
          <p:nvPr/>
        </p:nvSpPr>
        <p:spPr>
          <a:xfrm>
            <a:off x="8321040" y="470916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Image 2" descr="Forgiving tolerance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6488" y="4864608"/>
            <a:ext cx="283464" cy="28346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98280" y="466344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Forgiving tolerances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9098280" y="502920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Slotted holes absorb ±0.5 mm error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Verification plan: model vs. measurement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10  ·  TEST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931920"/>
                <a:gridCol w="2560320"/>
                <a:gridCol w="258775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Test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Method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Pass criterion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Model predicts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Deflection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Dial gauge, 5 kg at centre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≤ 1.5 mm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1.39 mm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Strength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 kg for 10 min, check for set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permanent set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FoS 15 at 5 kg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Tilt range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Protractor at each leg notch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15° – 40°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15°, 28°, 40°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Folded thickness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Callipers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≤ 20 mm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≈ 12 mm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Mass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Kitchen scale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≤ 0.8 kg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≈ 0.5 kg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akeaway banner"/>
          <p:cNvSpPr/>
          <p:nvPr/>
        </p:nvSpPr>
        <p:spPr>
          <a:xfrm>
            <a:off x="548640" y="5166360"/>
            <a:ext cx="11094415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516636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Acceptance rule: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test results must agree with the model to within about 10%. Larger gaps point to the assumption to revisit.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Iteration: refining version 2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11  ·  ITERATE</a:t>
            </a:r>
            <a:endParaRPr lang="en-US" sz="1200" dirty="0"/>
          </a:p>
        </p:txBody>
      </p:sp>
      <p:sp>
        <p:nvSpPr>
          <p:cNvPr id="4" name="v1 card"/>
          <p:cNvSpPr/>
          <p:nvPr/>
        </p:nvSpPr>
        <p:spPr>
          <a:xfrm>
            <a:off x="548640" y="1508760"/>
            <a:ext cx="457200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A254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VERSION 1  ·  1 mm tray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116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11.1 mm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718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predicted deflection — a springy, bouncy keyboard</a:t>
            </a:r>
            <a:endParaRPr lang="en-US" sz="1400" dirty="0"/>
          </a:p>
        </p:txBody>
      </p:sp>
      <p:sp>
        <p:nvSpPr>
          <p:cNvPr id="8" name="Arrow v1 to v2"/>
          <p:cNvSpPr/>
          <p:nvPr/>
        </p:nvSpPr>
        <p:spPr>
          <a:xfrm>
            <a:off x="5303520" y="2194560"/>
            <a:ext cx="1188720" cy="6858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9" name="v2 card"/>
          <p:cNvSpPr/>
          <p:nvPr/>
        </p:nvSpPr>
        <p:spPr>
          <a:xfrm>
            <a:off x="7068312" y="1508760"/>
            <a:ext cx="4572000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42632" y="16459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VERSION 2  ·  2 mm tray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342632" y="20116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mm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342632" y="29718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predicted deflection — 8× stiffer for only 2× the sheet mass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291840"/>
                <a:gridCol w="3291840"/>
                <a:gridCol w="331927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Issue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mm tray flexes when typing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Rear legs could slide on smooth desks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Hinge could wobble sideways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Change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Doubled thickness to 2 mm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Added silicone feet and serrated notches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Swapped rivets for shoulder bolts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Meets the deflection limit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Holds position on smooth desks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Rigid, repeatable pivot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Beyond the calculations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12  ·  REFLECT</a:t>
            </a:r>
            <a:endParaRPr lang="en-US" sz="1200" dirty="0"/>
          </a:p>
        </p:txBody>
      </p:sp>
      <p:sp>
        <p:nvSpPr>
          <p:cNvPr id="4" name="Consideration card 1"/>
          <p:cNvSpPr/>
          <p:nvPr/>
        </p:nvSpPr>
        <p:spPr>
          <a:xfrm>
            <a:off x="548640" y="1508760"/>
            <a:ext cx="546811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A2540">
                <a:alpha val="10000"/>
              </a:srgbClr>
            </a:outerShdw>
          </a:effectLst>
        </p:spPr>
      </p:sp>
      <p:sp>
        <p:nvSpPr>
          <p:cNvPr id="5" name="Consideration icon circle 1"/>
          <p:cNvSpPr/>
          <p:nvPr/>
        </p:nvSpPr>
        <p:spPr>
          <a:xfrm>
            <a:off x="822960" y="17830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Safet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9659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7830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Safety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060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Rounded edges and corners, pinch-free hinge gap, factor of safety above 3 on the test load.</a:t>
            </a:r>
            <a:endParaRPr lang="en-US" sz="1600" dirty="0"/>
          </a:p>
        </p:txBody>
      </p:sp>
      <p:sp>
        <p:nvSpPr>
          <p:cNvPr id="9" name="Consideration card 2"/>
          <p:cNvSpPr/>
          <p:nvPr/>
        </p:nvSpPr>
        <p:spPr>
          <a:xfrm>
            <a:off x="6172200" y="1508760"/>
            <a:ext cx="546811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A2540">
                <a:alpha val="10000"/>
              </a:srgbClr>
            </a:outerShdw>
          </a:effectLst>
        </p:spPr>
      </p:sp>
      <p:sp>
        <p:nvSpPr>
          <p:cNvPr id="10" name="Consideration icon circle 2"/>
          <p:cNvSpPr/>
          <p:nvPr/>
        </p:nvSpPr>
        <p:spPr>
          <a:xfrm>
            <a:off x="6446520" y="17830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Sustainability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96596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60920" y="17830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Sustainability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26060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One recyclable material family, no adhesives, every part repairable or replaceable.</a:t>
            </a:r>
            <a:endParaRPr lang="en-US" sz="1600" dirty="0"/>
          </a:p>
        </p:txBody>
      </p:sp>
      <p:sp>
        <p:nvSpPr>
          <p:cNvPr id="14" name="Consideration card 3"/>
          <p:cNvSpPr/>
          <p:nvPr/>
        </p:nvSpPr>
        <p:spPr>
          <a:xfrm>
            <a:off x="548640" y="3840480"/>
            <a:ext cx="546811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A2540">
                <a:alpha val="10000"/>
              </a:srgbClr>
            </a:outerShdw>
          </a:effectLst>
        </p:spPr>
      </p:sp>
      <p:sp>
        <p:nvSpPr>
          <p:cNvPr id="15" name="Consideration icon circle 3"/>
          <p:cNvSpPr/>
          <p:nvPr/>
        </p:nvSpPr>
        <p:spPr>
          <a:xfrm>
            <a:off x="822960" y="41148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mage 2" descr="Ergonomic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29768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37360" y="411480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Ergonomics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" y="49377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Tilt range lets screen top sit near eye level for different desk and user heights.</a:t>
            </a:r>
            <a:endParaRPr lang="en-US" sz="1600" dirty="0"/>
          </a:p>
        </p:txBody>
      </p:sp>
      <p:sp>
        <p:nvSpPr>
          <p:cNvPr id="19" name="Consideration card 4"/>
          <p:cNvSpPr/>
          <p:nvPr/>
        </p:nvSpPr>
        <p:spPr>
          <a:xfrm>
            <a:off x="6172200" y="3840480"/>
            <a:ext cx="5468112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A2540">
                <a:alpha val="10000"/>
              </a:srgbClr>
            </a:outerShdw>
          </a:effectLst>
        </p:spPr>
      </p:sp>
      <p:sp>
        <p:nvSpPr>
          <p:cNvPr id="20" name="Consideration icon circle 4"/>
          <p:cNvSpPr/>
          <p:nvPr/>
        </p:nvSpPr>
        <p:spPr>
          <a:xfrm>
            <a:off x="6446520" y="41148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3" descr="Limitations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29768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60920" y="411480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Limitations</a:t>
            </a:r>
            <a:endParaRPr lang="en-US" sz="2200" dirty="0"/>
          </a:p>
        </p:txBody>
      </p:sp>
      <p:sp>
        <p:nvSpPr>
          <p:cNvPr id="23" name="Text 17"/>
          <p:cNvSpPr txBox="1"/>
          <p:nvPr/>
        </p:nvSpPr>
        <p:spPr>
          <a:xfrm>
            <a:off x="6446520" y="49377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Static loads only. Fatigue, vibration and bend-radius stress concentrations were not modelled.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and next steps</a:t>
            </a:r>
            <a:endParaRPr lang="en-US" sz="4000" dirty="0"/>
          </a:p>
        </p:txBody>
      </p:sp>
      <p:sp>
        <p:nvSpPr>
          <p:cNvPr id="3" name="Summary card 1"/>
          <p:cNvSpPr/>
          <p:nvPr/>
        </p:nvSpPr>
        <p:spPr>
          <a:xfrm>
            <a:off x="548640" y="1874520"/>
            <a:ext cx="3566160" cy="2377440"/>
          </a:xfrm>
          <a:prstGeom prst="roundRect">
            <a:avLst>
              <a:gd name="adj" fmla="val 4615"/>
            </a:avLst>
          </a:prstGeom>
          <a:solidFill>
            <a:schemeClr val="bg1">
              <a:alpha val="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0116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517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Need to spec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546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 posture problem became six measurable targets.</a:t>
            </a:r>
            <a:endParaRPr lang="en-US" sz="1400" dirty="0"/>
          </a:p>
        </p:txBody>
      </p:sp>
      <p:sp>
        <p:nvSpPr>
          <p:cNvPr id="7" name="Summary card 2"/>
          <p:cNvSpPr/>
          <p:nvPr/>
        </p:nvSpPr>
        <p:spPr>
          <a:xfrm>
            <a:off x="4297680" y="1874520"/>
            <a:ext cx="3566160" cy="2377440"/>
          </a:xfrm>
          <a:prstGeom prst="roundRect">
            <a:avLst>
              <a:gd name="adj" fmla="val 4615"/>
            </a:avLst>
          </a:prstGeom>
          <a:solidFill>
            <a:schemeClr val="bg1">
              <a:alpha val="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20116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6517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Model-led design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1546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Beam theory showed stiffness, not strength, sets the thickness (1.4 mm vs 1.5 mm limit).</a:t>
            </a:r>
            <a:endParaRPr lang="en-US" sz="1400" dirty="0"/>
          </a:p>
        </p:txBody>
      </p:sp>
      <p:sp>
        <p:nvSpPr>
          <p:cNvPr id="11" name="Summary card 3"/>
          <p:cNvSpPr/>
          <p:nvPr/>
        </p:nvSpPr>
        <p:spPr>
          <a:xfrm>
            <a:off x="8046720" y="1874520"/>
            <a:ext cx="3566160" cy="2377440"/>
          </a:xfrm>
          <a:prstGeom prst="roundRect">
            <a:avLst>
              <a:gd name="adj" fmla="val 4615"/>
            </a:avLst>
          </a:prstGeom>
          <a:solidFill>
            <a:schemeClr val="bg1">
              <a:alpha val="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20116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6517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Refined and costed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1546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Version 2 is predicted to meet every spec at about $10 and 0.5 kg.</a:t>
            </a:r>
            <a:endParaRPr lang="en-US" sz="1400" dirty="0"/>
          </a:p>
        </p:txBody>
      </p:sp>
      <p:sp>
        <p:nvSpPr>
          <p:cNvPr id="15" name="Stand drawing line"/>
          <p:cNvSpPr/>
          <p:nvPr/>
        </p:nvSpPr>
        <p:spPr>
          <a:xfrm flipV="1">
            <a:off x="9422892" y="1691640"/>
            <a:ext cx="64008" cy="64008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16" name="Stand drawing line"/>
          <p:cNvSpPr/>
          <p:nvPr/>
        </p:nvSpPr>
        <p:spPr>
          <a:xfrm flipV="1">
            <a:off x="9537192" y="1691640"/>
            <a:ext cx="64008" cy="64008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17" name="Stand drawing line"/>
          <p:cNvSpPr/>
          <p:nvPr/>
        </p:nvSpPr>
        <p:spPr>
          <a:xfrm flipV="1">
            <a:off x="9651492" y="1691640"/>
            <a:ext cx="64008" cy="64008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18" name="Stand drawing line"/>
          <p:cNvSpPr/>
          <p:nvPr/>
        </p:nvSpPr>
        <p:spPr>
          <a:xfrm flipV="1">
            <a:off x="9765792" y="1691640"/>
            <a:ext cx="64008" cy="64008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19" name="Stand drawing line"/>
          <p:cNvSpPr/>
          <p:nvPr/>
        </p:nvSpPr>
        <p:spPr>
          <a:xfrm flipV="1">
            <a:off x="9880092" y="1691640"/>
            <a:ext cx="64008" cy="64008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0" name="Stand drawing line"/>
          <p:cNvSpPr/>
          <p:nvPr/>
        </p:nvSpPr>
        <p:spPr>
          <a:xfrm flipV="1">
            <a:off x="9994392" y="1691640"/>
            <a:ext cx="64008" cy="64008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1" name="Stand drawing line"/>
          <p:cNvSpPr/>
          <p:nvPr/>
        </p:nvSpPr>
        <p:spPr>
          <a:xfrm flipV="1">
            <a:off x="10108692" y="1691640"/>
            <a:ext cx="64008" cy="64008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2" name="Stand drawing line"/>
          <p:cNvSpPr/>
          <p:nvPr/>
        </p:nvSpPr>
        <p:spPr>
          <a:xfrm flipV="1">
            <a:off x="10222992" y="1691640"/>
            <a:ext cx="64008" cy="64008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3" name="Stand drawing line"/>
          <p:cNvSpPr/>
          <p:nvPr/>
        </p:nvSpPr>
        <p:spPr>
          <a:xfrm flipV="1">
            <a:off x="10337292" y="1691640"/>
            <a:ext cx="64008" cy="64008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4" name="Stand drawing line"/>
          <p:cNvSpPr/>
          <p:nvPr/>
        </p:nvSpPr>
        <p:spPr>
          <a:xfrm flipV="1">
            <a:off x="10451592" y="1691640"/>
            <a:ext cx="64008" cy="64008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5" name="Stand drawing line"/>
          <p:cNvSpPr/>
          <p:nvPr/>
        </p:nvSpPr>
        <p:spPr>
          <a:xfrm flipV="1">
            <a:off x="10565892" y="1691640"/>
            <a:ext cx="64008" cy="64008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6" name="Stand drawing line"/>
          <p:cNvSpPr/>
          <p:nvPr/>
        </p:nvSpPr>
        <p:spPr>
          <a:xfrm flipV="1">
            <a:off x="10680192" y="1691640"/>
            <a:ext cx="64008" cy="64008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7" name="Stand drawing line"/>
          <p:cNvSpPr/>
          <p:nvPr/>
        </p:nvSpPr>
        <p:spPr>
          <a:xfrm flipV="1">
            <a:off x="10794492" y="1691640"/>
            <a:ext cx="64008" cy="64008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8" name="Stand drawing line"/>
          <p:cNvSpPr/>
          <p:nvPr/>
        </p:nvSpPr>
        <p:spPr>
          <a:xfrm flipV="1">
            <a:off x="10908792" y="1691640"/>
            <a:ext cx="64008" cy="64008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29" name="Stand drawing line"/>
          <p:cNvSpPr/>
          <p:nvPr/>
        </p:nvSpPr>
        <p:spPr>
          <a:xfrm flipV="1">
            <a:off x="11023092" y="1691640"/>
            <a:ext cx="64008" cy="64008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30" name="Stand drawing line"/>
          <p:cNvSpPr/>
          <p:nvPr/>
        </p:nvSpPr>
        <p:spPr>
          <a:xfrm flipV="1">
            <a:off x="11137392" y="1691640"/>
            <a:ext cx="64008" cy="64008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31" name="Stand drawing line"/>
          <p:cNvSpPr/>
          <p:nvPr/>
        </p:nvSpPr>
        <p:spPr>
          <a:xfrm flipV="1">
            <a:off x="11251692" y="1691640"/>
            <a:ext cx="64008" cy="64008"/>
          </a:xfrm>
          <a:prstGeom prst="line">
            <a:avLst/>
          </a:prstGeom>
          <a:noFill/>
          <a:ln w="9525">
            <a:solidFill>
              <a:srgbClr val="BFD7F2"/>
            </a:solidFill>
            <a:prstDash val="solid"/>
          </a:ln>
        </p:spPr>
      </p:sp>
      <p:sp>
        <p:nvSpPr>
          <p:cNvPr id="32" name="Stand drawing line"/>
          <p:cNvSpPr/>
          <p:nvPr/>
        </p:nvSpPr>
        <p:spPr>
          <a:xfrm>
            <a:off x="9418320" y="1691640"/>
            <a:ext cx="1965960" cy="0"/>
          </a:xfrm>
          <a:prstGeom prst="line">
            <a:avLst/>
          </a:prstGeom>
          <a:noFill/>
          <a:ln w="38100">
            <a:solidFill>
              <a:srgbClr val="BFD7F2"/>
            </a:solidFill>
            <a:prstDash val="solid"/>
          </a:ln>
        </p:spPr>
      </p:sp>
      <p:sp>
        <p:nvSpPr>
          <p:cNvPr id="33" name="Stand drawing line"/>
          <p:cNvSpPr/>
          <p:nvPr/>
        </p:nvSpPr>
        <p:spPr>
          <a:xfrm>
            <a:off x="9555480" y="1463040"/>
            <a:ext cx="0" cy="228600"/>
          </a:xfrm>
          <a:prstGeom prst="line">
            <a:avLst/>
          </a:prstGeom>
          <a:noFill/>
          <a:ln w="38100">
            <a:solidFill>
              <a:srgbClr val="BFD7F2"/>
            </a:solidFill>
            <a:prstDash val="solid"/>
          </a:ln>
        </p:spPr>
      </p:sp>
      <p:sp>
        <p:nvSpPr>
          <p:cNvPr id="34" name="Stand drawing line"/>
          <p:cNvSpPr/>
          <p:nvPr/>
        </p:nvSpPr>
        <p:spPr>
          <a:xfrm flipV="1">
            <a:off x="9555480" y="1028700"/>
            <a:ext cx="1691640" cy="434340"/>
          </a:xfrm>
          <a:prstGeom prst="line">
            <a:avLst/>
          </a:prstGeom>
          <a:noFill/>
          <a:ln w="50800">
            <a:solidFill>
              <a:srgbClr val="BFD7F2"/>
            </a:solidFill>
            <a:prstDash val="solid"/>
          </a:ln>
        </p:spPr>
      </p:sp>
      <p:sp>
        <p:nvSpPr>
          <p:cNvPr id="35" name="Stand drawing line"/>
          <p:cNvSpPr/>
          <p:nvPr/>
        </p:nvSpPr>
        <p:spPr>
          <a:xfrm flipV="1">
            <a:off x="10835640" y="1063904"/>
            <a:ext cx="274320" cy="627736"/>
          </a:xfrm>
          <a:prstGeom prst="line">
            <a:avLst/>
          </a:prstGeom>
          <a:noFill/>
          <a:ln w="38100">
            <a:solidFill>
              <a:srgbClr val="BFD7F2"/>
            </a:solidFill>
            <a:prstDash val="solid"/>
          </a:ln>
        </p:spPr>
      </p:sp>
      <p:sp>
        <p:nvSpPr>
          <p:cNvPr id="36" name="Stand drawing line"/>
          <p:cNvSpPr/>
          <p:nvPr/>
        </p:nvSpPr>
        <p:spPr>
          <a:xfrm flipV="1">
            <a:off x="11041380" y="1063904"/>
            <a:ext cx="68580" cy="627736"/>
          </a:xfrm>
          <a:prstGeom prst="line">
            <a:avLst/>
          </a:prstGeom>
          <a:noFill/>
          <a:ln w="19050">
            <a:solidFill>
              <a:srgbClr val="BFD7F2"/>
            </a:solidFill>
            <a:prstDash val="dash"/>
          </a:ln>
        </p:spPr>
      </p:sp>
      <p:sp>
        <p:nvSpPr>
          <p:cNvPr id="37" name="Stand drawing line"/>
          <p:cNvSpPr/>
          <p:nvPr/>
        </p:nvSpPr>
        <p:spPr>
          <a:xfrm flipV="1">
            <a:off x="9624060" y="981151"/>
            <a:ext cx="1577340" cy="405079"/>
          </a:xfrm>
          <a:prstGeom prst="line">
            <a:avLst/>
          </a:prstGeom>
          <a:noFill/>
          <a:ln w="76200">
            <a:solidFill>
              <a:srgbClr val="F28C28"/>
            </a:solidFill>
            <a:prstDash val="solid"/>
          </a:ln>
        </p:spPr>
      </p:sp>
      <p:sp>
        <p:nvSpPr>
          <p:cNvPr id="38" name="Stand drawing line"/>
          <p:cNvSpPr/>
          <p:nvPr/>
        </p:nvSpPr>
        <p:spPr>
          <a:xfrm>
            <a:off x="10995660" y="434340"/>
            <a:ext cx="205740" cy="546811"/>
          </a:xfrm>
          <a:prstGeom prst="line">
            <a:avLst/>
          </a:prstGeom>
          <a:noFill/>
          <a:ln w="76200">
            <a:solidFill>
              <a:srgbClr val="F28C28"/>
            </a:solidFill>
            <a:prstDash val="solid"/>
          </a:ln>
        </p:spPr>
      </p:sp>
      <p:sp>
        <p:nvSpPr>
          <p:cNvPr id="39" name="Stand drawing line"/>
          <p:cNvSpPr/>
          <p:nvPr/>
        </p:nvSpPr>
        <p:spPr>
          <a:xfrm>
            <a:off x="9610344" y="1303020"/>
            <a:ext cx="0" cy="128016"/>
          </a:xfrm>
          <a:prstGeom prst="line">
            <a:avLst/>
          </a:prstGeom>
          <a:noFill/>
          <a:ln w="38100">
            <a:solidFill>
              <a:srgbClr val="F28C28"/>
            </a:solidFill>
            <a:prstDash val="solid"/>
          </a:ln>
        </p:spPr>
      </p:sp>
      <p:sp>
        <p:nvSpPr>
          <p:cNvPr id="40" name="Hinge"/>
          <p:cNvSpPr/>
          <p:nvPr/>
        </p:nvSpPr>
        <p:spPr>
          <a:xfrm>
            <a:off x="9491472" y="1399032"/>
            <a:ext cx="128016" cy="128016"/>
          </a:xfrm>
          <a:prstGeom prst="ellipse">
            <a:avLst/>
          </a:prstGeom>
          <a:solidFill>
            <a:srgbClr val="F28C28"/>
          </a:solidFill>
          <a:ln w="9525">
            <a:solidFill>
              <a:srgbClr val="F28C28"/>
            </a:solidFill>
            <a:prstDash val="solid"/>
          </a:ln>
        </p:spPr>
      </p:sp>
      <p:sp>
        <p:nvSpPr>
          <p:cNvPr id="41" name="Hinge"/>
          <p:cNvSpPr/>
          <p:nvPr/>
        </p:nvSpPr>
        <p:spPr>
          <a:xfrm>
            <a:off x="11045952" y="999896"/>
            <a:ext cx="128016" cy="128016"/>
          </a:xfrm>
          <a:prstGeom prst="ellipse">
            <a:avLst/>
          </a:prstGeom>
          <a:solidFill>
            <a:srgbClr val="F28C28"/>
          </a:solidFill>
          <a:ln w="9525">
            <a:solidFill>
              <a:srgbClr val="F28C2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" y="4663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NEXT STEPS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498348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Fatigue and vibration analysis of hinge and leg joints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Topology-optimised tray cut-outs to reduce mass further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User trial with 10 participants to validate comfort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7863840" y="5029200"/>
            <a:ext cx="3776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45" name="Text 43"/>
          <p:cNvSpPr txBox="1"/>
          <p:nvPr/>
        </p:nvSpPr>
        <p:spPr>
          <a:xfrm>
            <a:off x="7863840" y="5669280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Questions?</a:t>
            </a:r>
            <a:endParaRPr lang="en-US" sz="2000" dirty="0"/>
          </a:p>
        </p:txBody>
      </p:sp>
      <p:sp>
        <p:nvSpPr>
          <p:cNvPr id="47" name="Text 0"/>
          <p:cNvSpPr/>
          <p:nvPr>
            <p:ph idx="100" type="title" hasCustomPrompt="1"/>
          </p:nvPr>
        </p:nvSpPr>
        <p:spPr>
          <a:xfrm>
            <a:off x="548640" y="21031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48" name="Text 0"/>
          <p:cNvSpPr/>
          <p:nvPr>
            <p:ph idx="101" type="body" hasCustomPrompt="1"/>
          </p:nvPr>
        </p:nvSpPr>
        <p:spPr>
          <a:xfrm>
            <a:off x="548640" y="324612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ueprint Orange">
  <a:themeElements>
    <a:clrScheme name="Blueprint Orange">
      <a:dk1>
        <a:srgbClr val="12202F"/>
      </a:dk1>
      <a:lt1>
        <a:srgbClr val="FFFFFF"/>
      </a:lt1>
      <a:dk2>
        <a:srgbClr val="0A2540"/>
      </a:dk2>
      <a:lt2>
        <a:srgbClr val="EEF2F6"/>
      </a:lt2>
      <a:accent1>
        <a:srgbClr val="F28C28"/>
      </a:accent1>
      <a:accent2>
        <a:srgbClr val="2563A8"/>
      </a:accent2>
      <a:accent3>
        <a:srgbClr val="1FA39A"/>
      </a:accent3>
      <a:accent4>
        <a:srgbClr val="5B6773"/>
      </a:accent4>
      <a:accent5>
        <a:srgbClr val="D64B4B"/>
      </a:accent5>
      <a:accent6>
        <a:srgbClr val="F2C14E"/>
      </a:accent6>
      <a:hlink>
        <a:srgbClr val="2563A8"/>
      </a:hlink>
      <a:folHlink>
        <a:srgbClr val="5B6773"/>
      </a:folHlink>
    </a:clrScheme>
    <a:fontScheme name="Blueprint Orang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StandUp – Engineering Design &amp; Modelling Prototype Showcase</dc:title>
  <dc:subject>PptxGenJS Presentation</dc:subject>
  <dc:creator>Shrestha Pandey, Yeshika Murjani, Vivek Krishna V, Archana Santhosh</dc:creator>
  <cp:lastModifiedBy>Shrestha Pandey, Yeshika Murjani, Vivek Krishna V, Archana Santhosh</cp:lastModifiedBy>
  <cp:revision>1</cp:revision>
  <dcterms:created xsi:type="dcterms:W3CDTF">2026-10-10T16:34:14Z</dcterms:created>
  <dcterms:modified xsi:type="dcterms:W3CDTF">2026-10-10T16:34:14Z</dcterms:modified>
</cp:coreProperties>
</file>