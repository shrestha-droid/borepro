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35a72b8-e07f-1b9b-cebc-7fe3bc7e6fec}">
          <p14:sldIdLst>
            <p14:sldId id="256"/>
            <p14:sldId id="257"/>
            <p14:sldId id="258"/>
          </p14:sldIdLst>
        </p14:section>
        <p14:section name="Design" id="{e5f8f3c2-0824-12c9-3c04-42c866608521}">
          <p14:sldIdLst>
            <p14:sldId id="259"/>
            <p14:sldId id="260"/>
            <p14:sldId id="261"/>
          </p14:sldIdLst>
        </p14:section>
        <p14:section name="Modelling" id="{9ed7da1f-7b52-5d3a-d361-2f33be40482d}">
          <p14:sldIdLst>
            <p14:sldId id="262"/>
            <p14:sldId id="263"/>
            <p14:sldId id="264"/>
          </p14:sldIdLst>
        </p14:section>
        <p14:section name="Build &amp; Test" id="{aecba613-3486-58f6-0ba1-89ada67f5277}">
          <p14:sldIdLst>
            <p14:sldId id="265"/>
            <p14:sldId id="266"/>
            <p14:sldId id="267"/>
          </p14:sldIdLst>
        </p14:section>
        <p14:section name="Wrap-up" id="{f3e2cd0a-618a-9bd5-8f4a-67a036bdbb77}">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2540"/>
                </a:solidFill>
                <a:latin typeface="+mn-lt"/>
              </a:defRPr>
            </a:pPr>
            <a:r>
              <a:rPr sz="1400" b="0" i="0" u="none" strike="noStrike">
                <a:solidFill>
                  <a:srgbClr val="0A2540"/>
                </a:solidFill>
                <a:latin typeface="+mn-lt"/>
              </a:rPr>
              <a:t>Load on the neck vs. forward head tilt (lb)</a:t>
            </a:r>
          </a:p>
        </c:rich>
      </c:tx>
      <c:layout/>
      <c:overlay val="0"/>
    </c:title>
    <c:autoTitleDeleted val="0"/>
    <c:plotArea>
      <c:layout/>
      <c:barChart>
        <c:barDir val="col"/>
        <c:grouping val="clustered"/>
        <c:varyColors val="0"/>
        <c:ser>
          <c:idx val="0"/>
          <c:order val="0"/>
          <c:tx>
            <c:strRef>
              <c:f>Sheet1!$B$1</c:f>
              <c:strCache>
                <c:ptCount val="1"/>
                <c:pt idx="0">
                  <c:v>Effective load on neck (lb)</c:v>
                </c:pt>
              </c:strCache>
            </c:strRef>
          </c:tx>
          <c:spPr>
            <a:solidFill>
              <a:srgbClr val="1FA39A"/>
            </a:solidFill>
            <a:effectLst/>
          </c:spPr>
          <c:invertIfNegative val="0"/>
          <c:dLbls>
            <c:numFmt formatCode="#,##0" sourceLinked="0"/>
            <c:txPr>
              <a:bodyPr/>
              <a:lstStyle/>
              <a:p>
                <a:pPr>
                  <a:defRPr b="1" i="0" strike="noStrike" sz="1400" u="none">
                    <a:solidFill>
                      <a:srgbClr val="12202F"/>
                    </a:solidFill>
                    <a:latin typeface="+mn-lt"/>
                  </a:defRPr>
                </a:pPr>
              </a:p>
            </c:txPr>
            <c:showLegendKey val="0"/>
            <c:showVal val="1"/>
            <c:showCatName val="0"/>
            <c:showSerName val="0"/>
            <c:showPercent val="0"/>
            <c:showBubbleSize val="0"/>
            <c:showLeaderLines val="0"/>
          </c:dLbls>
          <c:dPt>
            <c:idx val="0"/>
            <c:invertIfNegative val="0"/>
            <c:bubble3D val="0"/>
            <c:spPr>
              <a:solidFill>
                <a:srgbClr val="1FA39A"/>
              </a:solidFill>
              <a:effectLst/>
            </c:spPr>
          </c:dPt>
          <c:dPt>
            <c:idx val="1"/>
            <c:invertIfNegative val="0"/>
            <c:bubble3D val="0"/>
            <c:spPr>
              <a:solidFill>
                <a:srgbClr val="F2C14E"/>
              </a:solidFill>
              <a:effectLst/>
            </c:spPr>
          </c:dPt>
          <c:dPt>
            <c:idx val="2"/>
            <c:invertIfNegative val="0"/>
            <c:bubble3D val="0"/>
            <c:spPr>
              <a:solidFill>
                <a:srgbClr val="F28C28"/>
              </a:solidFill>
              <a:effectLst/>
            </c:spPr>
          </c:dPt>
          <c:dPt>
            <c:idx val="3"/>
            <c:invertIfNegative val="0"/>
            <c:bubble3D val="0"/>
            <c:spPr>
              <a:solidFill>
                <a:srgbClr val="E0663A"/>
              </a:solidFill>
              <a:effectLst/>
            </c:spPr>
          </c:dPt>
          <c:dPt>
            <c:idx val="4"/>
            <c:invertIfNegative val="0"/>
            <c:bubble3D val="0"/>
            <c:spPr>
              <a:solidFill>
                <a:srgbClr val="D64B4B"/>
              </a:solidFill>
              <a:effectLst/>
            </c:spPr>
          </c:dPt>
          <c:cat>
            <c:multiLvlStrRef>
              <c:f>Sheet1!$A$2:$A$6</c:f>
              <c:multiLvlStrCache>
                <c:ptCount val="5"/>
                <c:lvl>
                  <c:pt idx="0">
                    <c:v>0°</c:v>
                  </c:pt>
                  <c:pt idx="1">
                    <c:v>15°</c:v>
                  </c:pt>
                  <c:pt idx="2">
                    <c:v>30°</c:v>
                  </c:pt>
                  <c:pt idx="3">
                    <c:v>45°</c:v>
                  </c:pt>
                  <c:pt idx="4">
                    <c:v>60°</c:v>
                  </c:pt>
                </c:lvl>
              </c:multiLvlStrCache>
            </c:multiLvlStrRef>
          </c:cat>
          <c:val>
            <c:numRef>
              <c:f>Sheet1!$B$2:$B$6</c:f>
              <c:numCache>
                <c:formatCode>General</c:formatCode>
                <c:ptCount val="5"/>
                <c:pt idx="0">
                  <c:v>12</c:v>
                </c:pt>
                <c:pt idx="1">
                  <c:v>27</c:v>
                </c:pt>
                <c:pt idx="2">
                  <c:v>40</c:v>
                </c:pt>
                <c:pt idx="3">
                  <c:v>49</c:v>
                </c:pt>
                <c:pt idx="4">
                  <c:v>60</c:v>
                </c:pt>
              </c:numCache>
            </c:numRef>
          </c:val>
        </c:ser>
        <c:dLbls>
          <c:numFmt formatCode="#,##0" sourceLinked="0"/>
          <c:txPr>
            <a:bodyPr/>
            <a:lstStyle/>
            <a:p>
              <a:pPr>
                <a:defRPr b="1" i="0" strike="noStrike" sz="1400" u="none">
                  <a:solidFill>
                    <a:srgbClr val="12202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B6773"/>
                    </a:solidFill>
                    <a:latin typeface="+mn-lt"/>
                  </a:defRPr>
                </a:pPr>
                <a:r>
                  <a:rPr sz="1200" b="0" i="0" u="none" strike="noStrike">
                    <a:solidFill>
                      <a:srgbClr val="5B6773"/>
                    </a:solidFill>
                    <a:latin typeface="+mn-lt"/>
                  </a:rPr>
                  <a:t>Forward head tilt angle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2202F"/>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9525" cap="flat">
              <a:solidFill>
                <a:srgbClr val="DDE5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77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A2540"/>
                </a:solidFill>
                <a:latin typeface="+mn-lt"/>
              </a:defRPr>
            </a:pPr>
            <a:r>
              <a:rPr sz="1400" b="0" i="0" u="none" strike="noStrike">
                <a:solidFill>
                  <a:srgbClr val="0A2540"/>
                </a:solidFill>
                <a:latin typeface="+mn-lt"/>
              </a:rPr>
              <a:t>Mid-span deflection vs. tray thickness</a:t>
            </a:r>
          </a:p>
        </c:rich>
      </c:tx>
      <c:layout/>
      <c:overlay val="0"/>
    </c:title>
    <c:autoTitleDeleted val="0"/>
    <c:plotArea>
      <c:layout/>
      <c:lineChart>
        <c:varyColors val="0"/>
        <c:ser>
          <c:idx val="0"/>
          <c:order val="0"/>
          <c:tx>
            <c:strRef>
              <c:f>Sheet1!$B$1</c:f>
              <c:strCache>
                <c:ptCount val="1"/>
                <c:pt idx="0">
                  <c:v>Predicted deflection (mm)</c:v>
                </c:pt>
              </c:strCache>
            </c:strRef>
          </c:tx>
          <c:spPr>
            <a:solidFill>
              <a:srgbClr val="2563A8"/>
            </a:solidFill>
            <a:ln w="38100" cap="flat">
              <a:solidFill>
                <a:srgbClr val="2563A8"/>
              </a:solidFill>
              <a:prstDash val="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2563A8"/>
              </a:solidFill>
              <a:ln w="9525" cap="flat">
                <a:solidFill>
                  <a:srgbClr val="2563A8"/>
                </a:solidFill>
                <a:prstDash val="solid"/>
                <a:round/>
              </a:ln>
              <a:effectLst/>
            </c:spPr>
          </c:marker>
          <c:cat>
            <c:multiLvlStrRef>
              <c:f>Sheet1!$A$2:$A$7</c:f>
              <c:multiLvlStrCache>
                <c:ptCount val="6"/>
                <c:lvl>
                  <c:pt idx="0">
                    <c:v>1 mm</c:v>
                  </c:pt>
                  <c:pt idx="1">
                    <c:v>1.5 mm</c:v>
                  </c:pt>
                  <c:pt idx="2">
                    <c:v>2 mm</c:v>
                  </c:pt>
                  <c:pt idx="3">
                    <c:v>2.5 mm</c:v>
                  </c:pt>
                  <c:pt idx="4">
                    <c:v>3 mm</c:v>
                  </c:pt>
                  <c:pt idx="5">
                    <c:v>4 mm</c:v>
                  </c:pt>
                </c:lvl>
              </c:multiLvlStrCache>
            </c:multiLvlStrRef>
          </c:cat>
          <c:val>
            <c:numRef>
              <c:f>Sheet1!$B$2:$B$7</c:f>
              <c:numCache>
                <c:formatCode>General</c:formatCode>
                <c:ptCount val="6"/>
                <c:pt idx="0">
                  <c:v>11.12</c:v>
                </c:pt>
                <c:pt idx="1">
                  <c:v>3.3</c:v>
                </c:pt>
                <c:pt idx="2">
                  <c:v>1.39</c:v>
                </c:pt>
                <c:pt idx="3">
                  <c:v>0.71</c:v>
                </c:pt>
                <c:pt idx="4">
                  <c:v>0.41</c:v>
                </c:pt>
                <c:pt idx="5">
                  <c:v>0.17</c:v>
                </c:pt>
              </c:numCache>
            </c:numRef>
          </c:val>
          <c:smooth val="0"/>
        </c:ser>
        <c:ser>
          <c:idx val="1"/>
          <c:order val="1"/>
          <c:tx>
            <c:strRef>
              <c:f>Sheet1!$C$1</c:f>
              <c:strCache>
                <c:ptCount val="1"/>
                <c:pt idx="0">
                  <c:v>Deflection limit (1.5 mm)</c:v>
                </c:pt>
              </c:strCache>
            </c:strRef>
          </c:tx>
          <c:spPr>
            <a:solidFill>
              <a:srgbClr val="D64B4B"/>
            </a:solidFill>
            <a:ln w="38100" cap="flat">
              <a:solidFill>
                <a:srgbClr val="D64B4B"/>
              </a:solidFill>
              <a:prstDash val="solid,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9"/>
            <c:spPr>
              <a:solidFill>
                <a:srgbClr val="D64B4B"/>
              </a:solidFill>
              <a:ln w="9525" cap="flat">
                <a:solidFill>
                  <a:srgbClr val="D64B4B"/>
                </a:solidFill>
                <a:prstDash val="solid"/>
                <a:round/>
              </a:ln>
              <a:effectLst/>
            </c:spPr>
          </c:marker>
          <c:cat>
            <c:multiLvlStrRef>
              <c:f>Sheet1!$A$2:$A$7</c:f>
              <c:multiLvlStrCache>
                <c:ptCount val="6"/>
                <c:lvl>
                  <c:pt idx="0">
                    <c:v>1 mm</c:v>
                  </c:pt>
                  <c:pt idx="1">
                    <c:v>1.5 mm</c:v>
                  </c:pt>
                  <c:pt idx="2">
                    <c:v>2 mm</c:v>
                  </c:pt>
                  <c:pt idx="3">
                    <c:v>2.5 mm</c:v>
                  </c:pt>
                  <c:pt idx="4">
                    <c:v>3 mm</c:v>
                  </c:pt>
                  <c:pt idx="5">
                    <c:v>4 mm</c:v>
                  </c:pt>
                </c:lvl>
              </c:multiLvlStrCache>
            </c:multiLvlStrRef>
          </c:cat>
          <c:val>
            <c:numRef>
              <c:f>Sheet1!$C$2:$C$7</c:f>
              <c:numCache>
                <c:formatCode>General</c:formatCode>
                <c:ptCount val="6"/>
                <c:pt idx="0">
                  <c:v>1.5</c:v>
                </c:pt>
                <c:pt idx="1">
                  <c:v>1.5</c:v>
                </c:pt>
                <c:pt idx="2">
                  <c:v>1.5</c:v>
                </c:pt>
                <c:pt idx="3">
                  <c:v>1.5</c:v>
                </c:pt>
                <c:pt idx="4">
                  <c:v>1.5</c:v>
                </c:pt>
                <c:pt idx="5">
                  <c:v>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773"/>
                    </a:solidFill>
                    <a:latin typeface="+mn-lt"/>
                  </a:defRPr>
                </a:pPr>
                <a:r>
                  <a:rPr sz="1200" b="0" i="0" u="none" strike="noStrike">
                    <a:solidFill>
                      <a:srgbClr val="5B6773"/>
                    </a:solidFill>
                    <a:latin typeface="+mn-lt"/>
                  </a:rPr>
                  <a:t>Tray thickness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2202F"/>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DDE5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7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2202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One-sentence pitch: 'StandUp is a foldable laptop stand that raises the screen to eye level, designed and verified using the engineering design process and mechanics-based modelling.' Replace the placeholder name/course/date. NOTE: this deck uses a worked example prototype — swap in your own prototype's name, drawing and numbers wherever you see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 the project with data, not opinion. Hansraj (2014) modelled the effective load on the cervical spine as the head tilts forward: roughly 12 lb upright rising to 60 lb at 60 degrees. A laptop on a desk forces ~30-45 degrees of neck flexion. That is the problem we translate into an engineering need. (Replace with the need your own prototype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stages briefly (about 20 seconds each). The point to land: this was not 'build then hope' — each stage produced an artefact (observations, spec table, concept matrix, CAD + calculations, test plan). The dashed banner shows the loop: testing changed the design. Highlighted stages 4 and 5 are where the engineering modelling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simplified House-of-Quality step: customer needs on the left, the engineering metric that captures each need in the middle, and a target value on the right. Explain WHY each target was chosen: e.g. 1.5 mm deflection is below what a typist can feel; 20 mm folded thickness fits a laptop sleeve pocket; factor of safety &gt;= 3 is typical for consumer products with uncertain loading. Replace with your own spec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method: weights sum to 100% and come from the needs (portability and adjustability matter most to our users). Each concept is scored 1-5 per criterion; the weighted sum picks the winner. Concept C wins with 4.20 vs 3.40 (A) and 3.45 (B). Mention sensitivity: if you changed weights by +/-10%, C still wins — a good robustness point. Replace with your own concepts/scores.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schematic with a screenshot of your own CAD model (an isometric view plus a labelled exploded view works well). Each part should have a clear function, and you should be able to say why you chose its material and geometry. Point out that the dashed leg in the drawing shows the adjustable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model: idealise the tray as a simply supported beam with a centre point load — the worst case, because a real laptop spreads its weight. Walk through M = FL/4 = 3.07 N·m, I = b t^3/12 = 1.67e-10 m^4, sigma = Mc/I = 18.4 MPa, and delta = FL^3/(48EI) = 1.39 mm. State the assumptions out loud — examiners love hearing what the model ignores (dynamic loads, fatigue, stress concentrations at holes and bends).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 understand the subject' slide. Most students check stress only. Here the design is stiffness-driven: because deflection goes as 1/t^3 while stress goes as 1/t^2, the deflection limit binds first. Sweep thickness in the model (or in a CAD parametric study) and pick the thinnest tray that meets the limit — this minimises mass and cost. Values: 1 mm -&gt; 11.12 mm; 1.5 mm -&gt; 3.3 mm; 2 mm -&gt; 1.39 mm; 2.5 mm -&gt; 0.71 mm; 3 mm -&gt; 0.41 mm; 4 mm -&gt; 0.17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dashed box with a real screenshot from your CAD/FEA package (SolidWorks, Fusion 360, Onshape, Ansys...). Explain the four-step workflow, and especially the correlation step: hand calculation and FEA should agree closely for a simple geometry; if they don't, either the mesh, the boundary conditions or the idealisation is wrong. Mention mesh convergence if you ran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materials, manufacturing process and cost. Total BOM is $10.40 against a $12 target. Link choices back to the specs: aluminium is light and corrosion-resistant; laser cutting plus bending needs no tooling; slotted holes make assembly tolerant of fabrication error. Replace with your actual parts list, photos of the build, and real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spec from slide 4 gets a test with a pass criterion. The 'Model predicts' column comes from the calculations; the 'Measured' column is blank for you to fill in after testing. Report honestly: if a measurement misses the target or disagrees with the model, explain why (e.g. bolt clearance adds play, the point-load idealisation, sheet thickness tolerance). That reflection scores higher than a perfect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testing changed the design. The 1 mm to 2 mm change is directly traceable to the model: delta goes as 1/t^3, so doubling thickness cuts predicted deflection by 8x (11.1 mm to 1.4 mm). The other two fixes are practical observations from handling the prototype. Replace with the real issues you found and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engineering maturity: a design is more than its stress number. Safety, sustainability and ergonomics are standard design considerations; the limitations card is where you state what your model does NOT capture. Being upfront about limitations is a strength, not a weakness.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the three messages: need to spec, model-led design, build and iterate. Then the next steps (these show you know what a fuller study would include).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_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03120"/>
            <a:ext cx="5852160" cy="100584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548640" y="3246120"/>
            <a:ext cx="5394960" cy="10058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Engineering Design &amp; Modelling  ·  StandUp prototype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554480"/>
            <a:ext cx="60350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ENGINEERING DESIGN &amp; MODELLING</a:t>
            </a:r>
            <a:endParaRPr lang="en-US" sz="1400" dirty="0"/>
          </a:p>
        </p:txBody>
      </p:sp>
      <p:sp>
        <p:nvSpPr>
          <p:cNvPr id="3" name="Text 0"/>
          <p:cNvSpPr/>
          <p:nvPr>
            <p:ph idx="100" type="title" hasCustomPrompt="1"/>
          </p:nvPr>
        </p:nvSpPr>
        <p:spPr>
          <a:xfrm>
            <a:off x="548640" y="2103120"/>
            <a:ext cx="5852160" cy="1005840"/>
          </a:xfrm>
          <a:prstGeom prst="rect">
            <a:avLst/>
          </a:prstGeom>
          <a:noFill/>
          <a:ln/>
        </p:spPr>
        <p:txBody>
          <a:bodyPr wrap="square" lIns="0" tIns="0" rIns="0" bIns="0" rtlCol="0" anchor="t"/>
          <a:lstStyle/>
          <a:p>
            <a:pPr algn="l" indent="0" marL="0">
              <a:buNone/>
            </a:pPr>
            <a:r>
              <a:rPr lang="en-US" sz="6000" b="1" dirty="0">
                <a:solidFill>
                  <a:schemeClr val="bg1"/>
                </a:solidFill>
              </a:rPr>
              <a:t>StandUp</a:t>
            </a:r>
            <a:endParaRPr lang="en-US" sz="6000" dirty="0"/>
          </a:p>
        </p:txBody>
      </p:sp>
      <p:sp>
        <p:nvSpPr>
          <p:cNvPr id="4" name="Text 0"/>
          <p:cNvSpPr/>
          <p:nvPr>
            <p:ph idx="101" type="body" hasCustomPrompt="1"/>
          </p:nvPr>
        </p:nvSpPr>
        <p:spPr>
          <a:xfrm>
            <a:off x="548640" y="3246120"/>
            <a:ext cx="5394960" cy="1005840"/>
          </a:xfrm>
          <a:prstGeom prst="rect">
            <a:avLst/>
          </a:prstGeom>
          <a:noFill/>
          <a:ln/>
        </p:spPr>
        <p:txBody>
          <a:bodyPr wrap="square" lIns="0" tIns="0" rIns="0" bIns="0" rtlCol="0" anchor="t"/>
          <a:lstStyle/>
          <a:p>
            <a:pPr algn="l" indent="0" marL="0">
              <a:buNone/>
            </a:pPr>
            <a:r>
              <a:rPr lang="en-US" sz="2000" dirty="0">
                <a:solidFill>
                  <a:schemeClr val="bg2"/>
                </a:solidFill>
              </a:rPr>
              <a:t>An adjustable, foldable laptop stand — from user need to tested prototype</a:t>
            </a:r>
            <a:endParaRPr lang="en-US" sz="2000" dirty="0"/>
          </a:p>
        </p:txBody>
      </p:sp>
      <p:sp>
        <p:nvSpPr>
          <p:cNvPr id="5" name="Text 3"/>
          <p:cNvSpPr txBox="1"/>
          <p:nvPr/>
        </p:nvSpPr>
        <p:spPr>
          <a:xfrm>
            <a:off x="548640" y="5760720"/>
            <a:ext cx="6400800" cy="365760"/>
          </a:xfrm>
          <a:prstGeom prst="rect">
            <a:avLst/>
          </a:prstGeom>
          <a:noFill/>
          <a:ln/>
        </p:spPr>
        <p:txBody>
          <a:bodyPr wrap="square" lIns="0" tIns="0" rIns="0" bIns="0" rtlCol="0" anchor="ctr"/>
          <a:lstStyle/>
          <a:p>
            <a:pPr indent="0" marL="0">
              <a:buNone/>
            </a:pPr>
            <a:r>
              <a:rPr lang="en-US" sz="1400" dirty="0">
                <a:solidFill>
                  <a:schemeClr val="bg2"/>
                </a:solidFill>
              </a:rPr>
              <a:t>[Your name]  ·  [Course code]  ·  [Date]</a:t>
            </a:r>
            <a:endParaRPr lang="en-US" sz="1400" dirty="0"/>
          </a:p>
        </p:txBody>
      </p:sp>
      <p:sp>
        <p:nvSpPr>
          <p:cNvPr id="6" name="Drawing frame"/>
          <p:cNvSpPr/>
          <p:nvPr/>
        </p:nvSpPr>
        <p:spPr>
          <a:xfrm>
            <a:off x="6949440" y="1371600"/>
            <a:ext cx="4663440" cy="4023360"/>
          </a:xfrm>
          <a:prstGeom prst="roundRect">
            <a:avLst>
              <a:gd name="adj" fmla="val 3409"/>
            </a:avLst>
          </a:prstGeom>
          <a:solidFill>
            <a:schemeClr val="bg1">
              <a:alpha val="6000"/>
            </a:schemeClr>
          </a:solidFill>
          <a:ln w="12700">
            <a:solidFill>
              <a:schemeClr val="accent2"/>
            </a:solidFill>
            <a:prstDash val="solid"/>
          </a:ln>
        </p:spPr>
      </p:sp>
      <p:sp>
        <p:nvSpPr>
          <p:cNvPr id="7" name="Stand drawing line"/>
          <p:cNvSpPr/>
          <p:nvPr/>
        </p:nvSpPr>
        <p:spPr>
          <a:xfrm>
            <a:off x="7269480" y="4617720"/>
            <a:ext cx="3853282" cy="0"/>
          </a:xfrm>
          <a:prstGeom prst="line">
            <a:avLst/>
          </a:prstGeom>
          <a:noFill/>
          <a:ln w="38100">
            <a:solidFill>
              <a:srgbClr val="BFD7F2"/>
            </a:solidFill>
            <a:prstDash val="solid"/>
          </a:ln>
        </p:spPr>
      </p:sp>
      <p:sp>
        <p:nvSpPr>
          <p:cNvPr id="8" name="Stand drawing line"/>
          <p:cNvSpPr/>
          <p:nvPr/>
        </p:nvSpPr>
        <p:spPr>
          <a:xfrm>
            <a:off x="7538314" y="4169664"/>
            <a:ext cx="0" cy="448056"/>
          </a:xfrm>
          <a:prstGeom prst="line">
            <a:avLst/>
          </a:prstGeom>
          <a:noFill/>
          <a:ln w="38100">
            <a:solidFill>
              <a:srgbClr val="BFD7F2"/>
            </a:solidFill>
            <a:prstDash val="solid"/>
          </a:ln>
        </p:spPr>
      </p:sp>
      <p:sp>
        <p:nvSpPr>
          <p:cNvPr id="9" name="Stand drawing line"/>
          <p:cNvSpPr/>
          <p:nvPr/>
        </p:nvSpPr>
        <p:spPr>
          <a:xfrm flipV="1">
            <a:off x="7538314" y="3318358"/>
            <a:ext cx="3315614" cy="851306"/>
          </a:xfrm>
          <a:prstGeom prst="line">
            <a:avLst/>
          </a:prstGeom>
          <a:noFill/>
          <a:ln w="50800">
            <a:solidFill>
              <a:srgbClr val="BFD7F2"/>
            </a:solidFill>
            <a:prstDash val="solid"/>
          </a:ln>
        </p:spPr>
      </p:sp>
      <p:sp>
        <p:nvSpPr>
          <p:cNvPr id="10" name="Stand drawing line"/>
          <p:cNvSpPr/>
          <p:nvPr/>
        </p:nvSpPr>
        <p:spPr>
          <a:xfrm flipV="1">
            <a:off x="10047427" y="3387358"/>
            <a:ext cx="537667" cy="1230362"/>
          </a:xfrm>
          <a:prstGeom prst="line">
            <a:avLst/>
          </a:prstGeom>
          <a:noFill/>
          <a:ln w="38100">
            <a:solidFill>
              <a:srgbClr val="BFD7F2"/>
            </a:solidFill>
            <a:prstDash val="solid"/>
          </a:ln>
        </p:spPr>
      </p:sp>
      <p:sp>
        <p:nvSpPr>
          <p:cNvPr id="11" name="Stand drawing line"/>
          <p:cNvSpPr/>
          <p:nvPr/>
        </p:nvSpPr>
        <p:spPr>
          <a:xfrm flipV="1">
            <a:off x="10450678" y="3387358"/>
            <a:ext cx="134417" cy="1230362"/>
          </a:xfrm>
          <a:prstGeom prst="line">
            <a:avLst/>
          </a:prstGeom>
          <a:noFill/>
          <a:ln w="19050">
            <a:solidFill>
              <a:srgbClr val="BFD7F2"/>
            </a:solidFill>
            <a:prstDash val="dash"/>
          </a:ln>
        </p:spPr>
      </p:sp>
      <p:sp>
        <p:nvSpPr>
          <p:cNvPr id="12" name="Stand drawing line"/>
          <p:cNvSpPr/>
          <p:nvPr/>
        </p:nvSpPr>
        <p:spPr>
          <a:xfrm flipV="1">
            <a:off x="7672730" y="3225162"/>
            <a:ext cx="3091586" cy="793955"/>
          </a:xfrm>
          <a:prstGeom prst="line">
            <a:avLst/>
          </a:prstGeom>
          <a:noFill/>
          <a:ln w="76200">
            <a:solidFill>
              <a:srgbClr val="F28C28"/>
            </a:solidFill>
            <a:prstDash val="solid"/>
          </a:ln>
        </p:spPr>
      </p:sp>
      <p:sp>
        <p:nvSpPr>
          <p:cNvPr id="13" name="Stand drawing line"/>
          <p:cNvSpPr/>
          <p:nvPr/>
        </p:nvSpPr>
        <p:spPr>
          <a:xfrm>
            <a:off x="10361066" y="2153412"/>
            <a:ext cx="403250" cy="1071750"/>
          </a:xfrm>
          <a:prstGeom prst="line">
            <a:avLst/>
          </a:prstGeom>
          <a:noFill/>
          <a:ln w="76200">
            <a:solidFill>
              <a:srgbClr val="F28C28"/>
            </a:solidFill>
            <a:prstDash val="solid"/>
          </a:ln>
        </p:spPr>
      </p:sp>
      <p:sp>
        <p:nvSpPr>
          <p:cNvPr id="14" name="Stand drawing line"/>
          <p:cNvSpPr/>
          <p:nvPr/>
        </p:nvSpPr>
        <p:spPr>
          <a:xfrm>
            <a:off x="7645847" y="3856025"/>
            <a:ext cx="0" cy="250911"/>
          </a:xfrm>
          <a:prstGeom prst="line">
            <a:avLst/>
          </a:prstGeom>
          <a:noFill/>
          <a:ln w="38100">
            <a:solidFill>
              <a:srgbClr val="F28C28"/>
            </a:solidFill>
            <a:prstDash val="solid"/>
          </a:ln>
        </p:spPr>
      </p:sp>
      <p:sp>
        <p:nvSpPr>
          <p:cNvPr id="15" name="Hinge"/>
          <p:cNvSpPr/>
          <p:nvPr/>
        </p:nvSpPr>
        <p:spPr>
          <a:xfrm>
            <a:off x="7474306" y="4105656"/>
            <a:ext cx="128016" cy="128016"/>
          </a:xfrm>
          <a:prstGeom prst="ellipse">
            <a:avLst/>
          </a:prstGeom>
          <a:solidFill>
            <a:srgbClr val="F28C28"/>
          </a:solidFill>
          <a:ln w="9525">
            <a:solidFill>
              <a:srgbClr val="F28C28"/>
            </a:solidFill>
            <a:prstDash val="solid"/>
          </a:ln>
        </p:spPr>
      </p:sp>
      <p:sp>
        <p:nvSpPr>
          <p:cNvPr id="16" name="Hinge"/>
          <p:cNvSpPr/>
          <p:nvPr/>
        </p:nvSpPr>
        <p:spPr>
          <a:xfrm>
            <a:off x="10521086" y="3323350"/>
            <a:ext cx="128016" cy="128016"/>
          </a:xfrm>
          <a:prstGeom prst="ellipse">
            <a:avLst/>
          </a:prstGeom>
          <a:solidFill>
            <a:srgbClr val="F28C28"/>
          </a:solidFill>
          <a:ln w="9525">
            <a:solidFill>
              <a:srgbClr val="F28C28"/>
            </a:solidFill>
            <a:prstDash val="solid"/>
          </a:ln>
        </p:spPr>
      </p:sp>
      <p:sp>
        <p:nvSpPr>
          <p:cNvPr id="17" name="Text 15"/>
          <p:cNvSpPr txBox="1"/>
          <p:nvPr/>
        </p:nvSpPr>
        <p:spPr>
          <a:xfrm>
            <a:off x="7178040" y="4892040"/>
            <a:ext cx="4206240" cy="320040"/>
          </a:xfrm>
          <a:prstGeom prst="rect">
            <a:avLst/>
          </a:prstGeom>
          <a:noFill/>
          <a:ln/>
        </p:spPr>
        <p:txBody>
          <a:bodyPr wrap="square" lIns="0" tIns="0" rIns="0" bIns="0" rtlCol="0" anchor="ctr"/>
          <a:lstStyle/>
          <a:p>
            <a:pPr algn="ctr" indent="0" marL="0">
              <a:buNone/>
            </a:pPr>
            <a:r>
              <a:rPr lang="en-US" sz="1100" spc="200" kern="0" dirty="0">
                <a:solidFill>
                  <a:schemeClr val="bg2"/>
                </a:solidFill>
              </a:rPr>
              <a:t>SIDE VIEW  ·  θ = 15°–40°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The problem: laptops bend our necks</a:t>
            </a:r>
            <a:endParaRPr lang="en-US" sz="3400" dirty="0"/>
          </a:p>
        </p:txBody>
      </p:sp>
      <p:graphicFrame>
        <p:nvGraphicFramePr>
          <p:cNvPr id="3" name="Chart 0" descr=""/>
          <p:cNvGraphicFramePr/>
          <p:nvPr/>
        </p:nvGraphicFramePr>
        <p:xfrm>
          <a:off x="548640" y="1417320"/>
          <a:ext cx="6675120" cy="46634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6080760"/>
            <a:ext cx="6675120" cy="274320"/>
          </a:xfrm>
          <a:prstGeom prst="rect">
            <a:avLst/>
          </a:prstGeom>
          <a:noFill/>
          <a:ln/>
        </p:spPr>
        <p:txBody>
          <a:bodyPr wrap="square" lIns="0" tIns="0" rIns="0" bIns="0" rtlCol="0" anchor="ctr"/>
          <a:lstStyle/>
          <a:p>
            <a:pPr indent="0" marL="0">
              <a:buNone/>
            </a:pPr>
            <a:r>
              <a:rPr lang="en-US" sz="1000" dirty="0">
                <a:solidFill>
                  <a:schemeClr val="accent4"/>
                </a:solidFill>
              </a:rPr>
              <a:t>Source: Hansraj, K.K. (2014), Surgical Technology International 25, 277–279</a:t>
            </a:r>
            <a:endParaRPr lang="en-US" sz="1000" dirty="0"/>
          </a:p>
        </p:txBody>
      </p:sp>
      <p:sp>
        <p:nvSpPr>
          <p:cNvPr id="5" name="Stat card"/>
          <p:cNvSpPr/>
          <p:nvPr/>
        </p:nvSpPr>
        <p:spPr>
          <a:xfrm>
            <a:off x="7589520" y="1508760"/>
            <a:ext cx="4050792" cy="1874520"/>
          </a:xfrm>
          <a:prstGeom prst="roundRect">
            <a:avLst>
              <a:gd name="adj" fmla="val 5854"/>
            </a:avLst>
          </a:prstGeom>
          <a:solidFill>
            <a:schemeClr val="tx2"/>
          </a:solidFill>
          <a:ln/>
        </p:spPr>
      </p:sp>
      <p:sp>
        <p:nvSpPr>
          <p:cNvPr id="6" name="Text 3"/>
          <p:cNvSpPr txBox="1"/>
          <p:nvPr/>
        </p:nvSpPr>
        <p:spPr>
          <a:xfrm>
            <a:off x="7818120" y="1600200"/>
            <a:ext cx="1828800" cy="1097280"/>
          </a:xfrm>
          <a:prstGeom prst="rect">
            <a:avLst/>
          </a:prstGeom>
          <a:noFill/>
          <a:ln/>
        </p:spPr>
        <p:txBody>
          <a:bodyPr wrap="square" lIns="0" tIns="0" rIns="0" bIns="0" rtlCol="0" anchor="ctr"/>
          <a:lstStyle/>
          <a:p>
            <a:pPr indent="0" marL="0">
              <a:buNone/>
            </a:pPr>
            <a:r>
              <a:rPr lang="en-US" sz="6600" b="1" dirty="0">
                <a:solidFill>
                  <a:schemeClr val="accent1"/>
                </a:solidFill>
                <a:latin typeface="Cambria" pitchFamily="34" charset="0"/>
                <a:ea typeface="Cambria" pitchFamily="34" charset="-122"/>
                <a:cs typeface="Cambria" pitchFamily="34" charset="-120"/>
              </a:rPr>
              <a:t>5×</a:t>
            </a:r>
            <a:endParaRPr lang="en-US" sz="6600" dirty="0"/>
          </a:p>
        </p:txBody>
      </p:sp>
      <p:sp>
        <p:nvSpPr>
          <p:cNvPr id="7" name="Text 4"/>
          <p:cNvSpPr txBox="1"/>
          <p:nvPr/>
        </p:nvSpPr>
        <p:spPr>
          <a:xfrm>
            <a:off x="7818120" y="2606040"/>
            <a:ext cx="3611880" cy="685800"/>
          </a:xfrm>
          <a:prstGeom prst="rect">
            <a:avLst/>
          </a:prstGeom>
          <a:noFill/>
          <a:ln/>
        </p:spPr>
        <p:txBody>
          <a:bodyPr wrap="square" lIns="0" tIns="0" rIns="0" bIns="0" rtlCol="0" anchor="t"/>
          <a:lstStyle/>
          <a:p>
            <a:pPr indent="0" marL="0">
              <a:buNone/>
            </a:pPr>
            <a:r>
              <a:rPr lang="en-US" sz="1400" dirty="0">
                <a:solidFill>
                  <a:schemeClr val="bg1"/>
                </a:solidFill>
              </a:rPr>
              <a:t>more load on the neck at 60° tilt than when upright (12 → 60 lb)</a:t>
            </a:r>
            <a:endParaRPr lang="en-US" sz="1400" dirty="0"/>
          </a:p>
        </p:txBody>
      </p:sp>
      <p:sp>
        <p:nvSpPr>
          <p:cNvPr id="8" name="Need card"/>
          <p:cNvSpPr/>
          <p:nvPr/>
        </p:nvSpPr>
        <p:spPr>
          <a:xfrm>
            <a:off x="7589520" y="3611880"/>
            <a:ext cx="4050792" cy="2468880"/>
          </a:xfrm>
          <a:prstGeom prst="roundRect">
            <a:avLst>
              <a:gd name="adj" fmla="val 4444"/>
            </a:avLst>
          </a:prstGeom>
          <a:solidFill>
            <a:schemeClr val="bg2"/>
          </a:solidFill>
          <a:ln/>
        </p:spPr>
      </p:sp>
      <p:sp>
        <p:nvSpPr>
          <p:cNvPr id="9" name="Text 6"/>
          <p:cNvSpPr txBox="1"/>
          <p:nvPr/>
        </p:nvSpPr>
        <p:spPr>
          <a:xfrm>
            <a:off x="7818120" y="3749040"/>
            <a:ext cx="356616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DESIGN NEED</a:t>
            </a:r>
            <a:endParaRPr lang="en-US" sz="1200" dirty="0"/>
          </a:p>
        </p:txBody>
      </p:sp>
      <p:sp>
        <p:nvSpPr>
          <p:cNvPr id="10" name="Text 7"/>
          <p:cNvSpPr txBox="1"/>
          <p:nvPr/>
        </p:nvSpPr>
        <p:spPr>
          <a:xfrm>
            <a:off x="7818120" y="4069080"/>
            <a:ext cx="3611880" cy="1828800"/>
          </a:xfrm>
          <a:prstGeom prst="rect">
            <a:avLst/>
          </a:prstGeom>
          <a:noFill/>
          <a:ln/>
        </p:spPr>
        <p:txBody>
          <a:bodyPr wrap="square" lIns="0" tIns="0" rIns="0" bIns="0" rtlCol="0" anchor="t"/>
          <a:lstStyle/>
          <a:p>
            <a:pPr indent="0" marL="0">
              <a:buNone/>
            </a:pPr>
            <a:r>
              <a:rPr lang="en-US" sz="1600" dirty="0">
                <a:solidFill>
                  <a:schemeClr val="tx1"/>
                </a:solidFill>
              </a:rPr>
              <a:t>Raise the screen to eye level while keeping the keyboard at a comfortable typing height — and make it light enough to carry every day.</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Following the engineering design process</a:t>
            </a:r>
            <a:endParaRPr lang="en-US" sz="3400" dirty="0"/>
          </a:p>
        </p:txBody>
      </p:sp>
      <p:sp>
        <p:nvSpPr>
          <p:cNvPr id="3" name="Step card 1"/>
          <p:cNvSpPr/>
          <p:nvPr/>
        </p:nvSpPr>
        <p:spPr>
          <a:xfrm>
            <a:off x="548640" y="1737360"/>
            <a:ext cx="2011680" cy="3063240"/>
          </a:xfrm>
          <a:prstGeom prst="roundRect">
            <a:avLst>
              <a:gd name="adj" fmla="val 5455"/>
            </a:avLst>
          </a:prstGeom>
          <a:solidFill>
            <a:schemeClr val="bg2"/>
          </a:solidFill>
          <a:ln/>
          <a:effectLst>
            <a:outerShdw sx="100000" sy="100000" kx="0" ky="0" algn="bl" rotWithShape="0" blurRad="101600" dist="25400" dir="5400000">
              <a:srgbClr val="000000">
                <a:alpha val="12000"/>
              </a:srgbClr>
            </a:outerShdw>
          </a:effectLst>
        </p:spPr>
      </p:sp>
      <p:sp>
        <p:nvSpPr>
          <p:cNvPr id="4" name="Step icon circle 1"/>
          <p:cNvSpPr/>
          <p:nvPr/>
        </p:nvSpPr>
        <p:spPr>
          <a:xfrm>
            <a:off x="731520" y="1920240"/>
            <a:ext cx="731520" cy="731520"/>
          </a:xfrm>
          <a:prstGeom prst="ellipse">
            <a:avLst/>
          </a:prstGeom>
          <a:solidFill>
            <a:schemeClr val="accent2"/>
          </a:solidFill>
          <a:ln/>
        </p:spPr>
      </p:sp>
      <p:pic>
        <p:nvPicPr>
          <p:cNvPr id="5" name="Image 0" descr="Empathise icon">    </p:cNvPr>
          <p:cNvPicPr>
            <a:picLocks noChangeAspect="1"/>
          </p:cNvPicPr>
          <p:nvPr/>
        </p:nvPicPr>
        <p:blipFill>
          <a:blip r:embed="rId1"/>
          <a:stretch>
            <a:fillRect/>
          </a:stretch>
        </p:blipFill>
        <p:spPr>
          <a:xfrm>
            <a:off x="896112" y="2084832"/>
            <a:ext cx="402336" cy="402336"/>
          </a:xfrm>
          <a:prstGeom prst="rect">
            <a:avLst/>
          </a:prstGeom>
        </p:spPr>
      </p:pic>
      <p:sp>
        <p:nvSpPr>
          <p:cNvPr id="6" name="Text 3"/>
          <p:cNvSpPr txBox="1"/>
          <p:nvPr/>
        </p:nvSpPr>
        <p:spPr>
          <a:xfrm>
            <a:off x="1920240" y="1920240"/>
            <a:ext cx="457200" cy="457200"/>
          </a:xfrm>
          <a:prstGeom prst="rect">
            <a:avLst/>
          </a:prstGeom>
          <a:noFill/>
          <a:ln/>
        </p:spPr>
        <p:txBody>
          <a:bodyPr wrap="square" lIns="0" tIns="0" rIns="0" bIns="0" rtlCol="0" anchor="ctr"/>
          <a:lstStyle/>
          <a:p>
            <a:pPr algn="r" indent="0" marL="0">
              <a:buNone/>
            </a:pPr>
            <a:r>
              <a:rPr lang="en-US" sz="2400" b="1" dirty="0">
                <a:solidFill>
                  <a:schemeClr val="accent2"/>
                </a:solidFill>
                <a:latin typeface="Cambria" pitchFamily="34" charset="0"/>
                <a:ea typeface="Cambria" pitchFamily="34" charset="-122"/>
                <a:cs typeface="Cambria" pitchFamily="34" charset="-120"/>
              </a:rPr>
              <a:t>1</a:t>
            </a:r>
            <a:endParaRPr lang="en-US" sz="2400" dirty="0"/>
          </a:p>
        </p:txBody>
      </p:sp>
      <p:sp>
        <p:nvSpPr>
          <p:cNvPr id="7" name="Text 4"/>
          <p:cNvSpPr txBox="1"/>
          <p:nvPr/>
        </p:nvSpPr>
        <p:spPr>
          <a:xfrm>
            <a:off x="731520" y="2880360"/>
            <a:ext cx="1645920" cy="411480"/>
          </a:xfrm>
          <a:prstGeom prst="rect">
            <a:avLst/>
          </a:prstGeom>
          <a:noFill/>
          <a:ln/>
        </p:spPr>
        <p:txBody>
          <a:bodyPr wrap="square" lIns="0" tIns="0" rIns="0" bIns="0" rtlCol="0" anchor="ctr"/>
          <a:lstStyle/>
          <a:p>
            <a:pPr indent="0" marL="0">
              <a:buNone/>
            </a:pPr>
            <a:r>
              <a:rPr lang="en-US" sz="2000" b="1" dirty="0">
                <a:solidFill>
                  <a:schemeClr val="tx2"/>
                </a:solidFill>
              </a:rPr>
              <a:t>Empathise</a:t>
            </a:r>
            <a:endParaRPr lang="en-US" sz="2000" dirty="0"/>
          </a:p>
        </p:txBody>
      </p:sp>
      <p:sp>
        <p:nvSpPr>
          <p:cNvPr id="8" name="Text 5"/>
          <p:cNvSpPr txBox="1"/>
          <p:nvPr/>
        </p:nvSpPr>
        <p:spPr>
          <a:xfrm>
            <a:off x="731520" y="3383280"/>
            <a:ext cx="1645920" cy="1280160"/>
          </a:xfrm>
          <a:prstGeom prst="rect">
            <a:avLst/>
          </a:prstGeom>
          <a:noFill/>
          <a:ln/>
        </p:spPr>
        <p:txBody>
          <a:bodyPr wrap="square" lIns="0" tIns="0" rIns="0" bIns="0" rtlCol="0" anchor="t"/>
          <a:lstStyle/>
          <a:p>
            <a:pPr indent="0" marL="0">
              <a:buNone/>
            </a:pPr>
            <a:r>
              <a:rPr lang="en-US" sz="1400" dirty="0">
                <a:solidFill>
                  <a:schemeClr val="tx1"/>
                </a:solidFill>
              </a:rPr>
              <a:t>Observed how people use laptops; listed pain points</a:t>
            </a:r>
            <a:endParaRPr lang="en-US" sz="1400" dirty="0"/>
          </a:p>
        </p:txBody>
      </p:sp>
      <p:sp>
        <p:nvSpPr>
          <p:cNvPr id="9" name="Step card 2"/>
          <p:cNvSpPr/>
          <p:nvPr/>
        </p:nvSpPr>
        <p:spPr>
          <a:xfrm>
            <a:off x="2819324" y="1737360"/>
            <a:ext cx="2011680" cy="3063240"/>
          </a:xfrm>
          <a:prstGeom prst="roundRect">
            <a:avLst>
              <a:gd name="adj" fmla="val 5455"/>
            </a:avLst>
          </a:prstGeom>
          <a:solidFill>
            <a:schemeClr val="bg2"/>
          </a:solidFill>
          <a:ln/>
          <a:effectLst>
            <a:outerShdw sx="100000" sy="100000" kx="0" ky="0" algn="bl" rotWithShape="0" blurRad="101600" dist="25400" dir="5400000">
              <a:srgbClr val="000000">
                <a:alpha val="12000"/>
              </a:srgbClr>
            </a:outerShdw>
          </a:effectLst>
        </p:spPr>
      </p:sp>
      <p:sp>
        <p:nvSpPr>
          <p:cNvPr id="10" name="Step icon circle 2"/>
          <p:cNvSpPr/>
          <p:nvPr/>
        </p:nvSpPr>
        <p:spPr>
          <a:xfrm>
            <a:off x="3002204" y="1920240"/>
            <a:ext cx="731520" cy="731520"/>
          </a:xfrm>
          <a:prstGeom prst="ellipse">
            <a:avLst/>
          </a:prstGeom>
          <a:solidFill>
            <a:schemeClr val="accent2"/>
          </a:solidFill>
          <a:ln/>
        </p:spPr>
      </p:sp>
      <p:pic>
        <p:nvPicPr>
          <p:cNvPr id="11" name="Image 1" descr="Define icon">    </p:cNvPr>
          <p:cNvPicPr>
            <a:picLocks noChangeAspect="1"/>
          </p:cNvPicPr>
          <p:nvPr/>
        </p:nvPicPr>
        <p:blipFill>
          <a:blip r:embed="rId2"/>
          <a:stretch>
            <a:fillRect/>
          </a:stretch>
        </p:blipFill>
        <p:spPr>
          <a:xfrm>
            <a:off x="3166796" y="2084832"/>
            <a:ext cx="402336" cy="402336"/>
          </a:xfrm>
          <a:prstGeom prst="rect">
            <a:avLst/>
          </a:prstGeom>
        </p:spPr>
      </p:pic>
      <p:sp>
        <p:nvSpPr>
          <p:cNvPr id="12" name="Text 8"/>
          <p:cNvSpPr txBox="1"/>
          <p:nvPr/>
        </p:nvSpPr>
        <p:spPr>
          <a:xfrm>
            <a:off x="4190924" y="1920240"/>
            <a:ext cx="457200" cy="457200"/>
          </a:xfrm>
          <a:prstGeom prst="rect">
            <a:avLst/>
          </a:prstGeom>
          <a:noFill/>
          <a:ln/>
        </p:spPr>
        <p:txBody>
          <a:bodyPr wrap="square" lIns="0" tIns="0" rIns="0" bIns="0" rtlCol="0" anchor="ctr"/>
          <a:lstStyle/>
          <a:p>
            <a:pPr algn="r" indent="0" marL="0">
              <a:buNone/>
            </a:pPr>
            <a:r>
              <a:rPr lang="en-US" sz="2400" b="1" dirty="0">
                <a:solidFill>
                  <a:schemeClr val="accent2"/>
                </a:solidFill>
                <a:latin typeface="Cambria" pitchFamily="34" charset="0"/>
                <a:ea typeface="Cambria" pitchFamily="34" charset="-122"/>
                <a:cs typeface="Cambria" pitchFamily="34" charset="-120"/>
              </a:rPr>
              <a:t>2</a:t>
            </a:r>
            <a:endParaRPr lang="en-US" sz="2400" dirty="0"/>
          </a:p>
        </p:txBody>
      </p:sp>
      <p:sp>
        <p:nvSpPr>
          <p:cNvPr id="13" name="Text 9"/>
          <p:cNvSpPr txBox="1"/>
          <p:nvPr/>
        </p:nvSpPr>
        <p:spPr>
          <a:xfrm>
            <a:off x="3002204" y="2880360"/>
            <a:ext cx="1645920" cy="411480"/>
          </a:xfrm>
          <a:prstGeom prst="rect">
            <a:avLst/>
          </a:prstGeom>
          <a:noFill/>
          <a:ln/>
        </p:spPr>
        <p:txBody>
          <a:bodyPr wrap="square" lIns="0" tIns="0" rIns="0" bIns="0" rtlCol="0" anchor="ctr"/>
          <a:lstStyle/>
          <a:p>
            <a:pPr indent="0" marL="0">
              <a:buNone/>
            </a:pPr>
            <a:r>
              <a:rPr lang="en-US" sz="2000" b="1" dirty="0">
                <a:solidFill>
                  <a:schemeClr val="tx2"/>
                </a:solidFill>
              </a:rPr>
              <a:t>Define</a:t>
            </a:r>
            <a:endParaRPr lang="en-US" sz="2000" dirty="0"/>
          </a:p>
        </p:txBody>
      </p:sp>
      <p:sp>
        <p:nvSpPr>
          <p:cNvPr id="14" name="Text 10"/>
          <p:cNvSpPr txBox="1"/>
          <p:nvPr/>
        </p:nvSpPr>
        <p:spPr>
          <a:xfrm>
            <a:off x="3002204" y="3383280"/>
            <a:ext cx="1645920" cy="1280160"/>
          </a:xfrm>
          <a:prstGeom prst="rect">
            <a:avLst/>
          </a:prstGeom>
          <a:noFill/>
          <a:ln/>
        </p:spPr>
        <p:txBody>
          <a:bodyPr wrap="square" lIns="0" tIns="0" rIns="0" bIns="0" rtlCol="0" anchor="t"/>
          <a:lstStyle/>
          <a:p>
            <a:pPr indent="0" marL="0">
              <a:buNone/>
            </a:pPr>
            <a:r>
              <a:rPr lang="en-US" sz="1400" dirty="0">
                <a:solidFill>
                  <a:schemeClr val="tx1"/>
                </a:solidFill>
              </a:rPr>
              <a:t>Wrote a problem statement and measurable specs</a:t>
            </a:r>
            <a:endParaRPr lang="en-US" sz="1400" dirty="0"/>
          </a:p>
        </p:txBody>
      </p:sp>
      <p:sp>
        <p:nvSpPr>
          <p:cNvPr id="15" name="Step card 3"/>
          <p:cNvSpPr/>
          <p:nvPr/>
        </p:nvSpPr>
        <p:spPr>
          <a:xfrm>
            <a:off x="5090008" y="1737360"/>
            <a:ext cx="2011680" cy="3063240"/>
          </a:xfrm>
          <a:prstGeom prst="roundRect">
            <a:avLst>
              <a:gd name="adj" fmla="val 5455"/>
            </a:avLst>
          </a:prstGeom>
          <a:solidFill>
            <a:schemeClr val="bg2"/>
          </a:solidFill>
          <a:ln/>
          <a:effectLst>
            <a:outerShdw sx="100000" sy="100000" kx="0" ky="0" algn="bl" rotWithShape="0" blurRad="101600" dist="25400" dir="5400000">
              <a:srgbClr val="000000">
                <a:alpha val="12000"/>
              </a:srgbClr>
            </a:outerShdw>
          </a:effectLst>
        </p:spPr>
      </p:sp>
      <p:sp>
        <p:nvSpPr>
          <p:cNvPr id="16" name="Step icon circle 3"/>
          <p:cNvSpPr/>
          <p:nvPr/>
        </p:nvSpPr>
        <p:spPr>
          <a:xfrm>
            <a:off x="5272888" y="1920240"/>
            <a:ext cx="731520" cy="731520"/>
          </a:xfrm>
          <a:prstGeom prst="ellipse">
            <a:avLst/>
          </a:prstGeom>
          <a:solidFill>
            <a:schemeClr val="accent2"/>
          </a:solidFill>
          <a:ln/>
        </p:spPr>
      </p:sp>
      <p:pic>
        <p:nvPicPr>
          <p:cNvPr id="17" name="Image 2" descr="Ideate icon">    </p:cNvPr>
          <p:cNvPicPr>
            <a:picLocks noChangeAspect="1"/>
          </p:cNvPicPr>
          <p:nvPr/>
        </p:nvPicPr>
        <p:blipFill>
          <a:blip r:embed="rId3"/>
          <a:stretch>
            <a:fillRect/>
          </a:stretch>
        </p:blipFill>
        <p:spPr>
          <a:xfrm>
            <a:off x="5437480" y="2084832"/>
            <a:ext cx="402336" cy="402336"/>
          </a:xfrm>
          <a:prstGeom prst="rect">
            <a:avLst/>
          </a:prstGeom>
        </p:spPr>
      </p:pic>
      <p:sp>
        <p:nvSpPr>
          <p:cNvPr id="18" name="Text 13"/>
          <p:cNvSpPr txBox="1"/>
          <p:nvPr/>
        </p:nvSpPr>
        <p:spPr>
          <a:xfrm>
            <a:off x="6461608" y="1920240"/>
            <a:ext cx="457200" cy="457200"/>
          </a:xfrm>
          <a:prstGeom prst="rect">
            <a:avLst/>
          </a:prstGeom>
          <a:noFill/>
          <a:ln/>
        </p:spPr>
        <p:txBody>
          <a:bodyPr wrap="square" lIns="0" tIns="0" rIns="0" bIns="0" rtlCol="0" anchor="ctr"/>
          <a:lstStyle/>
          <a:p>
            <a:pPr algn="r" indent="0" marL="0">
              <a:buNone/>
            </a:pPr>
            <a:r>
              <a:rPr lang="en-US" sz="2400" b="1" dirty="0">
                <a:solidFill>
                  <a:schemeClr val="accent2"/>
                </a:solidFill>
                <a:latin typeface="Cambria" pitchFamily="34" charset="0"/>
                <a:ea typeface="Cambria" pitchFamily="34" charset="-122"/>
                <a:cs typeface="Cambria" pitchFamily="34" charset="-120"/>
              </a:rPr>
              <a:t>3</a:t>
            </a:r>
            <a:endParaRPr lang="en-US" sz="2400" dirty="0"/>
          </a:p>
        </p:txBody>
      </p:sp>
      <p:sp>
        <p:nvSpPr>
          <p:cNvPr id="19" name="Text 14"/>
          <p:cNvSpPr txBox="1"/>
          <p:nvPr/>
        </p:nvSpPr>
        <p:spPr>
          <a:xfrm>
            <a:off x="5272888" y="2880360"/>
            <a:ext cx="1645920" cy="411480"/>
          </a:xfrm>
          <a:prstGeom prst="rect">
            <a:avLst/>
          </a:prstGeom>
          <a:noFill/>
          <a:ln/>
        </p:spPr>
        <p:txBody>
          <a:bodyPr wrap="square" lIns="0" tIns="0" rIns="0" bIns="0" rtlCol="0" anchor="ctr"/>
          <a:lstStyle/>
          <a:p>
            <a:pPr indent="0" marL="0">
              <a:buNone/>
            </a:pPr>
            <a:r>
              <a:rPr lang="en-US" sz="2000" b="1" dirty="0">
                <a:solidFill>
                  <a:schemeClr val="tx2"/>
                </a:solidFill>
              </a:rPr>
              <a:t>Ideate</a:t>
            </a:r>
            <a:endParaRPr lang="en-US" sz="2000" dirty="0"/>
          </a:p>
        </p:txBody>
      </p:sp>
      <p:sp>
        <p:nvSpPr>
          <p:cNvPr id="20" name="Text 15"/>
          <p:cNvSpPr txBox="1"/>
          <p:nvPr/>
        </p:nvSpPr>
        <p:spPr>
          <a:xfrm>
            <a:off x="5272888" y="3383280"/>
            <a:ext cx="1645920" cy="1280160"/>
          </a:xfrm>
          <a:prstGeom prst="rect">
            <a:avLst/>
          </a:prstGeom>
          <a:noFill/>
          <a:ln/>
        </p:spPr>
        <p:txBody>
          <a:bodyPr wrap="square" lIns="0" tIns="0" rIns="0" bIns="0" rtlCol="0" anchor="t"/>
          <a:lstStyle/>
          <a:p>
            <a:pPr indent="0" marL="0">
              <a:buNone/>
            </a:pPr>
            <a:r>
              <a:rPr lang="en-US" sz="1400" dirty="0">
                <a:solidFill>
                  <a:schemeClr val="tx1"/>
                </a:solidFill>
              </a:rPr>
              <a:t>Sketched 3 concepts and scored them</a:t>
            </a:r>
            <a:endParaRPr lang="en-US" sz="1400" dirty="0"/>
          </a:p>
        </p:txBody>
      </p:sp>
      <p:sp>
        <p:nvSpPr>
          <p:cNvPr id="21" name="Step card 4"/>
          <p:cNvSpPr/>
          <p:nvPr/>
        </p:nvSpPr>
        <p:spPr>
          <a:xfrm>
            <a:off x="7360691" y="1737360"/>
            <a:ext cx="2011680" cy="3063240"/>
          </a:xfrm>
          <a:prstGeom prst="roundRect">
            <a:avLst>
              <a:gd name="adj" fmla="val 5455"/>
            </a:avLst>
          </a:prstGeom>
          <a:solidFill>
            <a:schemeClr val="tx2"/>
          </a:solidFill>
          <a:ln/>
          <a:effectLst>
            <a:outerShdw sx="100000" sy="100000" kx="0" ky="0" algn="bl" rotWithShape="0" blurRad="101600" dist="25400" dir="5400000">
              <a:srgbClr val="000000">
                <a:alpha val="12000"/>
              </a:srgbClr>
            </a:outerShdw>
          </a:effectLst>
        </p:spPr>
      </p:sp>
      <p:sp>
        <p:nvSpPr>
          <p:cNvPr id="22" name="Step icon circle 4"/>
          <p:cNvSpPr/>
          <p:nvPr/>
        </p:nvSpPr>
        <p:spPr>
          <a:xfrm>
            <a:off x="7543571" y="1920240"/>
            <a:ext cx="731520" cy="731520"/>
          </a:xfrm>
          <a:prstGeom prst="ellipse">
            <a:avLst/>
          </a:prstGeom>
          <a:solidFill>
            <a:schemeClr val="accent1"/>
          </a:solidFill>
          <a:ln/>
        </p:spPr>
      </p:sp>
      <p:pic>
        <p:nvPicPr>
          <p:cNvPr id="23" name="Image 3" descr="Prototype icon">    </p:cNvPr>
          <p:cNvPicPr>
            <a:picLocks noChangeAspect="1"/>
          </p:cNvPicPr>
          <p:nvPr/>
        </p:nvPicPr>
        <p:blipFill>
          <a:blip r:embed="rId4"/>
          <a:stretch>
            <a:fillRect/>
          </a:stretch>
        </p:blipFill>
        <p:spPr>
          <a:xfrm>
            <a:off x="7708163" y="2084832"/>
            <a:ext cx="402336" cy="402336"/>
          </a:xfrm>
          <a:prstGeom prst="rect">
            <a:avLst/>
          </a:prstGeom>
        </p:spPr>
      </p:pic>
      <p:sp>
        <p:nvSpPr>
          <p:cNvPr id="24" name="Text 18"/>
          <p:cNvSpPr txBox="1"/>
          <p:nvPr/>
        </p:nvSpPr>
        <p:spPr>
          <a:xfrm>
            <a:off x="8732291" y="1920240"/>
            <a:ext cx="45720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Cambria" pitchFamily="34" charset="0"/>
                <a:ea typeface="Cambria" pitchFamily="34" charset="-122"/>
                <a:cs typeface="Cambria" pitchFamily="34" charset="-120"/>
              </a:rPr>
              <a:t>4</a:t>
            </a:r>
            <a:endParaRPr lang="en-US" sz="2400" dirty="0"/>
          </a:p>
        </p:txBody>
      </p:sp>
      <p:sp>
        <p:nvSpPr>
          <p:cNvPr id="25" name="Text 19"/>
          <p:cNvSpPr txBox="1"/>
          <p:nvPr/>
        </p:nvSpPr>
        <p:spPr>
          <a:xfrm>
            <a:off x="7543571" y="2880360"/>
            <a:ext cx="1645920" cy="411480"/>
          </a:xfrm>
          <a:prstGeom prst="rect">
            <a:avLst/>
          </a:prstGeom>
          <a:noFill/>
          <a:ln/>
        </p:spPr>
        <p:txBody>
          <a:bodyPr wrap="square" lIns="0" tIns="0" rIns="0" bIns="0" rtlCol="0" anchor="ctr"/>
          <a:lstStyle/>
          <a:p>
            <a:pPr indent="0" marL="0">
              <a:buNone/>
            </a:pPr>
            <a:r>
              <a:rPr lang="en-US" sz="2000" b="1" dirty="0">
                <a:solidFill>
                  <a:schemeClr val="bg1"/>
                </a:solidFill>
              </a:rPr>
              <a:t>Prototype</a:t>
            </a:r>
            <a:endParaRPr lang="en-US" sz="2000" dirty="0"/>
          </a:p>
        </p:txBody>
      </p:sp>
      <p:sp>
        <p:nvSpPr>
          <p:cNvPr id="26" name="Text 20"/>
          <p:cNvSpPr txBox="1"/>
          <p:nvPr/>
        </p:nvSpPr>
        <p:spPr>
          <a:xfrm>
            <a:off x="7543571" y="3383280"/>
            <a:ext cx="1645920" cy="1280160"/>
          </a:xfrm>
          <a:prstGeom prst="rect">
            <a:avLst/>
          </a:prstGeom>
          <a:noFill/>
          <a:ln/>
        </p:spPr>
        <p:txBody>
          <a:bodyPr wrap="square" lIns="0" tIns="0" rIns="0" bIns="0" rtlCol="0" anchor="t"/>
          <a:lstStyle/>
          <a:p>
            <a:pPr indent="0" marL="0">
              <a:buNone/>
            </a:pPr>
            <a:r>
              <a:rPr lang="en-US" sz="1400" dirty="0">
                <a:solidFill>
                  <a:schemeClr val="bg2"/>
                </a:solidFill>
              </a:rPr>
              <a:t>Modelled in CAD, analysed, and built</a:t>
            </a:r>
            <a:endParaRPr lang="en-US" sz="1400" dirty="0"/>
          </a:p>
        </p:txBody>
      </p:sp>
      <p:sp>
        <p:nvSpPr>
          <p:cNvPr id="27" name="Step card 5"/>
          <p:cNvSpPr/>
          <p:nvPr/>
        </p:nvSpPr>
        <p:spPr>
          <a:xfrm>
            <a:off x="9631375" y="1737360"/>
            <a:ext cx="2011680" cy="3063240"/>
          </a:xfrm>
          <a:prstGeom prst="roundRect">
            <a:avLst>
              <a:gd name="adj" fmla="val 5455"/>
            </a:avLst>
          </a:prstGeom>
          <a:solidFill>
            <a:schemeClr val="tx2"/>
          </a:solidFill>
          <a:ln/>
          <a:effectLst>
            <a:outerShdw sx="100000" sy="100000" kx="0" ky="0" algn="bl" rotWithShape="0" blurRad="101600" dist="25400" dir="5400000">
              <a:srgbClr val="000000">
                <a:alpha val="12000"/>
              </a:srgbClr>
            </a:outerShdw>
          </a:effectLst>
        </p:spPr>
      </p:sp>
      <p:sp>
        <p:nvSpPr>
          <p:cNvPr id="28" name="Step icon circle 5"/>
          <p:cNvSpPr/>
          <p:nvPr/>
        </p:nvSpPr>
        <p:spPr>
          <a:xfrm>
            <a:off x="9814255" y="1920240"/>
            <a:ext cx="731520" cy="731520"/>
          </a:xfrm>
          <a:prstGeom prst="ellipse">
            <a:avLst/>
          </a:prstGeom>
          <a:solidFill>
            <a:schemeClr val="accent1"/>
          </a:solidFill>
          <a:ln/>
        </p:spPr>
      </p:sp>
      <p:pic>
        <p:nvPicPr>
          <p:cNvPr id="29" name="Image 4" descr="Test icon">    </p:cNvPr>
          <p:cNvPicPr>
            <a:picLocks noChangeAspect="1"/>
          </p:cNvPicPr>
          <p:nvPr/>
        </p:nvPicPr>
        <p:blipFill>
          <a:blip r:embed="rId5"/>
          <a:stretch>
            <a:fillRect/>
          </a:stretch>
        </p:blipFill>
        <p:spPr>
          <a:xfrm>
            <a:off x="9978847" y="2084832"/>
            <a:ext cx="402336" cy="402336"/>
          </a:xfrm>
          <a:prstGeom prst="rect">
            <a:avLst/>
          </a:prstGeom>
        </p:spPr>
      </p:pic>
      <p:sp>
        <p:nvSpPr>
          <p:cNvPr id="30" name="Text 23"/>
          <p:cNvSpPr txBox="1"/>
          <p:nvPr/>
        </p:nvSpPr>
        <p:spPr>
          <a:xfrm>
            <a:off x="11002975" y="1920240"/>
            <a:ext cx="457200" cy="457200"/>
          </a:xfrm>
          <a:prstGeom prst="rect">
            <a:avLst/>
          </a:prstGeom>
          <a:noFill/>
          <a:ln/>
        </p:spPr>
        <p:txBody>
          <a:bodyPr wrap="square" lIns="0" tIns="0" rIns="0" bIns="0" rtlCol="0" anchor="ctr"/>
          <a:lstStyle/>
          <a:p>
            <a:pPr algn="r" indent="0" marL="0">
              <a:buNone/>
            </a:pPr>
            <a:r>
              <a:rPr lang="en-US" sz="2400" b="1" dirty="0">
                <a:solidFill>
                  <a:schemeClr val="accent1"/>
                </a:solidFill>
                <a:latin typeface="Cambria" pitchFamily="34" charset="0"/>
                <a:ea typeface="Cambria" pitchFamily="34" charset="-122"/>
                <a:cs typeface="Cambria" pitchFamily="34" charset="-120"/>
              </a:rPr>
              <a:t>5</a:t>
            </a:r>
            <a:endParaRPr lang="en-US" sz="2400" dirty="0"/>
          </a:p>
        </p:txBody>
      </p:sp>
      <p:sp>
        <p:nvSpPr>
          <p:cNvPr id="31" name="Text 24"/>
          <p:cNvSpPr txBox="1"/>
          <p:nvPr/>
        </p:nvSpPr>
        <p:spPr>
          <a:xfrm>
            <a:off x="9814255" y="2880360"/>
            <a:ext cx="1645920" cy="411480"/>
          </a:xfrm>
          <a:prstGeom prst="rect">
            <a:avLst/>
          </a:prstGeom>
          <a:noFill/>
          <a:ln/>
        </p:spPr>
        <p:txBody>
          <a:bodyPr wrap="square" lIns="0" tIns="0" rIns="0" bIns="0" rtlCol="0" anchor="ctr"/>
          <a:lstStyle/>
          <a:p>
            <a:pPr indent="0" marL="0">
              <a:buNone/>
            </a:pPr>
            <a:r>
              <a:rPr lang="en-US" sz="2000" b="1" dirty="0">
                <a:solidFill>
                  <a:schemeClr val="bg1"/>
                </a:solidFill>
              </a:rPr>
              <a:t>Test</a:t>
            </a:r>
            <a:endParaRPr lang="en-US" sz="2000" dirty="0"/>
          </a:p>
        </p:txBody>
      </p:sp>
      <p:sp>
        <p:nvSpPr>
          <p:cNvPr id="32" name="Text 25"/>
          <p:cNvSpPr txBox="1"/>
          <p:nvPr/>
        </p:nvSpPr>
        <p:spPr>
          <a:xfrm>
            <a:off x="9814255" y="3383280"/>
            <a:ext cx="1645920" cy="1280160"/>
          </a:xfrm>
          <a:prstGeom prst="rect">
            <a:avLst/>
          </a:prstGeom>
          <a:noFill/>
          <a:ln/>
        </p:spPr>
        <p:txBody>
          <a:bodyPr wrap="square" lIns="0" tIns="0" rIns="0" bIns="0" rtlCol="0" anchor="t"/>
          <a:lstStyle/>
          <a:p>
            <a:pPr indent="0" marL="0">
              <a:buNone/>
            </a:pPr>
            <a:r>
              <a:rPr lang="en-US" sz="1400" dirty="0">
                <a:solidFill>
                  <a:schemeClr val="bg2"/>
                </a:solidFill>
              </a:rPr>
              <a:t>Verified the prototype against every spec</a:t>
            </a:r>
            <a:endParaRPr lang="en-US" sz="1400" dirty="0"/>
          </a:p>
        </p:txBody>
      </p:sp>
      <p:sp>
        <p:nvSpPr>
          <p:cNvPr id="33" name="Iteration banner"/>
          <p:cNvSpPr/>
          <p:nvPr/>
        </p:nvSpPr>
        <p:spPr>
          <a:xfrm>
            <a:off x="548640" y="5166360"/>
            <a:ext cx="11094415" cy="777240"/>
          </a:xfrm>
          <a:prstGeom prst="roundRect">
            <a:avLst>
              <a:gd name="adj" fmla="val 11765"/>
            </a:avLst>
          </a:prstGeom>
          <a:solidFill>
            <a:schemeClr val="bg1"/>
          </a:solidFill>
          <a:ln w="15875">
            <a:solidFill>
              <a:schemeClr val="accent2"/>
            </a:solidFill>
            <a:prstDash val="dash"/>
          </a:ln>
        </p:spPr>
      </p:sp>
      <p:pic>
        <p:nvPicPr>
          <p:cNvPr id="34" name="Image 5" descr="Iteration icon">    </p:cNvPr>
          <p:cNvPicPr>
            <a:picLocks noChangeAspect="1"/>
          </p:cNvPicPr>
          <p:nvPr/>
        </p:nvPicPr>
        <p:blipFill>
          <a:blip r:embed="rId6"/>
          <a:stretch>
            <a:fillRect/>
          </a:stretch>
        </p:blipFill>
        <p:spPr>
          <a:xfrm>
            <a:off x="822960" y="5376672"/>
            <a:ext cx="365760" cy="365760"/>
          </a:xfrm>
          <a:prstGeom prst="rect">
            <a:avLst/>
          </a:prstGeom>
        </p:spPr>
      </p:pic>
      <p:sp>
        <p:nvSpPr>
          <p:cNvPr id="35" name="Text 27"/>
          <p:cNvSpPr txBox="1"/>
          <p:nvPr/>
        </p:nvSpPr>
        <p:spPr>
          <a:xfrm>
            <a:off x="1417320" y="5166360"/>
            <a:ext cx="9997135" cy="777240"/>
          </a:xfrm>
          <a:prstGeom prst="rect">
            <a:avLst/>
          </a:prstGeom>
          <a:noFill/>
          <a:ln/>
        </p:spPr>
        <p:txBody>
          <a:bodyPr wrap="square" lIns="0" tIns="0" rIns="0" bIns="0" rtlCol="0" anchor="ctr"/>
          <a:lstStyle/>
          <a:p>
            <a:pPr indent="0" marL="0">
              <a:buNone/>
            </a:pPr>
            <a:r>
              <a:rPr lang="en-US" sz="1600" b="1" dirty="0">
                <a:solidFill>
                  <a:schemeClr val="tx2"/>
                </a:solidFill>
              </a:rPr>
              <a:t>Iteration is the point.  </a:t>
            </a:r>
            <a:pPr indent="0" marL="0">
              <a:buNone/>
            </a:pPr>
            <a:r>
              <a:rPr lang="en-US" sz="1600" dirty="0">
                <a:solidFill>
                  <a:schemeClr val="tx1"/>
                </a:solidFill>
              </a:rPr>
              <a:t>Test results fed back into the specs and the CAD model — two design versions were built (see Iteration).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From user needs to measurable specs</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4297680"/>
                <a:gridCol w="4297680"/>
                <a:gridCol w="2496312"/>
              </a:tblGrid>
              <a:tr h="512064">
                <a:tc>
                  <a:txBody>
                    <a:bodyPr/>
                    <a:lstStyle/>
                    <a:p>
                      <a:pPr indent="0" marL="0">
                        <a:buNone/>
                      </a:pPr>
                      <a:r>
                        <a:rPr lang="en-US" sz="1400" b="1" dirty="0">
                          <a:solidFill>
                            <a:schemeClr val="bg1"/>
                          </a:solidFill>
                        </a:rPr>
                        <a:t>Customer need (voice of user)</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Engineering metric</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400" b="1" dirty="0">
                          <a:solidFill>
                            <a:schemeClr val="bg1"/>
                          </a:solidFill>
                        </a:rPr>
                        <a:t>Target</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tx2"/>
                    </a:solidFill>
                  </a:tcPr>
                </a:tc>
              </a:tr>
              <a:tr h="512064">
                <a:tc>
                  <a:txBody>
                    <a:bodyPr/>
                    <a:lstStyle/>
                    <a:p>
                      <a:pPr indent="0" marL="0">
                        <a:buNone/>
                      </a:pPr>
                      <a:r>
                        <a:rPr lang="en-US" sz="1400" dirty="0">
                          <a:solidFill>
                            <a:schemeClr val="tx1"/>
                          </a:solidFill>
                        </a:rPr>
                        <a:t>Screen at eye level</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Tilt angle range</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2"/>
                          </a:solidFill>
                        </a:rPr>
                        <a:t>15° – 40°</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400" dirty="0">
                          <a:solidFill>
                            <a:schemeClr val="tx1"/>
                          </a:solidFill>
                        </a:rPr>
                        <a:t>Doesn't bounce while typing</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Tray deflection under 5 kg</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accent2"/>
                          </a:solidFill>
                        </a:rPr>
                        <a:t>≤ 1.5 mm</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400" dirty="0">
                          <a:solidFill>
                            <a:schemeClr val="tx1"/>
                          </a:solidFill>
                        </a:rPr>
                        <a:t>Won't break or collapse</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Factor of safety on yield</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2"/>
                          </a:solidFill>
                        </a:rPr>
                        <a:t>≥ 3</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400" dirty="0">
                          <a:solidFill>
                            <a:schemeClr val="tx1"/>
                          </a:solidFill>
                        </a:rPr>
                        <a:t>Fits in a backpack</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Folded thickness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accent2"/>
                          </a:solidFill>
                        </a:rPr>
                        <a:t>≤ 20 mm</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400" dirty="0">
                          <a:solidFill>
                            <a:schemeClr val="tx1"/>
                          </a:solidFill>
                        </a:rPr>
                        <a:t>Easy to carry daily</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Total mass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2"/>
                          </a:solidFill>
                        </a:rPr>
                        <a:t>≤ 0.8 kg</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400" dirty="0">
                          <a:solidFill>
                            <a:schemeClr val="tx1"/>
                          </a:solidFill>
                        </a:rPr>
                        <a:t>Affordable for students</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Material cost</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accent2"/>
                          </a:solidFill>
                        </a:rPr>
                        <a:t>≤ $12</a:t>
                      </a:r>
                      <a:endParaRPr lang="en-US" sz="1400" dirty="0"/>
                    </a:p>
                  </a:txBody>
                  <a:tcPr marL="137160" marR="137160" marT="0" marB="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4" name="Text 1"/>
          <p:cNvSpPr txBox="1"/>
          <p:nvPr/>
        </p:nvSpPr>
        <p:spPr>
          <a:xfrm>
            <a:off x="548640" y="5486400"/>
            <a:ext cx="11094415" cy="640080"/>
          </a:xfrm>
          <a:prstGeom prst="rect">
            <a:avLst/>
          </a:prstGeom>
          <a:noFill/>
          <a:ln/>
        </p:spPr>
        <p:txBody>
          <a:bodyPr wrap="square" lIns="0" tIns="0" rIns="0" bIns="0" rtlCol="0" anchor="ctr"/>
          <a:lstStyle/>
          <a:p>
            <a:pPr indent="0" marL="0">
              <a:buNone/>
            </a:pPr>
            <a:r>
              <a:rPr lang="en-US" sz="1600" i="1" dirty="0">
                <a:solidFill>
                  <a:schemeClr val="accent4"/>
                </a:solidFill>
              </a:rPr>
              <a:t>Translating vague wishes into numbers is what makes a design testable: every target above is later verified by a calculation, a CAD check, or a physical test.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Choosing a concept with a decision matrix</a:t>
            </a:r>
            <a:endParaRPr lang="en-US" sz="3400" dirty="0"/>
          </a:p>
        </p:txBody>
      </p:sp>
      <p:sp>
        <p:nvSpPr>
          <p:cNvPr id="3" name="Concept card A"/>
          <p:cNvSpPr/>
          <p:nvPr/>
        </p:nvSpPr>
        <p:spPr>
          <a:xfrm>
            <a:off x="548640" y="1508760"/>
            <a:ext cx="3931920" cy="1371600"/>
          </a:xfrm>
          <a:prstGeom prst="roundRect">
            <a:avLst>
              <a:gd name="adj" fmla="val 8000"/>
            </a:avLst>
          </a:prstGeom>
          <a:solidFill>
            <a:schemeClr val="bg2"/>
          </a:solidFill>
          <a:ln/>
        </p:spPr>
      </p:sp>
      <p:sp>
        <p:nvSpPr>
          <p:cNvPr id="4" name="Concept badge A"/>
          <p:cNvSpPr/>
          <p:nvPr/>
        </p:nvSpPr>
        <p:spPr>
          <a:xfrm>
            <a:off x="731520" y="1691640"/>
            <a:ext cx="594360" cy="594360"/>
          </a:xfrm>
          <a:prstGeom prst="ellipse">
            <a:avLst/>
          </a:prstGeom>
          <a:solidFill>
            <a:schemeClr val="accent2"/>
          </a:solidFill>
          <a:ln/>
        </p:spPr>
      </p:sp>
      <p:sp>
        <p:nvSpPr>
          <p:cNvPr id="5" name="Text 3"/>
          <p:cNvSpPr txBox="1"/>
          <p:nvPr/>
        </p:nvSpPr>
        <p:spPr>
          <a:xfrm>
            <a:off x="731520" y="1691640"/>
            <a:ext cx="594360" cy="59436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A</a:t>
            </a:r>
            <a:endParaRPr lang="en-US" sz="2200" dirty="0"/>
          </a:p>
        </p:txBody>
      </p:sp>
      <p:sp>
        <p:nvSpPr>
          <p:cNvPr id="6" name="Text 4"/>
          <p:cNvSpPr txBox="1"/>
          <p:nvPr/>
        </p:nvSpPr>
        <p:spPr>
          <a:xfrm>
            <a:off x="1508760" y="1673352"/>
            <a:ext cx="2834640" cy="640080"/>
          </a:xfrm>
          <a:prstGeom prst="rect">
            <a:avLst/>
          </a:prstGeom>
          <a:noFill/>
          <a:ln/>
        </p:spPr>
        <p:txBody>
          <a:bodyPr wrap="square" lIns="0" tIns="0" rIns="0" bIns="0" rtlCol="0" anchor="ctr"/>
          <a:lstStyle/>
          <a:p>
            <a:pPr indent="0" marL="0">
              <a:buNone/>
            </a:pPr>
            <a:r>
              <a:rPr lang="en-US" sz="1600" b="1" dirty="0">
                <a:solidFill>
                  <a:schemeClr val="tx2"/>
                </a:solidFill>
              </a:rPr>
              <a:t>Fixed wedge</a:t>
            </a:r>
            <a:endParaRPr lang="en-US" sz="1600" dirty="0"/>
          </a:p>
        </p:txBody>
      </p:sp>
      <p:sp>
        <p:nvSpPr>
          <p:cNvPr id="7" name="Text 5"/>
          <p:cNvSpPr txBox="1"/>
          <p:nvPr/>
        </p:nvSpPr>
        <p:spPr>
          <a:xfrm>
            <a:off x="731520" y="2350008"/>
            <a:ext cx="3611880" cy="457200"/>
          </a:xfrm>
          <a:prstGeom prst="rect">
            <a:avLst/>
          </a:prstGeom>
          <a:noFill/>
          <a:ln/>
        </p:spPr>
        <p:txBody>
          <a:bodyPr wrap="square" lIns="0" tIns="0" rIns="0" bIns="0" rtlCol="0" anchor="t"/>
          <a:lstStyle/>
          <a:p>
            <a:pPr indent="0" marL="0">
              <a:buNone/>
            </a:pPr>
            <a:r>
              <a:rPr lang="en-US" sz="1400" dirty="0">
                <a:solidFill>
                  <a:schemeClr val="tx1"/>
                </a:solidFill>
              </a:rPr>
              <a:t>Solid block; very stable, not adjustable or portable</a:t>
            </a:r>
            <a:endParaRPr lang="en-US" sz="1400" dirty="0"/>
          </a:p>
        </p:txBody>
      </p:sp>
      <p:sp>
        <p:nvSpPr>
          <p:cNvPr id="8" name="Concept card B"/>
          <p:cNvSpPr/>
          <p:nvPr/>
        </p:nvSpPr>
        <p:spPr>
          <a:xfrm>
            <a:off x="548640" y="3063240"/>
            <a:ext cx="3931920" cy="1371600"/>
          </a:xfrm>
          <a:prstGeom prst="roundRect">
            <a:avLst>
              <a:gd name="adj" fmla="val 8000"/>
            </a:avLst>
          </a:prstGeom>
          <a:solidFill>
            <a:schemeClr val="bg2"/>
          </a:solidFill>
          <a:ln/>
        </p:spPr>
      </p:sp>
      <p:sp>
        <p:nvSpPr>
          <p:cNvPr id="9" name="Concept badge B"/>
          <p:cNvSpPr/>
          <p:nvPr/>
        </p:nvSpPr>
        <p:spPr>
          <a:xfrm>
            <a:off x="731520" y="3246120"/>
            <a:ext cx="594360" cy="594360"/>
          </a:xfrm>
          <a:prstGeom prst="ellipse">
            <a:avLst/>
          </a:prstGeom>
          <a:solidFill>
            <a:schemeClr val="accent2"/>
          </a:solidFill>
          <a:ln/>
        </p:spPr>
      </p:sp>
      <p:sp>
        <p:nvSpPr>
          <p:cNvPr id="10" name="Text 8"/>
          <p:cNvSpPr txBox="1"/>
          <p:nvPr/>
        </p:nvSpPr>
        <p:spPr>
          <a:xfrm>
            <a:off x="731520" y="3246120"/>
            <a:ext cx="594360" cy="59436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B</a:t>
            </a:r>
            <a:endParaRPr lang="en-US" sz="2200" dirty="0"/>
          </a:p>
        </p:txBody>
      </p:sp>
      <p:sp>
        <p:nvSpPr>
          <p:cNvPr id="11" name="Text 9"/>
          <p:cNvSpPr txBox="1"/>
          <p:nvPr/>
        </p:nvSpPr>
        <p:spPr>
          <a:xfrm>
            <a:off x="1508760" y="3227832"/>
            <a:ext cx="2834640" cy="640080"/>
          </a:xfrm>
          <a:prstGeom prst="rect">
            <a:avLst/>
          </a:prstGeom>
          <a:noFill/>
          <a:ln/>
        </p:spPr>
        <p:txBody>
          <a:bodyPr wrap="square" lIns="0" tIns="0" rIns="0" bIns="0" rtlCol="0" anchor="ctr"/>
          <a:lstStyle/>
          <a:p>
            <a:pPr indent="0" marL="0">
              <a:buNone/>
            </a:pPr>
            <a:r>
              <a:rPr lang="en-US" sz="1600" b="1" dirty="0">
                <a:solidFill>
                  <a:schemeClr val="tx2"/>
                </a:solidFill>
              </a:rPr>
              <a:t>Scissor lift</a:t>
            </a:r>
            <a:endParaRPr lang="en-US" sz="1600" dirty="0"/>
          </a:p>
        </p:txBody>
      </p:sp>
      <p:sp>
        <p:nvSpPr>
          <p:cNvPr id="12" name="Text 10"/>
          <p:cNvSpPr txBox="1"/>
          <p:nvPr/>
        </p:nvSpPr>
        <p:spPr>
          <a:xfrm>
            <a:off x="731520" y="3904488"/>
            <a:ext cx="3611880" cy="457200"/>
          </a:xfrm>
          <a:prstGeom prst="rect">
            <a:avLst/>
          </a:prstGeom>
          <a:noFill/>
          <a:ln/>
        </p:spPr>
        <p:txBody>
          <a:bodyPr wrap="square" lIns="0" tIns="0" rIns="0" bIns="0" rtlCol="0" anchor="t"/>
          <a:lstStyle/>
          <a:p>
            <a:pPr indent="0" marL="0">
              <a:buNone/>
            </a:pPr>
            <a:r>
              <a:rPr lang="en-US" sz="1400" dirty="0">
                <a:solidFill>
                  <a:schemeClr val="tx1"/>
                </a:solidFill>
              </a:rPr>
              <a:t>Height-adjustable; many parts, wobbly, costly</a:t>
            </a:r>
            <a:endParaRPr lang="en-US" sz="1400" dirty="0"/>
          </a:p>
        </p:txBody>
      </p:sp>
      <p:sp>
        <p:nvSpPr>
          <p:cNvPr id="13" name="Concept card C"/>
          <p:cNvSpPr/>
          <p:nvPr/>
        </p:nvSpPr>
        <p:spPr>
          <a:xfrm>
            <a:off x="548640" y="4617720"/>
            <a:ext cx="3931920" cy="1371600"/>
          </a:xfrm>
          <a:prstGeom prst="roundRect">
            <a:avLst>
              <a:gd name="adj" fmla="val 8000"/>
            </a:avLst>
          </a:prstGeom>
          <a:solidFill>
            <a:schemeClr val="tx2"/>
          </a:solidFill>
          <a:ln/>
        </p:spPr>
      </p:sp>
      <p:sp>
        <p:nvSpPr>
          <p:cNvPr id="14" name="Concept badge C"/>
          <p:cNvSpPr/>
          <p:nvPr/>
        </p:nvSpPr>
        <p:spPr>
          <a:xfrm>
            <a:off x="731520" y="4800600"/>
            <a:ext cx="594360" cy="594360"/>
          </a:xfrm>
          <a:prstGeom prst="ellipse">
            <a:avLst/>
          </a:prstGeom>
          <a:solidFill>
            <a:schemeClr val="accent1"/>
          </a:solidFill>
          <a:ln/>
        </p:spPr>
      </p:sp>
      <p:sp>
        <p:nvSpPr>
          <p:cNvPr id="15" name="Text 13"/>
          <p:cNvSpPr txBox="1"/>
          <p:nvPr/>
        </p:nvSpPr>
        <p:spPr>
          <a:xfrm>
            <a:off x="731520" y="4800600"/>
            <a:ext cx="594360" cy="59436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C</a:t>
            </a:r>
            <a:endParaRPr lang="en-US" sz="2200" dirty="0"/>
          </a:p>
        </p:txBody>
      </p:sp>
      <p:sp>
        <p:nvSpPr>
          <p:cNvPr id="16" name="Text 14"/>
          <p:cNvSpPr txBox="1"/>
          <p:nvPr/>
        </p:nvSpPr>
        <p:spPr>
          <a:xfrm>
            <a:off x="1508760" y="4782312"/>
            <a:ext cx="2834640" cy="640080"/>
          </a:xfrm>
          <a:prstGeom prst="rect">
            <a:avLst/>
          </a:prstGeom>
          <a:noFill/>
          <a:ln/>
        </p:spPr>
        <p:txBody>
          <a:bodyPr wrap="square" lIns="0" tIns="0" rIns="0" bIns="0" rtlCol="0" anchor="ctr"/>
          <a:lstStyle/>
          <a:p>
            <a:pPr indent="0" marL="0">
              <a:buNone/>
            </a:pPr>
            <a:r>
              <a:rPr lang="en-US" sz="1600" b="1" dirty="0">
                <a:solidFill>
                  <a:schemeClr val="bg1"/>
                </a:solidFill>
              </a:rPr>
              <a:t>Hinged tray + adjustable leg</a:t>
            </a:r>
            <a:endParaRPr lang="en-US" sz="1600" dirty="0"/>
          </a:p>
        </p:txBody>
      </p:sp>
      <p:sp>
        <p:nvSpPr>
          <p:cNvPr id="17" name="Text 15"/>
          <p:cNvSpPr txBox="1"/>
          <p:nvPr/>
        </p:nvSpPr>
        <p:spPr>
          <a:xfrm>
            <a:off x="731520" y="5458968"/>
            <a:ext cx="3611880" cy="457200"/>
          </a:xfrm>
          <a:prstGeom prst="rect">
            <a:avLst/>
          </a:prstGeom>
          <a:noFill/>
          <a:ln/>
        </p:spPr>
        <p:txBody>
          <a:bodyPr wrap="square" lIns="0" tIns="0" rIns="0" bIns="0" rtlCol="0" anchor="t"/>
          <a:lstStyle/>
          <a:p>
            <a:pPr indent="0" marL="0">
              <a:buNone/>
            </a:pPr>
            <a:r>
              <a:rPr lang="en-US" sz="1400" dirty="0">
                <a:solidFill>
                  <a:schemeClr val="bg2"/>
                </a:solidFill>
              </a:rPr>
              <a:t>Folds flat; 3 leg positions; few parts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754880" y="1508760"/>
          <a:ext cx="6885432" cy="914400"/>
        </p:xfrm>
        <a:graphic>
          <a:graphicData uri="http://schemas.openxmlformats.org/drawingml/2006/table">
            <a:tbl>
              <a:tblPr/>
              <a:tblGrid>
                <a:gridCol w="2679192"/>
                <a:gridCol w="1097280"/>
                <a:gridCol w="1005840"/>
                <a:gridCol w="1005840"/>
                <a:gridCol w="1097280"/>
              </a:tblGrid>
              <a:tr h="475488">
                <a:tc>
                  <a:txBody>
                    <a:bodyPr/>
                    <a:lstStyle/>
                    <a:p>
                      <a:pPr algn="l" indent="0" marL="0">
                        <a:buNone/>
                      </a:pPr>
                      <a:r>
                        <a:rPr lang="en-US" sz="1400" b="1" dirty="0">
                          <a:solidFill>
                            <a:schemeClr val="bg1"/>
                          </a:solidFill>
                        </a:rPr>
                        <a:t>Criterion</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rPr>
                        <a:t>Weight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rPr>
                        <a:t>A</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rPr>
                        <a:t>B</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rPr>
                        <a:t>C</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r>
              <a:tr h="475488">
                <a:tc>
                  <a:txBody>
                    <a:bodyPr/>
                    <a:lstStyle/>
                    <a:p>
                      <a:pPr indent="0" marL="0">
                        <a:buNone/>
                      </a:pPr>
                      <a:r>
                        <a:rPr lang="en-US" sz="1400" dirty="0">
                          <a:solidFill>
                            <a:schemeClr val="tx1"/>
                          </a:solidFill>
                        </a:rPr>
                        <a:t>Stability</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accent4"/>
                          </a:solidFill>
                        </a:rPr>
                        <a:t>25%</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rPr>
                        <a:t>5</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rPr>
                        <a:t>3</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tx1"/>
                          </a:solidFill>
                        </a:rPr>
                        <a:t>4</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400" dirty="0">
                          <a:solidFill>
                            <a:schemeClr val="tx1"/>
                          </a:solidFill>
                        </a:rPr>
                        <a:t>Portability</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accent4"/>
                          </a:solidFill>
                        </a:rPr>
                        <a:t>20%</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rPr>
                        <a:t>2</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rPr>
                        <a:t>4</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b="1" dirty="0">
                          <a:solidFill>
                            <a:schemeClr val="tx1"/>
                          </a:solidFill>
                        </a:rPr>
                        <a:t>5</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400" dirty="0">
                          <a:solidFill>
                            <a:schemeClr val="tx1"/>
                          </a:solidFill>
                        </a:rPr>
                        <a:t>Adjustability</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accent4"/>
                          </a:solidFill>
                        </a:rPr>
                        <a:t>20%</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rPr>
                        <a:t>1</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rPr>
                        <a:t>5</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tx1"/>
                          </a:solidFill>
                        </a:rPr>
                        <a:t>4</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400" dirty="0">
                          <a:solidFill>
                            <a:schemeClr val="tx1"/>
                          </a:solidFill>
                        </a:rPr>
                        <a:t>Cost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accent4"/>
                          </a:solidFill>
                        </a:rPr>
                        <a:t>15%</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rPr>
                        <a:t>5</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rPr>
                        <a:t>2</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b="1" dirty="0">
                          <a:solidFill>
                            <a:schemeClr val="tx1"/>
                          </a:solidFill>
                        </a:rPr>
                        <a:t>4</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400" dirty="0">
                          <a:solidFill>
                            <a:schemeClr val="tx1"/>
                          </a:solidFill>
                        </a:rPr>
                        <a:t>Manufacturability</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accent4"/>
                          </a:solidFill>
                        </a:rPr>
                        <a:t>10%</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rPr>
                        <a:t>5</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dirty="0">
                          <a:solidFill>
                            <a:schemeClr val="tx1"/>
                          </a:solidFill>
                        </a:rPr>
                        <a:t>2</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b="1" dirty="0">
                          <a:solidFill>
                            <a:schemeClr val="tx1"/>
                          </a:solidFill>
                        </a:rPr>
                        <a:t>4</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475488">
                <a:tc>
                  <a:txBody>
                    <a:bodyPr/>
                    <a:lstStyle/>
                    <a:p>
                      <a:pPr indent="0" marL="0">
                        <a:buNone/>
                      </a:pPr>
                      <a:r>
                        <a:rPr lang="en-US" sz="1400" dirty="0">
                          <a:solidFill>
                            <a:schemeClr val="tx1"/>
                          </a:solidFill>
                        </a:rPr>
                        <a:t>Aesthetics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accent4"/>
                          </a:solidFill>
                        </a:rPr>
                        <a:t>10%</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rPr>
                        <a:t>3</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tx1"/>
                          </a:solidFill>
                        </a:rPr>
                        <a:t>4</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b="1" dirty="0">
                          <a:solidFill>
                            <a:schemeClr val="tx1"/>
                          </a:solidFill>
                        </a:rPr>
                        <a:t>4</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475488">
                <a:tc>
                  <a:txBody>
                    <a:bodyPr/>
                    <a:lstStyle/>
                    <a:p>
                      <a:pPr indent="0" marL="0">
                        <a:buNone/>
                      </a:pPr>
                      <a:r>
                        <a:rPr lang="en-US" sz="1400" b="1" dirty="0">
                          <a:solidFill>
                            <a:schemeClr val="tx2"/>
                          </a:solidFill>
                        </a:rPr>
                        <a:t>Weighted score (out of 5)</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dirty="0">
                          <a:solidFill>
                            <a:schemeClr val="accent4"/>
                          </a:solidFill>
                        </a:rPr>
                        <a:t>100%</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600" b="1" dirty="0">
                          <a:solidFill>
                            <a:schemeClr val="tx2"/>
                          </a:solidFill>
                        </a:rPr>
                        <a:t>3.40</a:t>
                      </a:r>
                      <a:endParaRPr lang="en-US" sz="16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600" b="1" dirty="0">
                          <a:solidFill>
                            <a:schemeClr val="tx2"/>
                          </a:solidFill>
                        </a:rPr>
                        <a:t>3.45</a:t>
                      </a:r>
                      <a:endParaRPr lang="en-US" sz="16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600" b="1" dirty="0">
                          <a:solidFill>
                            <a:schemeClr val="bg1"/>
                          </a:solidFill>
                        </a:rPr>
                        <a:t>4.20</a:t>
                      </a:r>
                      <a:endParaRPr lang="en-US" sz="1600" dirty="0"/>
                    </a:p>
                  </a:txBody>
                  <a:tcPr marL="109728" marR="109728" marT="0" marB="0" anchor="ctr">
                    <a:lnL w="0" cap="flat" cmpd="sng" algn="ctr">
                      <a:noFill/>
                    </a:lnL>
                    <a:lnR w="0" cap="flat" cmpd="sng" algn="ctr">
                      <a:noFill/>
                    </a:lnR>
                    <a:lnT w="0" cap="flat" cmpd="sng" algn="ctr">
                      <a:noFill/>
                    </a:lnT>
                    <a:lnB w="0" cap="flat" cmpd="sng" algn="ctr">
                      <a:noFill/>
                    </a:lnB>
                    <a:solidFill>
                      <a:schemeClr val="accent2"/>
                    </a:solidFill>
                  </a:tcPr>
                </a:tc>
              </a:tr>
            </a:tbl>
          </a:graphicData>
        </a:graphic>
      </p:graphicFrame>
      <p:sp>
        <p:nvSpPr>
          <p:cNvPr id="19" name="Text 16"/>
          <p:cNvSpPr txBox="1"/>
          <p:nvPr/>
        </p:nvSpPr>
        <p:spPr>
          <a:xfrm>
            <a:off x="4754880" y="5486400"/>
            <a:ext cx="6885432" cy="457200"/>
          </a:xfrm>
          <a:prstGeom prst="rect">
            <a:avLst/>
          </a:prstGeom>
          <a:noFill/>
          <a:ln/>
        </p:spPr>
        <p:txBody>
          <a:bodyPr wrap="square" lIns="0" tIns="0" rIns="0" bIns="0" rtlCol="0" anchor="ctr"/>
          <a:lstStyle/>
          <a:p>
            <a:pPr indent="0" marL="0">
              <a:buNone/>
            </a:pPr>
            <a:r>
              <a:rPr lang="en-US" sz="1200" dirty="0">
                <a:solidFill>
                  <a:schemeClr val="accent4"/>
                </a:solidFill>
              </a:rPr>
              <a:t>Scores 1 (poor) – 5 (excellent). Weights reflect the user needs on the previous slide.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The final design: four functional parts</a:t>
            </a:r>
            <a:endParaRPr lang="en-US" sz="3400" dirty="0"/>
          </a:p>
        </p:txBody>
      </p:sp>
      <p:sp>
        <p:nvSpPr>
          <p:cNvPr id="3" name="Diagram panel"/>
          <p:cNvSpPr/>
          <p:nvPr/>
        </p:nvSpPr>
        <p:spPr>
          <a:xfrm>
            <a:off x="548640" y="1508760"/>
            <a:ext cx="6400800" cy="4572000"/>
          </a:xfrm>
          <a:prstGeom prst="roundRect">
            <a:avLst>
              <a:gd name="adj" fmla="val 2400"/>
            </a:avLst>
          </a:prstGeom>
          <a:solidFill>
            <a:schemeClr val="bg2"/>
          </a:solidFill>
          <a:ln/>
        </p:spPr>
      </p:sp>
      <p:sp>
        <p:nvSpPr>
          <p:cNvPr id="4" name="Stand drawing line"/>
          <p:cNvSpPr/>
          <p:nvPr/>
        </p:nvSpPr>
        <p:spPr>
          <a:xfrm>
            <a:off x="1051560" y="5394960"/>
            <a:ext cx="5701284" cy="0"/>
          </a:xfrm>
          <a:prstGeom prst="line">
            <a:avLst/>
          </a:prstGeom>
          <a:noFill/>
          <a:ln w="38100">
            <a:solidFill>
              <a:srgbClr val="0A2540"/>
            </a:solidFill>
            <a:prstDash val="solid"/>
          </a:ln>
        </p:spPr>
      </p:sp>
      <p:sp>
        <p:nvSpPr>
          <p:cNvPr id="5" name="Stand drawing line"/>
          <p:cNvSpPr/>
          <p:nvPr/>
        </p:nvSpPr>
        <p:spPr>
          <a:xfrm>
            <a:off x="1449324" y="4732020"/>
            <a:ext cx="0" cy="662940"/>
          </a:xfrm>
          <a:prstGeom prst="line">
            <a:avLst/>
          </a:prstGeom>
          <a:noFill/>
          <a:ln w="38100">
            <a:solidFill>
              <a:srgbClr val="0A2540"/>
            </a:solidFill>
            <a:prstDash val="solid"/>
          </a:ln>
        </p:spPr>
      </p:sp>
      <p:sp>
        <p:nvSpPr>
          <p:cNvPr id="6" name="Stand drawing line"/>
          <p:cNvSpPr/>
          <p:nvPr/>
        </p:nvSpPr>
        <p:spPr>
          <a:xfrm flipV="1">
            <a:off x="1449324" y="3472434"/>
            <a:ext cx="4905756" cy="1259586"/>
          </a:xfrm>
          <a:prstGeom prst="line">
            <a:avLst/>
          </a:prstGeom>
          <a:noFill/>
          <a:ln w="50800">
            <a:solidFill>
              <a:srgbClr val="0A2540"/>
            </a:solidFill>
            <a:prstDash val="solid"/>
          </a:ln>
        </p:spPr>
      </p:sp>
      <p:sp>
        <p:nvSpPr>
          <p:cNvPr id="7" name="Stand drawing line"/>
          <p:cNvSpPr/>
          <p:nvPr/>
        </p:nvSpPr>
        <p:spPr>
          <a:xfrm flipV="1">
            <a:off x="5161788" y="3574527"/>
            <a:ext cx="795528" cy="1820433"/>
          </a:xfrm>
          <a:prstGeom prst="line">
            <a:avLst/>
          </a:prstGeom>
          <a:noFill/>
          <a:ln w="38100">
            <a:solidFill>
              <a:srgbClr val="0A2540"/>
            </a:solidFill>
            <a:prstDash val="solid"/>
          </a:ln>
        </p:spPr>
      </p:sp>
      <p:sp>
        <p:nvSpPr>
          <p:cNvPr id="8" name="Stand drawing line"/>
          <p:cNvSpPr/>
          <p:nvPr/>
        </p:nvSpPr>
        <p:spPr>
          <a:xfrm flipV="1">
            <a:off x="5758434" y="3574527"/>
            <a:ext cx="198882" cy="1820433"/>
          </a:xfrm>
          <a:prstGeom prst="line">
            <a:avLst/>
          </a:prstGeom>
          <a:noFill/>
          <a:ln w="19050">
            <a:solidFill>
              <a:srgbClr val="0A2540"/>
            </a:solidFill>
            <a:prstDash val="dash"/>
          </a:ln>
        </p:spPr>
      </p:sp>
      <p:sp>
        <p:nvSpPr>
          <p:cNvPr id="9" name="Stand drawing line"/>
          <p:cNvSpPr/>
          <p:nvPr/>
        </p:nvSpPr>
        <p:spPr>
          <a:xfrm flipV="1">
            <a:off x="1648206" y="3334542"/>
            <a:ext cx="4574286" cy="1174730"/>
          </a:xfrm>
          <a:prstGeom prst="line">
            <a:avLst/>
          </a:prstGeom>
          <a:noFill/>
          <a:ln w="76200">
            <a:solidFill>
              <a:srgbClr val="F28C28"/>
            </a:solidFill>
            <a:prstDash val="solid"/>
          </a:ln>
        </p:spPr>
      </p:sp>
      <p:sp>
        <p:nvSpPr>
          <p:cNvPr id="10" name="Stand drawing line"/>
          <p:cNvSpPr/>
          <p:nvPr/>
        </p:nvSpPr>
        <p:spPr>
          <a:xfrm>
            <a:off x="5625846" y="1748790"/>
            <a:ext cx="596646" cy="1585752"/>
          </a:xfrm>
          <a:prstGeom prst="line">
            <a:avLst/>
          </a:prstGeom>
          <a:noFill/>
          <a:ln w="76200">
            <a:solidFill>
              <a:srgbClr val="F28C28"/>
            </a:solidFill>
            <a:prstDash val="solid"/>
          </a:ln>
        </p:spPr>
      </p:sp>
      <p:sp>
        <p:nvSpPr>
          <p:cNvPr id="11" name="Stand drawing line"/>
          <p:cNvSpPr/>
          <p:nvPr/>
        </p:nvSpPr>
        <p:spPr>
          <a:xfrm>
            <a:off x="1608430" y="4267962"/>
            <a:ext cx="0" cy="371246"/>
          </a:xfrm>
          <a:prstGeom prst="line">
            <a:avLst/>
          </a:prstGeom>
          <a:noFill/>
          <a:ln w="38100">
            <a:solidFill>
              <a:srgbClr val="F28C28"/>
            </a:solidFill>
            <a:prstDash val="solid"/>
          </a:ln>
        </p:spPr>
      </p:sp>
      <p:sp>
        <p:nvSpPr>
          <p:cNvPr id="12" name="Hinge"/>
          <p:cNvSpPr/>
          <p:nvPr/>
        </p:nvSpPr>
        <p:spPr>
          <a:xfrm>
            <a:off x="1385316" y="4668012"/>
            <a:ext cx="128016" cy="128016"/>
          </a:xfrm>
          <a:prstGeom prst="ellipse">
            <a:avLst/>
          </a:prstGeom>
          <a:solidFill>
            <a:srgbClr val="F28C28"/>
          </a:solidFill>
          <a:ln w="9525">
            <a:solidFill>
              <a:srgbClr val="F28C28"/>
            </a:solidFill>
            <a:prstDash val="solid"/>
          </a:ln>
        </p:spPr>
      </p:sp>
      <p:sp>
        <p:nvSpPr>
          <p:cNvPr id="13" name="Hinge"/>
          <p:cNvSpPr/>
          <p:nvPr/>
        </p:nvSpPr>
        <p:spPr>
          <a:xfrm>
            <a:off x="5893308" y="3510519"/>
            <a:ext cx="128016" cy="128016"/>
          </a:xfrm>
          <a:prstGeom prst="ellipse">
            <a:avLst/>
          </a:prstGeom>
          <a:solidFill>
            <a:srgbClr val="F28C28"/>
          </a:solidFill>
          <a:ln w="9525">
            <a:solidFill>
              <a:srgbClr val="F28C28"/>
            </a:solidFill>
            <a:prstDash val="solid"/>
          </a:ln>
        </p:spPr>
      </p:sp>
      <p:sp>
        <p:nvSpPr>
          <p:cNvPr id="14" name="Leader 1"/>
          <p:cNvSpPr/>
          <p:nvPr/>
        </p:nvSpPr>
        <p:spPr>
          <a:xfrm>
            <a:off x="3703320" y="2544318"/>
            <a:ext cx="0" cy="1524762"/>
          </a:xfrm>
          <a:prstGeom prst="line">
            <a:avLst/>
          </a:prstGeom>
          <a:noFill/>
          <a:ln w="12700">
            <a:solidFill>
              <a:srgbClr val="5B6773"/>
            </a:solidFill>
            <a:prstDash val="solid"/>
          </a:ln>
        </p:spPr>
      </p:sp>
      <p:sp>
        <p:nvSpPr>
          <p:cNvPr id="15" name="Callout 1"/>
          <p:cNvSpPr/>
          <p:nvPr/>
        </p:nvSpPr>
        <p:spPr>
          <a:xfrm>
            <a:off x="3520440" y="2361438"/>
            <a:ext cx="365760" cy="365760"/>
          </a:xfrm>
          <a:prstGeom prst="ellipse">
            <a:avLst/>
          </a:prstGeom>
          <a:solidFill>
            <a:schemeClr val="tx2"/>
          </a:solidFill>
          <a:ln/>
        </p:spPr>
      </p:sp>
      <p:sp>
        <p:nvSpPr>
          <p:cNvPr id="16" name="Text 14"/>
          <p:cNvSpPr txBox="1"/>
          <p:nvPr/>
        </p:nvSpPr>
        <p:spPr>
          <a:xfrm>
            <a:off x="3520440" y="236143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7" name="Leader 2"/>
          <p:cNvSpPr/>
          <p:nvPr/>
        </p:nvSpPr>
        <p:spPr>
          <a:xfrm>
            <a:off x="5493258" y="4466844"/>
            <a:ext cx="1060704" cy="530352"/>
          </a:xfrm>
          <a:prstGeom prst="line">
            <a:avLst/>
          </a:prstGeom>
          <a:noFill/>
          <a:ln w="12700">
            <a:solidFill>
              <a:srgbClr val="5B6773"/>
            </a:solidFill>
            <a:prstDash val="solid"/>
          </a:ln>
        </p:spPr>
      </p:sp>
      <p:sp>
        <p:nvSpPr>
          <p:cNvPr id="18" name="Callout 2"/>
          <p:cNvSpPr/>
          <p:nvPr/>
        </p:nvSpPr>
        <p:spPr>
          <a:xfrm>
            <a:off x="6371082" y="4814316"/>
            <a:ext cx="365760" cy="365760"/>
          </a:xfrm>
          <a:prstGeom prst="ellipse">
            <a:avLst/>
          </a:prstGeom>
          <a:solidFill>
            <a:schemeClr val="tx2"/>
          </a:solidFill>
          <a:ln/>
        </p:spPr>
      </p:sp>
      <p:sp>
        <p:nvSpPr>
          <p:cNvPr id="19" name="Text 17"/>
          <p:cNvSpPr txBox="1"/>
          <p:nvPr/>
        </p:nvSpPr>
        <p:spPr>
          <a:xfrm>
            <a:off x="6371082" y="481431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0" name="Leader 3"/>
          <p:cNvSpPr/>
          <p:nvPr/>
        </p:nvSpPr>
        <p:spPr>
          <a:xfrm flipV="1">
            <a:off x="5957316" y="2676906"/>
            <a:ext cx="596646" cy="897621"/>
          </a:xfrm>
          <a:prstGeom prst="line">
            <a:avLst/>
          </a:prstGeom>
          <a:noFill/>
          <a:ln w="12700">
            <a:solidFill>
              <a:srgbClr val="5B6773"/>
            </a:solidFill>
            <a:prstDash val="solid"/>
          </a:ln>
        </p:spPr>
      </p:sp>
      <p:sp>
        <p:nvSpPr>
          <p:cNvPr id="21" name="Callout 3"/>
          <p:cNvSpPr/>
          <p:nvPr/>
        </p:nvSpPr>
        <p:spPr>
          <a:xfrm>
            <a:off x="6371082" y="2494026"/>
            <a:ext cx="365760" cy="365760"/>
          </a:xfrm>
          <a:prstGeom prst="ellipse">
            <a:avLst/>
          </a:prstGeom>
          <a:solidFill>
            <a:schemeClr val="tx2"/>
          </a:solidFill>
          <a:ln/>
        </p:spPr>
      </p:sp>
      <p:sp>
        <p:nvSpPr>
          <p:cNvPr id="22" name="Text 20"/>
          <p:cNvSpPr txBox="1"/>
          <p:nvPr/>
        </p:nvSpPr>
        <p:spPr>
          <a:xfrm>
            <a:off x="6371082" y="2494026"/>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3" name="Leader 4"/>
          <p:cNvSpPr/>
          <p:nvPr/>
        </p:nvSpPr>
        <p:spPr>
          <a:xfrm>
            <a:off x="1117854" y="3406140"/>
            <a:ext cx="490576" cy="861822"/>
          </a:xfrm>
          <a:prstGeom prst="line">
            <a:avLst/>
          </a:prstGeom>
          <a:noFill/>
          <a:ln w="12700">
            <a:solidFill>
              <a:srgbClr val="5B6773"/>
            </a:solidFill>
            <a:prstDash val="solid"/>
          </a:ln>
        </p:spPr>
      </p:sp>
      <p:sp>
        <p:nvSpPr>
          <p:cNvPr id="24" name="Callout 4"/>
          <p:cNvSpPr/>
          <p:nvPr/>
        </p:nvSpPr>
        <p:spPr>
          <a:xfrm>
            <a:off x="934974" y="3223260"/>
            <a:ext cx="365760" cy="365760"/>
          </a:xfrm>
          <a:prstGeom prst="ellipse">
            <a:avLst/>
          </a:prstGeom>
          <a:solidFill>
            <a:schemeClr val="tx2"/>
          </a:solidFill>
          <a:ln/>
        </p:spPr>
      </p:sp>
      <p:sp>
        <p:nvSpPr>
          <p:cNvPr id="25" name="Text 23"/>
          <p:cNvSpPr txBox="1"/>
          <p:nvPr/>
        </p:nvSpPr>
        <p:spPr>
          <a:xfrm>
            <a:off x="934974" y="32232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6" name="Text 24"/>
          <p:cNvSpPr txBox="1"/>
          <p:nvPr/>
        </p:nvSpPr>
        <p:spPr>
          <a:xfrm>
            <a:off x="1325880" y="4315968"/>
            <a:ext cx="365760" cy="365760"/>
          </a:xfrm>
          <a:prstGeom prst="rect">
            <a:avLst/>
          </a:prstGeom>
          <a:noFill/>
          <a:ln/>
        </p:spPr>
        <p:txBody>
          <a:bodyPr wrap="square" lIns="0" tIns="0" rIns="0" bIns="0" rtlCol="0" anchor="ctr"/>
          <a:lstStyle/>
          <a:p>
            <a:pPr indent="0" marL="0">
              <a:buNone/>
            </a:pPr>
            <a:r>
              <a:rPr lang="en-US" sz="1800" i="1" dirty="0">
                <a:solidFill>
                  <a:schemeClr val="accent2"/>
                </a:solidFill>
                <a:latin typeface="Cambria" pitchFamily="34" charset="0"/>
                <a:ea typeface="Cambria" pitchFamily="34" charset="-122"/>
                <a:cs typeface="Cambria" pitchFamily="34" charset="-120"/>
              </a:rPr>
              <a:t>θ</a:t>
            </a:r>
            <a:endParaRPr lang="en-US" sz="1800" dirty="0"/>
          </a:p>
        </p:txBody>
      </p:sp>
      <p:sp>
        <p:nvSpPr>
          <p:cNvPr id="27" name="Text 25"/>
          <p:cNvSpPr txBox="1"/>
          <p:nvPr/>
        </p:nvSpPr>
        <p:spPr>
          <a:xfrm>
            <a:off x="731520" y="5715000"/>
            <a:ext cx="2743200" cy="274320"/>
          </a:xfrm>
          <a:prstGeom prst="rect">
            <a:avLst/>
          </a:prstGeom>
          <a:noFill/>
          <a:ln/>
        </p:spPr>
        <p:txBody>
          <a:bodyPr wrap="square" lIns="0" tIns="0" rIns="0" bIns="0" rtlCol="0" anchor="ctr"/>
          <a:lstStyle/>
          <a:p>
            <a:pPr indent="0" marL="0">
              <a:buNone/>
            </a:pPr>
            <a:r>
              <a:rPr lang="en-US" sz="1000" dirty="0">
                <a:solidFill>
                  <a:schemeClr val="accent4"/>
                </a:solidFill>
              </a:rPr>
              <a:t>Side view, not to scale</a:t>
            </a:r>
            <a:endParaRPr lang="en-US" sz="1000" dirty="0"/>
          </a:p>
        </p:txBody>
      </p:sp>
      <p:sp>
        <p:nvSpPr>
          <p:cNvPr id="28" name="Part badge 1"/>
          <p:cNvSpPr/>
          <p:nvPr/>
        </p:nvSpPr>
        <p:spPr>
          <a:xfrm>
            <a:off x="7315200" y="1581912"/>
            <a:ext cx="457200" cy="457200"/>
          </a:xfrm>
          <a:prstGeom prst="ellipse">
            <a:avLst/>
          </a:prstGeom>
          <a:solidFill>
            <a:schemeClr val="accent2"/>
          </a:solidFill>
          <a:ln/>
        </p:spPr>
      </p:sp>
      <p:sp>
        <p:nvSpPr>
          <p:cNvPr id="29" name="Text 27"/>
          <p:cNvSpPr txBox="1"/>
          <p:nvPr/>
        </p:nvSpPr>
        <p:spPr>
          <a:xfrm>
            <a:off x="7315200" y="15819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30" name="Text 28"/>
          <p:cNvSpPr txBox="1"/>
          <p:nvPr/>
        </p:nvSpPr>
        <p:spPr>
          <a:xfrm>
            <a:off x="7955280" y="1508760"/>
            <a:ext cx="3685032" cy="365760"/>
          </a:xfrm>
          <a:prstGeom prst="rect">
            <a:avLst/>
          </a:prstGeom>
          <a:noFill/>
          <a:ln/>
        </p:spPr>
        <p:txBody>
          <a:bodyPr wrap="square" lIns="0" tIns="0" rIns="0" bIns="0" rtlCol="0" anchor="ctr"/>
          <a:lstStyle/>
          <a:p>
            <a:pPr indent="0" marL="0">
              <a:buNone/>
            </a:pPr>
            <a:r>
              <a:rPr lang="en-US" sz="1800" b="1" dirty="0">
                <a:solidFill>
                  <a:schemeClr val="tx2"/>
                </a:solidFill>
              </a:rPr>
              <a:t>Tray (2 mm Al 6061)</a:t>
            </a:r>
            <a:endParaRPr lang="en-US" sz="1800" dirty="0"/>
          </a:p>
        </p:txBody>
      </p:sp>
      <p:sp>
        <p:nvSpPr>
          <p:cNvPr id="31" name="Text 29"/>
          <p:cNvSpPr txBox="1"/>
          <p:nvPr/>
        </p:nvSpPr>
        <p:spPr>
          <a:xfrm>
            <a:off x="7955280" y="1892808"/>
            <a:ext cx="3685032" cy="685800"/>
          </a:xfrm>
          <a:prstGeom prst="rect">
            <a:avLst/>
          </a:prstGeom>
          <a:noFill/>
          <a:ln/>
        </p:spPr>
        <p:txBody>
          <a:bodyPr wrap="square" lIns="0" tIns="0" rIns="0" bIns="0" rtlCol="0" anchor="t"/>
          <a:lstStyle/>
          <a:p>
            <a:pPr indent="0" marL="0">
              <a:buNone/>
            </a:pPr>
            <a:r>
              <a:rPr lang="en-US" sz="1400" dirty="0">
                <a:solidFill>
                  <a:schemeClr val="tx1"/>
                </a:solidFill>
              </a:rPr>
              <a:t>Carries the laptop; sized for stiffness, not just strength</a:t>
            </a:r>
            <a:endParaRPr lang="en-US" sz="1400" dirty="0"/>
          </a:p>
        </p:txBody>
      </p:sp>
      <p:sp>
        <p:nvSpPr>
          <p:cNvPr id="32" name="Part badge 2"/>
          <p:cNvSpPr/>
          <p:nvPr/>
        </p:nvSpPr>
        <p:spPr>
          <a:xfrm>
            <a:off x="7315200" y="2752344"/>
            <a:ext cx="457200" cy="457200"/>
          </a:xfrm>
          <a:prstGeom prst="ellipse">
            <a:avLst/>
          </a:prstGeom>
          <a:solidFill>
            <a:schemeClr val="accent2"/>
          </a:solidFill>
          <a:ln/>
        </p:spPr>
      </p:sp>
      <p:sp>
        <p:nvSpPr>
          <p:cNvPr id="33" name="Text 31"/>
          <p:cNvSpPr txBox="1"/>
          <p:nvPr/>
        </p:nvSpPr>
        <p:spPr>
          <a:xfrm>
            <a:off x="7315200" y="27523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4" name="Text 32"/>
          <p:cNvSpPr txBox="1"/>
          <p:nvPr/>
        </p:nvSpPr>
        <p:spPr>
          <a:xfrm>
            <a:off x="7955280" y="2679192"/>
            <a:ext cx="3685032" cy="365760"/>
          </a:xfrm>
          <a:prstGeom prst="rect">
            <a:avLst/>
          </a:prstGeom>
          <a:noFill/>
          <a:ln/>
        </p:spPr>
        <p:txBody>
          <a:bodyPr wrap="square" lIns="0" tIns="0" rIns="0" bIns="0" rtlCol="0" anchor="ctr"/>
          <a:lstStyle/>
          <a:p>
            <a:pPr indent="0" marL="0">
              <a:buNone/>
            </a:pPr>
            <a:r>
              <a:rPr lang="en-US" sz="1800" b="1" dirty="0">
                <a:solidFill>
                  <a:schemeClr val="tx2"/>
                </a:solidFill>
              </a:rPr>
              <a:t>Adjustable rear leg</a:t>
            </a:r>
            <a:endParaRPr lang="en-US" sz="1800" dirty="0"/>
          </a:p>
        </p:txBody>
      </p:sp>
      <p:sp>
        <p:nvSpPr>
          <p:cNvPr id="35" name="Text 33"/>
          <p:cNvSpPr txBox="1"/>
          <p:nvPr/>
        </p:nvSpPr>
        <p:spPr>
          <a:xfrm>
            <a:off x="7955280" y="3063240"/>
            <a:ext cx="3685032" cy="685800"/>
          </a:xfrm>
          <a:prstGeom prst="rect">
            <a:avLst/>
          </a:prstGeom>
          <a:noFill/>
          <a:ln/>
        </p:spPr>
        <p:txBody>
          <a:bodyPr wrap="square" lIns="0" tIns="0" rIns="0" bIns="0" rtlCol="0" anchor="t"/>
          <a:lstStyle/>
          <a:p>
            <a:pPr indent="0" marL="0">
              <a:buNone/>
            </a:pPr>
            <a:r>
              <a:rPr lang="en-US" sz="1400" dirty="0">
                <a:solidFill>
                  <a:schemeClr val="tx1"/>
                </a:solidFill>
              </a:rPr>
              <a:t>Three notches set the tilt from 15° to 40°</a:t>
            </a:r>
            <a:endParaRPr lang="en-US" sz="1400" dirty="0"/>
          </a:p>
        </p:txBody>
      </p:sp>
      <p:sp>
        <p:nvSpPr>
          <p:cNvPr id="36" name="Part badge 3"/>
          <p:cNvSpPr/>
          <p:nvPr/>
        </p:nvSpPr>
        <p:spPr>
          <a:xfrm>
            <a:off x="7315200" y="3922776"/>
            <a:ext cx="457200" cy="457200"/>
          </a:xfrm>
          <a:prstGeom prst="ellipse">
            <a:avLst/>
          </a:prstGeom>
          <a:solidFill>
            <a:schemeClr val="accent2"/>
          </a:solidFill>
          <a:ln/>
        </p:spPr>
      </p:sp>
      <p:sp>
        <p:nvSpPr>
          <p:cNvPr id="37" name="Text 35"/>
          <p:cNvSpPr txBox="1"/>
          <p:nvPr/>
        </p:nvSpPr>
        <p:spPr>
          <a:xfrm>
            <a:off x="7315200" y="39227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8" name="Text 36"/>
          <p:cNvSpPr txBox="1"/>
          <p:nvPr/>
        </p:nvSpPr>
        <p:spPr>
          <a:xfrm>
            <a:off x="7955280" y="3849624"/>
            <a:ext cx="3685032" cy="365760"/>
          </a:xfrm>
          <a:prstGeom prst="rect">
            <a:avLst/>
          </a:prstGeom>
          <a:noFill/>
          <a:ln/>
        </p:spPr>
        <p:txBody>
          <a:bodyPr wrap="square" lIns="0" tIns="0" rIns="0" bIns="0" rtlCol="0" anchor="ctr"/>
          <a:lstStyle/>
          <a:p>
            <a:pPr indent="0" marL="0">
              <a:buNone/>
            </a:pPr>
            <a:r>
              <a:rPr lang="en-US" sz="1800" b="1" dirty="0">
                <a:solidFill>
                  <a:schemeClr val="tx2"/>
                </a:solidFill>
              </a:rPr>
              <a:t>Hinge joints</a:t>
            </a:r>
            <a:endParaRPr lang="en-US" sz="1800" dirty="0"/>
          </a:p>
        </p:txBody>
      </p:sp>
      <p:sp>
        <p:nvSpPr>
          <p:cNvPr id="39" name="Text 37"/>
          <p:cNvSpPr txBox="1"/>
          <p:nvPr/>
        </p:nvSpPr>
        <p:spPr>
          <a:xfrm>
            <a:off x="7955280" y="4233672"/>
            <a:ext cx="3685032" cy="685800"/>
          </a:xfrm>
          <a:prstGeom prst="rect">
            <a:avLst/>
          </a:prstGeom>
          <a:noFill/>
          <a:ln/>
        </p:spPr>
        <p:txBody>
          <a:bodyPr wrap="square" lIns="0" tIns="0" rIns="0" bIns="0" rtlCol="0" anchor="t"/>
          <a:lstStyle/>
          <a:p>
            <a:pPr indent="0" marL="0">
              <a:buNone/>
            </a:pPr>
            <a:r>
              <a:rPr lang="en-US" sz="1400" dirty="0">
                <a:solidFill>
                  <a:schemeClr val="tx1"/>
                </a:solidFill>
              </a:rPr>
              <a:t>Let the stand fold flat to about 12 mm</a:t>
            </a:r>
            <a:endParaRPr lang="en-US" sz="1400" dirty="0"/>
          </a:p>
        </p:txBody>
      </p:sp>
      <p:sp>
        <p:nvSpPr>
          <p:cNvPr id="40" name="Part badge 4"/>
          <p:cNvSpPr/>
          <p:nvPr/>
        </p:nvSpPr>
        <p:spPr>
          <a:xfrm>
            <a:off x="7315200" y="5093208"/>
            <a:ext cx="457200" cy="457200"/>
          </a:xfrm>
          <a:prstGeom prst="ellipse">
            <a:avLst/>
          </a:prstGeom>
          <a:solidFill>
            <a:schemeClr val="accent2"/>
          </a:solidFill>
          <a:ln/>
        </p:spPr>
      </p:sp>
      <p:sp>
        <p:nvSpPr>
          <p:cNvPr id="41" name="Text 39"/>
          <p:cNvSpPr txBox="1"/>
          <p:nvPr/>
        </p:nvSpPr>
        <p:spPr>
          <a:xfrm>
            <a:off x="7315200" y="5093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42" name="Text 40"/>
          <p:cNvSpPr txBox="1"/>
          <p:nvPr/>
        </p:nvSpPr>
        <p:spPr>
          <a:xfrm>
            <a:off x="7955280" y="5020056"/>
            <a:ext cx="3685032" cy="365760"/>
          </a:xfrm>
          <a:prstGeom prst="rect">
            <a:avLst/>
          </a:prstGeom>
          <a:noFill/>
          <a:ln/>
        </p:spPr>
        <p:txBody>
          <a:bodyPr wrap="square" lIns="0" tIns="0" rIns="0" bIns="0" rtlCol="0" anchor="ctr"/>
          <a:lstStyle/>
          <a:p>
            <a:pPr indent="0" marL="0">
              <a:buNone/>
            </a:pPr>
            <a:r>
              <a:rPr lang="en-US" sz="1800" b="1" dirty="0">
                <a:solidFill>
                  <a:schemeClr val="tx2"/>
                </a:solidFill>
              </a:rPr>
              <a:t>Front lip</a:t>
            </a:r>
            <a:endParaRPr lang="en-US" sz="1800" dirty="0"/>
          </a:p>
        </p:txBody>
      </p:sp>
      <p:sp>
        <p:nvSpPr>
          <p:cNvPr id="43" name="Text 41"/>
          <p:cNvSpPr txBox="1"/>
          <p:nvPr/>
        </p:nvSpPr>
        <p:spPr>
          <a:xfrm>
            <a:off x="7955280" y="5404104"/>
            <a:ext cx="3685032" cy="685800"/>
          </a:xfrm>
          <a:prstGeom prst="rect">
            <a:avLst/>
          </a:prstGeom>
          <a:noFill/>
          <a:ln/>
        </p:spPr>
        <p:txBody>
          <a:bodyPr wrap="square" lIns="0" tIns="0" rIns="0" bIns="0" rtlCol="0" anchor="t"/>
          <a:lstStyle/>
          <a:p>
            <a:pPr indent="0" marL="0">
              <a:buNone/>
            </a:pPr>
            <a:r>
              <a:rPr lang="en-US" sz="1400" dirty="0">
                <a:solidFill>
                  <a:schemeClr val="tx1"/>
                </a:solidFill>
              </a:rPr>
              <a:t>Stops the laptop sliding; rounded to protect users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Modelling the tray as a beam</a:t>
            </a:r>
            <a:endParaRPr lang="en-US" sz="3400" dirty="0"/>
          </a:p>
        </p:txBody>
      </p:sp>
      <p:sp>
        <p:nvSpPr>
          <p:cNvPr id="3" name="FBD panel"/>
          <p:cNvSpPr/>
          <p:nvPr/>
        </p:nvSpPr>
        <p:spPr>
          <a:xfrm>
            <a:off x="548640" y="1508760"/>
            <a:ext cx="5669280" cy="2788920"/>
          </a:xfrm>
          <a:prstGeom prst="roundRect">
            <a:avLst>
              <a:gd name="adj" fmla="val 3934"/>
            </a:avLst>
          </a:prstGeom>
          <a:solidFill>
            <a:schemeClr val="bg2"/>
          </a:solidFill>
          <a:ln/>
        </p:spPr>
      </p:sp>
      <p:sp>
        <p:nvSpPr>
          <p:cNvPr id="4" name="Beam"/>
          <p:cNvSpPr/>
          <p:nvPr/>
        </p:nvSpPr>
        <p:spPr>
          <a:xfrm>
            <a:off x="1097280" y="3364992"/>
            <a:ext cx="4572000" cy="128016"/>
          </a:xfrm>
          <a:prstGeom prst="rect">
            <a:avLst/>
          </a:prstGeom>
          <a:solidFill>
            <a:schemeClr val="tx2"/>
          </a:solidFill>
          <a:ln/>
        </p:spPr>
      </p:sp>
      <p:sp>
        <p:nvSpPr>
          <p:cNvPr id="5" name="Pin support"/>
          <p:cNvSpPr/>
          <p:nvPr/>
        </p:nvSpPr>
        <p:spPr>
          <a:xfrm>
            <a:off x="914400" y="3493008"/>
            <a:ext cx="365760" cy="320040"/>
          </a:xfrm>
          <a:prstGeom prst="triangle">
            <a:avLst/>
          </a:prstGeom>
          <a:solidFill>
            <a:schemeClr val="accent4"/>
          </a:solidFill>
          <a:ln/>
        </p:spPr>
      </p:sp>
      <p:sp>
        <p:nvSpPr>
          <p:cNvPr id="6" name="Roller support"/>
          <p:cNvSpPr/>
          <p:nvPr/>
        </p:nvSpPr>
        <p:spPr>
          <a:xfrm>
            <a:off x="5504688" y="3493008"/>
            <a:ext cx="329184" cy="329184"/>
          </a:xfrm>
          <a:prstGeom prst="ellipse">
            <a:avLst/>
          </a:prstGeom>
          <a:solidFill>
            <a:schemeClr val="accent4"/>
          </a:solidFill>
          <a:ln/>
        </p:spPr>
      </p:sp>
      <p:sp>
        <p:nvSpPr>
          <p:cNvPr id="7" name="Load arrow"/>
          <p:cNvSpPr/>
          <p:nvPr/>
        </p:nvSpPr>
        <p:spPr>
          <a:xfrm>
            <a:off x="3383280" y="2011680"/>
            <a:ext cx="0" cy="1280160"/>
          </a:xfrm>
          <a:prstGeom prst="line">
            <a:avLst/>
          </a:prstGeom>
          <a:noFill/>
          <a:ln w="38100">
            <a:solidFill>
              <a:srgbClr val="D64B4B"/>
            </a:solidFill>
            <a:prstDash val="solid"/>
            <a:tailEnd type="triangle"/>
          </a:ln>
        </p:spPr>
      </p:sp>
      <p:sp>
        <p:nvSpPr>
          <p:cNvPr id="8" name="Text 6"/>
          <p:cNvSpPr txBox="1"/>
          <p:nvPr/>
        </p:nvSpPr>
        <p:spPr>
          <a:xfrm>
            <a:off x="1737360" y="1645920"/>
            <a:ext cx="3291840" cy="320040"/>
          </a:xfrm>
          <a:prstGeom prst="rect">
            <a:avLst/>
          </a:prstGeom>
          <a:noFill/>
          <a:ln/>
        </p:spPr>
        <p:txBody>
          <a:bodyPr wrap="square" lIns="0" tIns="0" rIns="0" bIns="0" rtlCol="0" anchor="ctr"/>
          <a:lstStyle/>
          <a:p>
            <a:pPr algn="ctr" indent="0" marL="0">
              <a:buNone/>
            </a:pPr>
            <a:r>
              <a:rPr lang="en-US" sz="1400" b="1" dirty="0">
                <a:solidFill>
                  <a:schemeClr val="accent5"/>
                </a:solidFill>
              </a:rPr>
              <a:t>F = 49 N  (5 kg design load)</a:t>
            </a:r>
            <a:endParaRPr lang="en-US" sz="1400" dirty="0"/>
          </a:p>
        </p:txBody>
      </p:sp>
      <p:sp>
        <p:nvSpPr>
          <p:cNvPr id="9" name="Span dimension"/>
          <p:cNvSpPr/>
          <p:nvPr/>
        </p:nvSpPr>
        <p:spPr>
          <a:xfrm>
            <a:off x="1097280" y="3977640"/>
            <a:ext cx="4572000" cy="0"/>
          </a:xfrm>
          <a:prstGeom prst="line">
            <a:avLst/>
          </a:prstGeom>
          <a:noFill/>
          <a:ln w="15875">
            <a:solidFill>
              <a:srgbClr val="5B6773"/>
            </a:solidFill>
            <a:prstDash val="solid"/>
            <a:headEnd type="triangle"/>
            <a:tailEnd type="triangle"/>
          </a:ln>
        </p:spPr>
      </p:sp>
      <p:sp>
        <p:nvSpPr>
          <p:cNvPr id="10" name="Text 8"/>
          <p:cNvSpPr txBox="1"/>
          <p:nvPr/>
        </p:nvSpPr>
        <p:spPr>
          <a:xfrm>
            <a:off x="1097280" y="4005072"/>
            <a:ext cx="4572000" cy="274320"/>
          </a:xfrm>
          <a:prstGeom prst="rect">
            <a:avLst/>
          </a:prstGeom>
          <a:noFill/>
          <a:ln/>
        </p:spPr>
        <p:txBody>
          <a:bodyPr wrap="square" lIns="0" tIns="0" rIns="0" bIns="0" rtlCol="0" anchor="ctr"/>
          <a:lstStyle/>
          <a:p>
            <a:pPr algn="ctr" indent="0" marL="0">
              <a:buNone/>
            </a:pPr>
            <a:r>
              <a:rPr lang="en-US" sz="1400" dirty="0">
                <a:solidFill>
                  <a:schemeClr val="accent4"/>
                </a:solidFill>
              </a:rPr>
              <a:t>L = 250 mm</a:t>
            </a:r>
            <a:endParaRPr lang="en-US" sz="1400" dirty="0"/>
          </a:p>
        </p:txBody>
      </p:sp>
      <p:sp>
        <p:nvSpPr>
          <p:cNvPr id="11" name="Equation panel"/>
          <p:cNvSpPr/>
          <p:nvPr/>
        </p:nvSpPr>
        <p:spPr>
          <a:xfrm>
            <a:off x="548640" y="4526280"/>
            <a:ext cx="5669280" cy="1554480"/>
          </a:xfrm>
          <a:prstGeom prst="roundRect">
            <a:avLst>
              <a:gd name="adj" fmla="val 7059"/>
            </a:avLst>
          </a:prstGeom>
          <a:solidFill>
            <a:schemeClr val="tx2"/>
          </a:solidFill>
          <a:ln/>
        </p:spPr>
      </p:sp>
      <p:sp>
        <p:nvSpPr>
          <p:cNvPr id="12" name="Text 10"/>
          <p:cNvSpPr txBox="1"/>
          <p:nvPr/>
        </p:nvSpPr>
        <p:spPr>
          <a:xfrm>
            <a:off x="822960" y="4617720"/>
            <a:ext cx="5212080" cy="1371600"/>
          </a:xfrm>
          <a:prstGeom prst="rect">
            <a:avLst/>
          </a:prstGeom>
          <a:noFill/>
          <a:ln/>
        </p:spPr>
        <p:txBody>
          <a:bodyPr wrap="square" lIns="0" tIns="0" rIns="0" bIns="0" rtlCol="0" anchor="ctr"/>
          <a:lstStyle/>
          <a:p>
            <a:pPr indent="0" marL="0">
              <a:spcAft>
                <a:spcPts val="800"/>
              </a:spcAft>
              <a:buNone/>
            </a:pPr>
            <a:r>
              <a:rPr lang="en-US" sz="1800" i="1" dirty="0">
                <a:solidFill>
                  <a:schemeClr val="bg1"/>
                </a:solidFill>
                <a:latin typeface="Cambria" pitchFamily="34" charset="0"/>
                <a:ea typeface="Cambria" pitchFamily="34" charset="-122"/>
                <a:cs typeface="Cambria" pitchFamily="34" charset="-120"/>
              </a:rPr>
              <a:t>M = F·L / 4          σ = M·c / I          I = b·t³ / 12</a:t>
            </a:r>
            <a:endParaRPr lang="en-US" sz="1800" dirty="0"/>
          </a:p>
          <a:p>
            <a:pPr indent="0" marL="0">
              <a:spcAft>
                <a:spcPts val="800"/>
              </a:spcAft>
              <a:buNone/>
            </a:pPr>
            <a:r>
              <a:rPr lang="en-US" sz="1800" i="1" dirty="0">
                <a:solidFill>
                  <a:schemeClr val="bg1"/>
                </a:solidFill>
                <a:latin typeface="Cambria" pitchFamily="34" charset="0"/>
                <a:ea typeface="Cambria" pitchFamily="34" charset="-122"/>
                <a:cs typeface="Cambria" pitchFamily="34" charset="-120"/>
              </a:rPr>
              <a:t>δ = F·L³ / (48·E·I)          FoS = σ</a:t>
            </a:r>
            <a:pPr indent="0" marL="0">
              <a:spcAft>
                <a:spcPts val="800"/>
              </a:spcAft>
              <a:buNone/>
            </a:pPr>
            <a:r>
              <a:rPr lang="en-US" sz="1800" i="1" baseline="-40000" dirty="0">
                <a:solidFill>
                  <a:schemeClr val="bg1"/>
                </a:solidFill>
                <a:latin typeface="Cambria" pitchFamily="34" charset="0"/>
                <a:ea typeface="Cambria" pitchFamily="34" charset="-122"/>
                <a:cs typeface="Cambria" pitchFamily="34" charset="-120"/>
              </a:rPr>
              <a:t>y</a:t>
            </a:r>
            <a:pPr indent="0" marL="0">
              <a:spcAft>
                <a:spcPts val="800"/>
              </a:spcAft>
              <a:buNone/>
            </a:pPr>
            <a:r>
              <a:rPr lang="en-US" sz="1800" i="1" dirty="0">
                <a:solidFill>
                  <a:schemeClr val="bg1"/>
                </a:solidFill>
                <a:latin typeface="Cambria" pitchFamily="34" charset="0"/>
                <a:ea typeface="Cambria" pitchFamily="34" charset="-122"/>
                <a:cs typeface="Cambria" pitchFamily="34" charset="-120"/>
              </a:rPr>
              <a:t> / σ</a:t>
            </a:r>
            <a:endParaRPr lang="en-US" sz="1800" dirty="0"/>
          </a:p>
        </p:txBody>
      </p:sp>
      <p:sp>
        <p:nvSpPr>
          <p:cNvPr id="13" name="Text 11"/>
          <p:cNvSpPr txBox="1"/>
          <p:nvPr/>
        </p:nvSpPr>
        <p:spPr>
          <a:xfrm>
            <a:off x="6492240" y="1508760"/>
            <a:ext cx="512064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ASSUMPTIONS</a:t>
            </a:r>
            <a:endParaRPr lang="en-US" sz="1200" dirty="0"/>
          </a:p>
        </p:txBody>
      </p:sp>
      <p:sp>
        <p:nvSpPr>
          <p:cNvPr id="14" name="Text 12"/>
          <p:cNvSpPr txBox="1"/>
          <p:nvPr/>
        </p:nvSpPr>
        <p:spPr>
          <a:xfrm>
            <a:off x="6492240" y="1828800"/>
            <a:ext cx="5148072" cy="1417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Material: Al 6061-T6 — E = 68.9 GPa, σy = 276 MPa</a:t>
            </a:r>
            <a:endParaRPr lang="en-US" sz="1400" dirty="0"/>
          </a:p>
          <a:p>
            <a:pPr marL="342900" indent="-342900">
              <a:spcAft>
                <a:spcPts val="600"/>
              </a:spcAft>
              <a:buSzPct val="100000"/>
              <a:buChar char="•"/>
            </a:pPr>
            <a:r>
              <a:rPr lang="en-US" sz="1400" dirty="0">
                <a:solidFill>
                  <a:schemeClr val="tx1"/>
                </a:solidFill>
              </a:rPr>
              <a:t>Tray: b = 250 mm wide, t = 2 mm thick</a:t>
            </a:r>
            <a:endParaRPr lang="en-US" sz="1400" dirty="0"/>
          </a:p>
          <a:p>
            <a:pPr marL="342900" indent="-342900">
              <a:spcAft>
                <a:spcPts val="600"/>
              </a:spcAft>
              <a:buSzPct val="100000"/>
              <a:buChar char="•"/>
            </a:pPr>
            <a:r>
              <a:rPr lang="en-US" sz="1400" dirty="0">
                <a:solidFill>
                  <a:schemeClr val="tx1"/>
                </a:solidFill>
              </a:rPr>
              <a:t>Static load, linear-elastic, small deflection</a:t>
            </a:r>
            <a:endParaRPr lang="en-US" sz="1400" dirty="0"/>
          </a:p>
        </p:txBody>
      </p:sp>
      <p:sp>
        <p:nvSpPr>
          <p:cNvPr id="15" name="Result card 1"/>
          <p:cNvSpPr/>
          <p:nvPr/>
        </p:nvSpPr>
        <p:spPr>
          <a:xfrm>
            <a:off x="6492240" y="3429000"/>
            <a:ext cx="5148072" cy="777240"/>
          </a:xfrm>
          <a:prstGeom prst="roundRect">
            <a:avLst>
              <a:gd name="adj" fmla="val 11765"/>
            </a:avLst>
          </a:prstGeom>
          <a:solidFill>
            <a:schemeClr val="bg2"/>
          </a:solidFill>
          <a:ln/>
        </p:spPr>
      </p:sp>
      <p:sp>
        <p:nvSpPr>
          <p:cNvPr id="16" name="Text 14"/>
          <p:cNvSpPr txBox="1"/>
          <p:nvPr/>
        </p:nvSpPr>
        <p:spPr>
          <a:xfrm>
            <a:off x="6675120" y="3429000"/>
            <a:ext cx="2011680" cy="77724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18.4 MPa</a:t>
            </a:r>
            <a:endParaRPr lang="en-US" sz="2800" dirty="0"/>
          </a:p>
        </p:txBody>
      </p:sp>
      <p:sp>
        <p:nvSpPr>
          <p:cNvPr id="17" name="Text 15"/>
          <p:cNvSpPr txBox="1"/>
          <p:nvPr/>
        </p:nvSpPr>
        <p:spPr>
          <a:xfrm>
            <a:off x="8732520" y="3429000"/>
            <a:ext cx="2834640" cy="777240"/>
          </a:xfrm>
          <a:prstGeom prst="rect">
            <a:avLst/>
          </a:prstGeom>
          <a:noFill/>
          <a:ln/>
        </p:spPr>
        <p:txBody>
          <a:bodyPr wrap="square" lIns="0" tIns="0" rIns="0" bIns="0" rtlCol="0" anchor="ctr"/>
          <a:lstStyle/>
          <a:p>
            <a:pPr indent="0" marL="0">
              <a:buNone/>
            </a:pPr>
            <a:r>
              <a:rPr lang="en-US" sz="1400" dirty="0">
                <a:solidFill>
                  <a:schemeClr val="tx1"/>
                </a:solidFill>
              </a:rPr>
              <a:t>Peak bending stress σ</a:t>
            </a:r>
            <a:endParaRPr lang="en-US" sz="1400" dirty="0"/>
          </a:p>
        </p:txBody>
      </p:sp>
      <p:sp>
        <p:nvSpPr>
          <p:cNvPr id="18" name="Result card 2"/>
          <p:cNvSpPr/>
          <p:nvPr/>
        </p:nvSpPr>
        <p:spPr>
          <a:xfrm>
            <a:off x="6492240" y="4343400"/>
            <a:ext cx="5148072" cy="777240"/>
          </a:xfrm>
          <a:prstGeom prst="roundRect">
            <a:avLst>
              <a:gd name="adj" fmla="val 11765"/>
            </a:avLst>
          </a:prstGeom>
          <a:solidFill>
            <a:schemeClr val="bg2"/>
          </a:solidFill>
          <a:ln/>
        </p:spPr>
      </p:sp>
      <p:sp>
        <p:nvSpPr>
          <p:cNvPr id="19" name="Text 17"/>
          <p:cNvSpPr txBox="1"/>
          <p:nvPr/>
        </p:nvSpPr>
        <p:spPr>
          <a:xfrm>
            <a:off x="6675120" y="4343400"/>
            <a:ext cx="2011680" cy="77724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15</a:t>
            </a:r>
            <a:endParaRPr lang="en-US" sz="2800" dirty="0"/>
          </a:p>
        </p:txBody>
      </p:sp>
      <p:sp>
        <p:nvSpPr>
          <p:cNvPr id="20" name="Text 18"/>
          <p:cNvSpPr txBox="1"/>
          <p:nvPr/>
        </p:nvSpPr>
        <p:spPr>
          <a:xfrm>
            <a:off x="8732520" y="4343400"/>
            <a:ext cx="2834640" cy="777240"/>
          </a:xfrm>
          <a:prstGeom prst="rect">
            <a:avLst/>
          </a:prstGeom>
          <a:noFill/>
          <a:ln/>
        </p:spPr>
        <p:txBody>
          <a:bodyPr wrap="square" lIns="0" tIns="0" rIns="0" bIns="0" rtlCol="0" anchor="ctr"/>
          <a:lstStyle/>
          <a:p>
            <a:pPr indent="0" marL="0">
              <a:buNone/>
            </a:pPr>
            <a:r>
              <a:rPr lang="en-US" sz="1400" dirty="0">
                <a:solidFill>
                  <a:schemeClr val="tx1"/>
                </a:solidFill>
              </a:rPr>
              <a:t>Factor of safety (target ≥ 3)</a:t>
            </a:r>
            <a:endParaRPr lang="en-US" sz="1400" dirty="0"/>
          </a:p>
        </p:txBody>
      </p:sp>
      <p:sp>
        <p:nvSpPr>
          <p:cNvPr id="21" name="Result card 3"/>
          <p:cNvSpPr/>
          <p:nvPr/>
        </p:nvSpPr>
        <p:spPr>
          <a:xfrm>
            <a:off x="6492240" y="5257800"/>
            <a:ext cx="5148072" cy="777240"/>
          </a:xfrm>
          <a:prstGeom prst="roundRect">
            <a:avLst>
              <a:gd name="adj" fmla="val 11765"/>
            </a:avLst>
          </a:prstGeom>
          <a:solidFill>
            <a:schemeClr val="bg2"/>
          </a:solidFill>
          <a:ln/>
        </p:spPr>
      </p:sp>
      <p:sp>
        <p:nvSpPr>
          <p:cNvPr id="22" name="Text 20"/>
          <p:cNvSpPr txBox="1"/>
          <p:nvPr/>
        </p:nvSpPr>
        <p:spPr>
          <a:xfrm>
            <a:off x="6675120" y="5257800"/>
            <a:ext cx="2011680" cy="777240"/>
          </a:xfrm>
          <a:prstGeom prst="rect">
            <a:avLst/>
          </a:prstGeom>
          <a:noFill/>
          <a:ln/>
        </p:spPr>
        <p:txBody>
          <a:bodyPr wrap="square" lIns="0" tIns="0" rIns="0" bIns="0" rtlCol="0" anchor="ctr"/>
          <a:lstStyle/>
          <a:p>
            <a:pPr indent="0" marL="0">
              <a:buNone/>
            </a:pPr>
            <a:r>
              <a:rPr lang="en-US" sz="2800" b="1" dirty="0">
                <a:solidFill>
                  <a:schemeClr val="accent2"/>
                </a:solidFill>
                <a:latin typeface="Cambria" pitchFamily="34" charset="0"/>
                <a:ea typeface="Cambria" pitchFamily="34" charset="-122"/>
                <a:cs typeface="Cambria" pitchFamily="34" charset="-120"/>
              </a:rPr>
              <a:t>1.39 mm</a:t>
            </a:r>
            <a:endParaRPr lang="en-US" sz="2800" dirty="0"/>
          </a:p>
        </p:txBody>
      </p:sp>
      <p:sp>
        <p:nvSpPr>
          <p:cNvPr id="23" name="Text 21"/>
          <p:cNvSpPr txBox="1"/>
          <p:nvPr/>
        </p:nvSpPr>
        <p:spPr>
          <a:xfrm>
            <a:off x="8732520" y="5257800"/>
            <a:ext cx="2834640" cy="777240"/>
          </a:xfrm>
          <a:prstGeom prst="rect">
            <a:avLst/>
          </a:prstGeom>
          <a:noFill/>
          <a:ln/>
        </p:spPr>
        <p:txBody>
          <a:bodyPr wrap="square" lIns="0" tIns="0" rIns="0" bIns="0" rtlCol="0" anchor="ctr"/>
          <a:lstStyle/>
          <a:p>
            <a:pPr indent="0" marL="0">
              <a:buNone/>
            </a:pPr>
            <a:r>
              <a:rPr lang="en-US" sz="1400" dirty="0">
                <a:solidFill>
                  <a:schemeClr val="tx1"/>
                </a:solidFill>
              </a:rPr>
              <a:t>Mid-span deflection δ (limit 1.5 mm)</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Stiffness, not strength, sets the thickness</a:t>
            </a:r>
            <a:endParaRPr lang="en-US" sz="3400" dirty="0"/>
          </a:p>
        </p:txBody>
      </p:sp>
      <p:graphicFrame>
        <p:nvGraphicFramePr>
          <p:cNvPr id="3" name="Chart 0" descr=""/>
          <p:cNvGraphicFramePr/>
          <p:nvPr/>
        </p:nvGraphicFramePr>
        <p:xfrm>
          <a:off x="548640" y="141732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4" name="Insight card 1"/>
          <p:cNvSpPr/>
          <p:nvPr/>
        </p:nvSpPr>
        <p:spPr>
          <a:xfrm>
            <a:off x="7589520" y="1508760"/>
            <a:ext cx="4050792" cy="1371600"/>
          </a:xfrm>
          <a:prstGeom prst="roundRect">
            <a:avLst>
              <a:gd name="adj" fmla="val 8000"/>
            </a:avLst>
          </a:prstGeom>
          <a:solidFill>
            <a:schemeClr val="bg2"/>
          </a:solidFill>
          <a:ln/>
        </p:spPr>
      </p:sp>
      <p:sp>
        <p:nvSpPr>
          <p:cNvPr id="5" name="Insight icon circle 1"/>
          <p:cNvSpPr/>
          <p:nvPr/>
        </p:nvSpPr>
        <p:spPr>
          <a:xfrm>
            <a:off x="7772400" y="1691640"/>
            <a:ext cx="548640" cy="548640"/>
          </a:xfrm>
          <a:prstGeom prst="ellipse">
            <a:avLst/>
          </a:prstGeom>
          <a:solidFill>
            <a:schemeClr val="accent2"/>
          </a:solidFill>
          <a:ln/>
        </p:spPr>
      </p:sp>
      <p:pic>
        <p:nvPicPr>
          <p:cNvPr id="6" name="Image 0" descr="Strength is easy icon">    </p:cNvPr>
          <p:cNvPicPr>
            <a:picLocks noChangeAspect="1"/>
          </p:cNvPicPr>
          <p:nvPr/>
        </p:nvPicPr>
        <p:blipFill>
          <a:blip r:embed="rId2"/>
          <a:stretch>
            <a:fillRect/>
          </a:stretch>
        </p:blipFill>
        <p:spPr>
          <a:xfrm>
            <a:off x="7909560" y="1828800"/>
            <a:ext cx="274320" cy="274320"/>
          </a:xfrm>
          <a:prstGeom prst="rect">
            <a:avLst/>
          </a:prstGeom>
        </p:spPr>
      </p:pic>
      <p:sp>
        <p:nvSpPr>
          <p:cNvPr id="7" name="Text 3"/>
          <p:cNvSpPr txBox="1"/>
          <p:nvPr/>
        </p:nvSpPr>
        <p:spPr>
          <a:xfrm>
            <a:off x="8503920" y="1673352"/>
            <a:ext cx="3017520" cy="411480"/>
          </a:xfrm>
          <a:prstGeom prst="rect">
            <a:avLst/>
          </a:prstGeom>
          <a:noFill/>
          <a:ln/>
        </p:spPr>
        <p:txBody>
          <a:bodyPr wrap="square" lIns="0" tIns="0" rIns="0" bIns="0" rtlCol="0" anchor="ctr"/>
          <a:lstStyle/>
          <a:p>
            <a:pPr indent="0" marL="0">
              <a:buNone/>
            </a:pPr>
            <a:r>
              <a:rPr lang="en-US" sz="1800" b="1" dirty="0">
                <a:solidFill>
                  <a:schemeClr val="tx2"/>
                </a:solidFill>
              </a:rPr>
              <a:t>Strength is easy</a:t>
            </a:r>
            <a:endParaRPr lang="en-US" sz="1800" dirty="0"/>
          </a:p>
        </p:txBody>
      </p:sp>
      <p:sp>
        <p:nvSpPr>
          <p:cNvPr id="8" name="Text 4"/>
          <p:cNvSpPr txBox="1"/>
          <p:nvPr/>
        </p:nvSpPr>
        <p:spPr>
          <a:xfrm>
            <a:off x="7772400" y="2258568"/>
            <a:ext cx="3749040" cy="594360"/>
          </a:xfrm>
          <a:prstGeom prst="rect">
            <a:avLst/>
          </a:prstGeom>
          <a:noFill/>
          <a:ln/>
        </p:spPr>
        <p:txBody>
          <a:bodyPr wrap="square" lIns="0" tIns="0" rIns="0" bIns="0" rtlCol="0" anchor="t"/>
          <a:lstStyle/>
          <a:p>
            <a:pPr indent="0" marL="0">
              <a:buNone/>
            </a:pPr>
            <a:r>
              <a:rPr lang="en-US" sz="1400" dirty="0">
                <a:solidFill>
                  <a:schemeClr val="tx1"/>
                </a:solidFill>
              </a:rPr>
              <a:t>At 2 mm the stress is only 18 MPa — factor of safety 15.</a:t>
            </a:r>
            <a:endParaRPr lang="en-US" sz="1400" dirty="0"/>
          </a:p>
        </p:txBody>
      </p:sp>
      <p:sp>
        <p:nvSpPr>
          <p:cNvPr id="9" name="Insight card 2"/>
          <p:cNvSpPr/>
          <p:nvPr/>
        </p:nvSpPr>
        <p:spPr>
          <a:xfrm>
            <a:off x="7589520" y="3063240"/>
            <a:ext cx="4050792" cy="1371600"/>
          </a:xfrm>
          <a:prstGeom prst="roundRect">
            <a:avLst>
              <a:gd name="adj" fmla="val 8000"/>
            </a:avLst>
          </a:prstGeom>
          <a:solidFill>
            <a:schemeClr val="bg2"/>
          </a:solidFill>
          <a:ln/>
        </p:spPr>
      </p:sp>
      <p:sp>
        <p:nvSpPr>
          <p:cNvPr id="10" name="Insight icon circle 2"/>
          <p:cNvSpPr/>
          <p:nvPr/>
        </p:nvSpPr>
        <p:spPr>
          <a:xfrm>
            <a:off x="7772400" y="3246120"/>
            <a:ext cx="548640" cy="548640"/>
          </a:xfrm>
          <a:prstGeom prst="ellipse">
            <a:avLst/>
          </a:prstGeom>
          <a:solidFill>
            <a:schemeClr val="accent2"/>
          </a:solidFill>
          <a:ln/>
        </p:spPr>
      </p:sp>
      <p:pic>
        <p:nvPicPr>
          <p:cNvPr id="11" name="Image 1" descr="Stiffness is the limit icon">    </p:cNvPr>
          <p:cNvPicPr>
            <a:picLocks noChangeAspect="1"/>
          </p:cNvPicPr>
          <p:nvPr/>
        </p:nvPicPr>
        <p:blipFill>
          <a:blip r:embed="rId3"/>
          <a:stretch>
            <a:fillRect/>
          </a:stretch>
        </p:blipFill>
        <p:spPr>
          <a:xfrm>
            <a:off x="7909560" y="3383280"/>
            <a:ext cx="274320" cy="274320"/>
          </a:xfrm>
          <a:prstGeom prst="rect">
            <a:avLst/>
          </a:prstGeom>
        </p:spPr>
      </p:pic>
      <p:sp>
        <p:nvSpPr>
          <p:cNvPr id="12" name="Text 7"/>
          <p:cNvSpPr txBox="1"/>
          <p:nvPr/>
        </p:nvSpPr>
        <p:spPr>
          <a:xfrm>
            <a:off x="8503920" y="3227832"/>
            <a:ext cx="3017520" cy="411480"/>
          </a:xfrm>
          <a:prstGeom prst="rect">
            <a:avLst/>
          </a:prstGeom>
          <a:noFill/>
          <a:ln/>
        </p:spPr>
        <p:txBody>
          <a:bodyPr wrap="square" lIns="0" tIns="0" rIns="0" bIns="0" rtlCol="0" anchor="ctr"/>
          <a:lstStyle/>
          <a:p>
            <a:pPr indent="0" marL="0">
              <a:buNone/>
            </a:pPr>
            <a:r>
              <a:rPr lang="en-US" sz="1800" b="1" dirty="0">
                <a:solidFill>
                  <a:schemeClr val="tx2"/>
                </a:solidFill>
              </a:rPr>
              <a:t>Stiffness is the limit</a:t>
            </a:r>
            <a:endParaRPr lang="en-US" sz="1800" dirty="0"/>
          </a:p>
        </p:txBody>
      </p:sp>
      <p:sp>
        <p:nvSpPr>
          <p:cNvPr id="13" name="Text 8"/>
          <p:cNvSpPr txBox="1"/>
          <p:nvPr/>
        </p:nvSpPr>
        <p:spPr>
          <a:xfrm>
            <a:off x="7772400" y="3813048"/>
            <a:ext cx="3749040" cy="594360"/>
          </a:xfrm>
          <a:prstGeom prst="rect">
            <a:avLst/>
          </a:prstGeom>
          <a:noFill/>
          <a:ln/>
        </p:spPr>
        <p:txBody>
          <a:bodyPr wrap="square" lIns="0" tIns="0" rIns="0" bIns="0" rtlCol="0" anchor="t"/>
          <a:lstStyle/>
          <a:p>
            <a:pPr indent="0" marL="0">
              <a:buNone/>
            </a:pPr>
            <a:r>
              <a:rPr lang="en-US" sz="1400" dirty="0">
                <a:solidFill>
                  <a:schemeClr val="tx1"/>
                </a:solidFill>
              </a:rPr>
              <a:t>Deflection scales as 1/t³: 2 mm gives 1.4 mm, just under the 1.5 mm limit.</a:t>
            </a:r>
            <a:endParaRPr lang="en-US" sz="1400" dirty="0"/>
          </a:p>
        </p:txBody>
      </p:sp>
      <p:sp>
        <p:nvSpPr>
          <p:cNvPr id="14" name="Insight card 3"/>
          <p:cNvSpPr/>
          <p:nvPr/>
        </p:nvSpPr>
        <p:spPr>
          <a:xfrm>
            <a:off x="7589520" y="4617720"/>
            <a:ext cx="4050792" cy="1371600"/>
          </a:xfrm>
          <a:prstGeom prst="roundRect">
            <a:avLst>
              <a:gd name="adj" fmla="val 8000"/>
            </a:avLst>
          </a:prstGeom>
          <a:solidFill>
            <a:schemeClr val="bg2"/>
          </a:solidFill>
          <a:ln/>
        </p:spPr>
      </p:sp>
      <p:sp>
        <p:nvSpPr>
          <p:cNvPr id="15" name="Insight icon circle 3"/>
          <p:cNvSpPr/>
          <p:nvPr/>
        </p:nvSpPr>
        <p:spPr>
          <a:xfrm>
            <a:off x="7772400" y="4800600"/>
            <a:ext cx="548640" cy="548640"/>
          </a:xfrm>
          <a:prstGeom prst="ellipse">
            <a:avLst/>
          </a:prstGeom>
          <a:solidFill>
            <a:schemeClr val="accent2"/>
          </a:solidFill>
          <a:ln/>
        </p:spPr>
      </p:sp>
      <p:pic>
        <p:nvPicPr>
          <p:cNvPr id="16" name="Image 2" descr="Mass scales linearly icon">    </p:cNvPr>
          <p:cNvPicPr>
            <a:picLocks noChangeAspect="1"/>
          </p:cNvPicPr>
          <p:nvPr/>
        </p:nvPicPr>
        <p:blipFill>
          <a:blip r:embed="rId4"/>
          <a:stretch>
            <a:fillRect/>
          </a:stretch>
        </p:blipFill>
        <p:spPr>
          <a:xfrm>
            <a:off x="7909560" y="4937760"/>
            <a:ext cx="274320" cy="274320"/>
          </a:xfrm>
          <a:prstGeom prst="rect">
            <a:avLst/>
          </a:prstGeom>
        </p:spPr>
      </p:pic>
      <p:sp>
        <p:nvSpPr>
          <p:cNvPr id="17" name="Text 11"/>
          <p:cNvSpPr txBox="1"/>
          <p:nvPr/>
        </p:nvSpPr>
        <p:spPr>
          <a:xfrm>
            <a:off x="8503920" y="4782312"/>
            <a:ext cx="3017520" cy="411480"/>
          </a:xfrm>
          <a:prstGeom prst="rect">
            <a:avLst/>
          </a:prstGeom>
          <a:noFill/>
          <a:ln/>
        </p:spPr>
        <p:txBody>
          <a:bodyPr wrap="square" lIns="0" tIns="0" rIns="0" bIns="0" rtlCol="0" anchor="ctr"/>
          <a:lstStyle/>
          <a:p>
            <a:pPr indent="0" marL="0">
              <a:buNone/>
            </a:pPr>
            <a:r>
              <a:rPr lang="en-US" sz="1800" b="1" dirty="0">
                <a:solidFill>
                  <a:schemeClr val="tx2"/>
                </a:solidFill>
              </a:rPr>
              <a:t>Mass scales linearly</a:t>
            </a:r>
            <a:endParaRPr lang="en-US" sz="1800" dirty="0"/>
          </a:p>
        </p:txBody>
      </p:sp>
      <p:sp>
        <p:nvSpPr>
          <p:cNvPr id="18" name="Text 12"/>
          <p:cNvSpPr txBox="1"/>
          <p:nvPr/>
        </p:nvSpPr>
        <p:spPr>
          <a:xfrm>
            <a:off x="7772400" y="5367528"/>
            <a:ext cx="3749040" cy="594360"/>
          </a:xfrm>
          <a:prstGeom prst="rect">
            <a:avLst/>
          </a:prstGeom>
          <a:noFill/>
          <a:ln/>
        </p:spPr>
        <p:txBody>
          <a:bodyPr wrap="square" lIns="0" tIns="0" rIns="0" bIns="0" rtlCol="0" anchor="t"/>
          <a:lstStyle/>
          <a:p>
            <a:pPr indent="0" marL="0">
              <a:buNone/>
            </a:pPr>
            <a:r>
              <a:rPr lang="en-US" sz="1400" dirty="0">
                <a:solidFill>
                  <a:schemeClr val="tx1"/>
                </a:solidFill>
              </a:rPr>
              <a:t>Thicker is 8× stiffer per doubling, but only 2× heavier — so we stop at the limit.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Parametric CAD and FEA validation</a:t>
            </a:r>
            <a:endParaRPr lang="en-US" sz="3400" dirty="0"/>
          </a:p>
        </p:txBody>
      </p:sp>
      <p:sp>
        <p:nvSpPr>
          <p:cNvPr id="3" name="Workflow card 1"/>
          <p:cNvSpPr/>
          <p:nvPr/>
        </p:nvSpPr>
        <p:spPr>
          <a:xfrm>
            <a:off x="548640" y="1508760"/>
            <a:ext cx="2377440" cy="1600200"/>
          </a:xfrm>
          <a:prstGeom prst="roundRect">
            <a:avLst>
              <a:gd name="adj" fmla="val 6857"/>
            </a:avLst>
          </a:prstGeom>
          <a:solidFill>
            <a:schemeClr val="bg2"/>
          </a:solidFill>
          <a:ln/>
        </p:spPr>
      </p:sp>
      <p:sp>
        <p:nvSpPr>
          <p:cNvPr id="4" name="Text 2"/>
          <p:cNvSpPr txBox="1"/>
          <p:nvPr/>
        </p:nvSpPr>
        <p:spPr>
          <a:xfrm>
            <a:off x="731520" y="1600200"/>
            <a:ext cx="457200" cy="45720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1234440" y="1600200"/>
            <a:ext cx="1508760" cy="457200"/>
          </a:xfrm>
          <a:prstGeom prst="rect">
            <a:avLst/>
          </a:prstGeom>
          <a:noFill/>
          <a:ln/>
        </p:spPr>
        <p:txBody>
          <a:bodyPr wrap="square" lIns="0" tIns="0" rIns="0" bIns="0" rtlCol="0" anchor="ctr"/>
          <a:lstStyle/>
          <a:p>
            <a:pPr indent="0" marL="0">
              <a:buNone/>
            </a:pPr>
            <a:r>
              <a:rPr lang="en-US" sz="1800" b="1" dirty="0">
                <a:solidFill>
                  <a:schemeClr val="tx2"/>
                </a:solidFill>
              </a:rPr>
              <a:t>Sketch</a:t>
            </a:r>
            <a:endParaRPr lang="en-US" sz="1800" dirty="0"/>
          </a:p>
        </p:txBody>
      </p:sp>
      <p:sp>
        <p:nvSpPr>
          <p:cNvPr id="6" name="Text 4"/>
          <p:cNvSpPr txBox="1"/>
          <p:nvPr/>
        </p:nvSpPr>
        <p:spPr>
          <a:xfrm>
            <a:off x="731520" y="2103120"/>
            <a:ext cx="2011680" cy="914400"/>
          </a:xfrm>
          <a:prstGeom prst="rect">
            <a:avLst/>
          </a:prstGeom>
          <a:noFill/>
          <a:ln/>
        </p:spPr>
        <p:txBody>
          <a:bodyPr wrap="square" lIns="0" tIns="0" rIns="0" bIns="0" rtlCol="0" anchor="t"/>
          <a:lstStyle/>
          <a:p>
            <a:pPr indent="0" marL="0">
              <a:buNone/>
            </a:pPr>
            <a:r>
              <a:rPr lang="en-US" sz="1400" dirty="0">
                <a:solidFill>
                  <a:schemeClr val="tx1"/>
                </a:solidFill>
              </a:rPr>
              <a:t>Fully constrained profile with driven dimensions</a:t>
            </a:r>
            <a:endParaRPr lang="en-US" sz="1400" dirty="0"/>
          </a:p>
        </p:txBody>
      </p:sp>
      <p:sp>
        <p:nvSpPr>
          <p:cNvPr id="7" name="Workflow arrow 1"/>
          <p:cNvSpPr/>
          <p:nvPr/>
        </p:nvSpPr>
        <p:spPr>
          <a:xfrm>
            <a:off x="2999232" y="2304288"/>
            <a:ext cx="381914" cy="0"/>
          </a:xfrm>
          <a:prstGeom prst="line">
            <a:avLst/>
          </a:prstGeom>
          <a:noFill/>
          <a:ln w="25400">
            <a:solidFill>
              <a:srgbClr val="5B6773"/>
            </a:solidFill>
            <a:prstDash val="solid"/>
            <a:tailEnd type="triangle"/>
          </a:ln>
        </p:spPr>
      </p:sp>
      <p:sp>
        <p:nvSpPr>
          <p:cNvPr id="8" name="Workflow card 2"/>
          <p:cNvSpPr/>
          <p:nvPr/>
        </p:nvSpPr>
        <p:spPr>
          <a:xfrm>
            <a:off x="3454298" y="1508760"/>
            <a:ext cx="2377440" cy="1600200"/>
          </a:xfrm>
          <a:prstGeom prst="roundRect">
            <a:avLst>
              <a:gd name="adj" fmla="val 6857"/>
            </a:avLst>
          </a:prstGeom>
          <a:solidFill>
            <a:schemeClr val="bg2"/>
          </a:solidFill>
          <a:ln/>
        </p:spPr>
      </p:sp>
      <p:sp>
        <p:nvSpPr>
          <p:cNvPr id="9" name="Text 7"/>
          <p:cNvSpPr txBox="1"/>
          <p:nvPr/>
        </p:nvSpPr>
        <p:spPr>
          <a:xfrm>
            <a:off x="3637178" y="1600200"/>
            <a:ext cx="457200" cy="45720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2</a:t>
            </a:r>
            <a:endParaRPr lang="en-US" sz="2400" dirty="0"/>
          </a:p>
        </p:txBody>
      </p:sp>
      <p:sp>
        <p:nvSpPr>
          <p:cNvPr id="10" name="Text 8"/>
          <p:cNvSpPr txBox="1"/>
          <p:nvPr/>
        </p:nvSpPr>
        <p:spPr>
          <a:xfrm>
            <a:off x="4140098" y="1600200"/>
            <a:ext cx="1508760" cy="457200"/>
          </a:xfrm>
          <a:prstGeom prst="rect">
            <a:avLst/>
          </a:prstGeom>
          <a:noFill/>
          <a:ln/>
        </p:spPr>
        <p:txBody>
          <a:bodyPr wrap="square" lIns="0" tIns="0" rIns="0" bIns="0" rtlCol="0" anchor="ctr"/>
          <a:lstStyle/>
          <a:p>
            <a:pPr indent="0" marL="0">
              <a:buNone/>
            </a:pPr>
            <a:r>
              <a:rPr lang="en-US" sz="1800" b="1" dirty="0">
                <a:solidFill>
                  <a:schemeClr val="tx2"/>
                </a:solidFill>
              </a:rPr>
              <a:t>Parametrise</a:t>
            </a:r>
            <a:endParaRPr lang="en-US" sz="1800" dirty="0"/>
          </a:p>
        </p:txBody>
      </p:sp>
      <p:sp>
        <p:nvSpPr>
          <p:cNvPr id="11" name="Text 9"/>
          <p:cNvSpPr txBox="1"/>
          <p:nvPr/>
        </p:nvSpPr>
        <p:spPr>
          <a:xfrm>
            <a:off x="3637178" y="2103120"/>
            <a:ext cx="2011680" cy="914400"/>
          </a:xfrm>
          <a:prstGeom prst="rect">
            <a:avLst/>
          </a:prstGeom>
          <a:noFill/>
          <a:ln/>
        </p:spPr>
        <p:txBody>
          <a:bodyPr wrap="square" lIns="0" tIns="0" rIns="0" bIns="0" rtlCol="0" anchor="t"/>
          <a:lstStyle/>
          <a:p>
            <a:pPr indent="0" marL="0">
              <a:buNone/>
            </a:pPr>
            <a:r>
              <a:rPr lang="en-US" sz="1400" dirty="0">
                <a:solidFill>
                  <a:schemeClr val="tx1"/>
                </a:solidFill>
              </a:rPr>
              <a:t>Tie thickness, span and tilt to named parameters</a:t>
            </a:r>
            <a:endParaRPr lang="en-US" sz="1400" dirty="0"/>
          </a:p>
        </p:txBody>
      </p:sp>
      <p:sp>
        <p:nvSpPr>
          <p:cNvPr id="12" name="Workflow arrow 2"/>
          <p:cNvSpPr/>
          <p:nvPr/>
        </p:nvSpPr>
        <p:spPr>
          <a:xfrm>
            <a:off x="5904890" y="2304288"/>
            <a:ext cx="381914" cy="0"/>
          </a:xfrm>
          <a:prstGeom prst="line">
            <a:avLst/>
          </a:prstGeom>
          <a:noFill/>
          <a:ln w="25400">
            <a:solidFill>
              <a:srgbClr val="5B6773"/>
            </a:solidFill>
            <a:prstDash val="solid"/>
            <a:tailEnd type="triangle"/>
          </a:ln>
        </p:spPr>
      </p:sp>
      <p:sp>
        <p:nvSpPr>
          <p:cNvPr id="13" name="Workflow card 3"/>
          <p:cNvSpPr/>
          <p:nvPr/>
        </p:nvSpPr>
        <p:spPr>
          <a:xfrm>
            <a:off x="6359957" y="1508760"/>
            <a:ext cx="2377440" cy="1600200"/>
          </a:xfrm>
          <a:prstGeom prst="roundRect">
            <a:avLst>
              <a:gd name="adj" fmla="val 6857"/>
            </a:avLst>
          </a:prstGeom>
          <a:solidFill>
            <a:schemeClr val="bg2"/>
          </a:solidFill>
          <a:ln/>
        </p:spPr>
      </p:sp>
      <p:sp>
        <p:nvSpPr>
          <p:cNvPr id="14" name="Text 12"/>
          <p:cNvSpPr txBox="1"/>
          <p:nvPr/>
        </p:nvSpPr>
        <p:spPr>
          <a:xfrm>
            <a:off x="6542837" y="1600200"/>
            <a:ext cx="457200" cy="457200"/>
          </a:xfrm>
          <a:prstGeom prst="rect">
            <a:avLst/>
          </a:prstGeom>
          <a:noFill/>
          <a:ln/>
        </p:spPr>
        <p:txBody>
          <a:bodyPr wrap="square" lIns="0" tIns="0" rIns="0" bIns="0" rtlCol="0" anchor="ctr"/>
          <a:lstStyle/>
          <a:p>
            <a:pPr indent="0" marL="0">
              <a:buNone/>
            </a:pPr>
            <a:r>
              <a:rPr lang="en-US" sz="2400" b="1" dirty="0">
                <a:solidFill>
                  <a:schemeClr val="accent2"/>
                </a:solidFill>
                <a:latin typeface="Cambria" pitchFamily="34" charset="0"/>
                <a:ea typeface="Cambria" pitchFamily="34" charset="-122"/>
                <a:cs typeface="Cambria" pitchFamily="34" charset="-120"/>
              </a:rPr>
              <a:t>3</a:t>
            </a:r>
            <a:endParaRPr lang="en-US" sz="2400" dirty="0"/>
          </a:p>
        </p:txBody>
      </p:sp>
      <p:sp>
        <p:nvSpPr>
          <p:cNvPr id="15" name="Text 13"/>
          <p:cNvSpPr txBox="1"/>
          <p:nvPr/>
        </p:nvSpPr>
        <p:spPr>
          <a:xfrm>
            <a:off x="7045757" y="1600200"/>
            <a:ext cx="1508760" cy="457200"/>
          </a:xfrm>
          <a:prstGeom prst="rect">
            <a:avLst/>
          </a:prstGeom>
          <a:noFill/>
          <a:ln/>
        </p:spPr>
        <p:txBody>
          <a:bodyPr wrap="square" lIns="0" tIns="0" rIns="0" bIns="0" rtlCol="0" anchor="ctr"/>
          <a:lstStyle/>
          <a:p>
            <a:pPr indent="0" marL="0">
              <a:buNone/>
            </a:pPr>
            <a:r>
              <a:rPr lang="en-US" sz="1800" b="1" dirty="0">
                <a:solidFill>
                  <a:schemeClr val="tx2"/>
                </a:solidFill>
              </a:rPr>
              <a:t>Simulate</a:t>
            </a:r>
            <a:endParaRPr lang="en-US" sz="1800" dirty="0"/>
          </a:p>
        </p:txBody>
      </p:sp>
      <p:sp>
        <p:nvSpPr>
          <p:cNvPr id="16" name="Text 14"/>
          <p:cNvSpPr txBox="1"/>
          <p:nvPr/>
        </p:nvSpPr>
        <p:spPr>
          <a:xfrm>
            <a:off x="6542837" y="2103120"/>
            <a:ext cx="2011680" cy="914400"/>
          </a:xfrm>
          <a:prstGeom prst="rect">
            <a:avLst/>
          </a:prstGeom>
          <a:noFill/>
          <a:ln/>
        </p:spPr>
        <p:txBody>
          <a:bodyPr wrap="square" lIns="0" tIns="0" rIns="0" bIns="0" rtlCol="0" anchor="t"/>
          <a:lstStyle/>
          <a:p>
            <a:pPr indent="0" marL="0">
              <a:buNone/>
            </a:pPr>
            <a:r>
              <a:rPr lang="en-US" sz="1400" dirty="0">
                <a:solidFill>
                  <a:schemeClr val="tx1"/>
                </a:solidFill>
              </a:rPr>
              <a:t>Mesh, fix supports, apply 49 N load</a:t>
            </a:r>
            <a:endParaRPr lang="en-US" sz="1400" dirty="0"/>
          </a:p>
        </p:txBody>
      </p:sp>
      <p:sp>
        <p:nvSpPr>
          <p:cNvPr id="17" name="Workflow arrow 3"/>
          <p:cNvSpPr/>
          <p:nvPr/>
        </p:nvSpPr>
        <p:spPr>
          <a:xfrm>
            <a:off x="8810549" y="2304288"/>
            <a:ext cx="381914" cy="0"/>
          </a:xfrm>
          <a:prstGeom prst="line">
            <a:avLst/>
          </a:prstGeom>
          <a:noFill/>
          <a:ln w="25400">
            <a:solidFill>
              <a:srgbClr val="5B6773"/>
            </a:solidFill>
            <a:prstDash val="solid"/>
            <a:tailEnd type="triangle"/>
          </a:ln>
        </p:spPr>
      </p:sp>
      <p:sp>
        <p:nvSpPr>
          <p:cNvPr id="18" name="Workflow card 4"/>
          <p:cNvSpPr/>
          <p:nvPr/>
        </p:nvSpPr>
        <p:spPr>
          <a:xfrm>
            <a:off x="9265615" y="1508760"/>
            <a:ext cx="2377440" cy="1600200"/>
          </a:xfrm>
          <a:prstGeom prst="roundRect">
            <a:avLst>
              <a:gd name="adj" fmla="val 6857"/>
            </a:avLst>
          </a:prstGeom>
          <a:solidFill>
            <a:schemeClr val="tx2"/>
          </a:solidFill>
          <a:ln/>
        </p:spPr>
      </p:sp>
      <p:sp>
        <p:nvSpPr>
          <p:cNvPr id="19" name="Text 17"/>
          <p:cNvSpPr txBox="1"/>
          <p:nvPr/>
        </p:nvSpPr>
        <p:spPr>
          <a:xfrm>
            <a:off x="9448495" y="1600200"/>
            <a:ext cx="4572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4</a:t>
            </a:r>
            <a:endParaRPr lang="en-US" sz="2400" dirty="0"/>
          </a:p>
        </p:txBody>
      </p:sp>
      <p:sp>
        <p:nvSpPr>
          <p:cNvPr id="20" name="Text 18"/>
          <p:cNvSpPr txBox="1"/>
          <p:nvPr/>
        </p:nvSpPr>
        <p:spPr>
          <a:xfrm>
            <a:off x="9951415" y="1600200"/>
            <a:ext cx="1508760" cy="457200"/>
          </a:xfrm>
          <a:prstGeom prst="rect">
            <a:avLst/>
          </a:prstGeom>
          <a:noFill/>
          <a:ln/>
        </p:spPr>
        <p:txBody>
          <a:bodyPr wrap="square" lIns="0" tIns="0" rIns="0" bIns="0" rtlCol="0" anchor="ctr"/>
          <a:lstStyle/>
          <a:p>
            <a:pPr indent="0" marL="0">
              <a:buNone/>
            </a:pPr>
            <a:r>
              <a:rPr lang="en-US" sz="1800" b="1" dirty="0">
                <a:solidFill>
                  <a:schemeClr val="bg1"/>
                </a:solidFill>
              </a:rPr>
              <a:t>Correlate</a:t>
            </a:r>
            <a:endParaRPr lang="en-US" sz="1800" dirty="0"/>
          </a:p>
        </p:txBody>
      </p:sp>
      <p:sp>
        <p:nvSpPr>
          <p:cNvPr id="21" name="Text 19"/>
          <p:cNvSpPr txBox="1"/>
          <p:nvPr/>
        </p:nvSpPr>
        <p:spPr>
          <a:xfrm>
            <a:off x="9448495" y="2103120"/>
            <a:ext cx="2011680" cy="914400"/>
          </a:xfrm>
          <a:prstGeom prst="rect">
            <a:avLst/>
          </a:prstGeom>
          <a:noFill/>
          <a:ln/>
        </p:spPr>
        <p:txBody>
          <a:bodyPr wrap="square" lIns="0" tIns="0" rIns="0" bIns="0" rtlCol="0" anchor="t"/>
          <a:lstStyle/>
          <a:p>
            <a:pPr indent="0" marL="0">
              <a:buNone/>
            </a:pPr>
            <a:r>
              <a:rPr lang="en-US" sz="1400" dirty="0">
                <a:solidFill>
                  <a:schemeClr val="bg2"/>
                </a:solidFill>
              </a:rPr>
              <a:t>Compare FEA with hand calc; target within 10%</a:t>
            </a:r>
            <a:endParaRPr lang="en-US" sz="1400" dirty="0"/>
          </a:p>
        </p:txBody>
      </p:sp>
      <p:sp>
        <p:nvSpPr>
          <p:cNvPr id="22" name="Image placeholder"/>
          <p:cNvSpPr/>
          <p:nvPr/>
        </p:nvSpPr>
        <p:spPr>
          <a:xfrm>
            <a:off x="548640" y="3429000"/>
            <a:ext cx="6766560" cy="2651760"/>
          </a:xfrm>
          <a:prstGeom prst="roundRect">
            <a:avLst>
              <a:gd name="adj" fmla="val 4138"/>
            </a:avLst>
          </a:prstGeom>
          <a:solidFill>
            <a:schemeClr val="bg1"/>
          </a:solidFill>
          <a:ln w="19050">
            <a:solidFill>
              <a:schemeClr val="accent4"/>
            </a:solidFill>
            <a:prstDash val="dash"/>
          </a:ln>
        </p:spPr>
      </p:sp>
      <p:pic>
        <p:nvPicPr>
          <p:cNvPr id="23" name="Image 0" descr="Placeholder cube icon">    </p:cNvPr>
          <p:cNvPicPr>
            <a:picLocks noChangeAspect="1"/>
          </p:cNvPicPr>
          <p:nvPr/>
        </p:nvPicPr>
        <p:blipFill>
          <a:blip r:embed="rId1"/>
          <a:stretch>
            <a:fillRect/>
          </a:stretch>
        </p:blipFill>
        <p:spPr>
          <a:xfrm>
            <a:off x="3611880" y="3977640"/>
            <a:ext cx="640080" cy="640080"/>
          </a:xfrm>
          <a:prstGeom prst="rect">
            <a:avLst/>
          </a:prstGeom>
        </p:spPr>
      </p:pic>
      <p:sp>
        <p:nvSpPr>
          <p:cNvPr id="24" name="Text 21"/>
          <p:cNvSpPr txBox="1"/>
          <p:nvPr/>
        </p:nvSpPr>
        <p:spPr>
          <a:xfrm>
            <a:off x="548640" y="4754880"/>
            <a:ext cx="6766560" cy="457200"/>
          </a:xfrm>
          <a:prstGeom prst="rect">
            <a:avLst/>
          </a:prstGeom>
          <a:noFill/>
          <a:ln/>
        </p:spPr>
        <p:txBody>
          <a:bodyPr wrap="square" lIns="0" tIns="0" rIns="0" bIns="0" rtlCol="0" anchor="ctr"/>
          <a:lstStyle/>
          <a:p>
            <a:pPr algn="ctr" indent="0" marL="0">
              <a:buNone/>
            </a:pPr>
            <a:r>
              <a:rPr lang="en-US" sz="1600" b="1" dirty="0">
                <a:solidFill>
                  <a:schemeClr val="accent4"/>
                </a:solidFill>
              </a:rPr>
              <a:t>Insert your CAD render or FEA stress plot here</a:t>
            </a:r>
            <a:endParaRPr lang="en-US" sz="1600" dirty="0"/>
          </a:p>
        </p:txBody>
      </p:sp>
      <p:sp>
        <p:nvSpPr>
          <p:cNvPr id="25" name="Text 22"/>
          <p:cNvSpPr txBox="1"/>
          <p:nvPr/>
        </p:nvSpPr>
        <p:spPr>
          <a:xfrm>
            <a:off x="548640" y="5166360"/>
            <a:ext cx="6766560" cy="365760"/>
          </a:xfrm>
          <a:prstGeom prst="rect">
            <a:avLst/>
          </a:prstGeom>
          <a:noFill/>
          <a:ln/>
        </p:spPr>
        <p:txBody>
          <a:bodyPr wrap="square" lIns="0" tIns="0" rIns="0" bIns="0" rtlCol="0" anchor="ctr"/>
          <a:lstStyle/>
          <a:p>
            <a:pPr algn="ctr" indent="0" marL="0">
              <a:buNone/>
            </a:pPr>
            <a:r>
              <a:rPr lang="en-US" sz="1200" dirty="0">
                <a:solidFill>
                  <a:schemeClr val="accent4"/>
                </a:solidFill>
              </a:rPr>
              <a:t>Colour map of von Mises stress or displacement works best</a:t>
            </a:r>
            <a:endParaRPr lang="en-US" sz="1200" dirty="0"/>
          </a:p>
        </p:txBody>
      </p:sp>
      <p:sp>
        <p:nvSpPr>
          <p:cNvPr id="26" name="Text 23"/>
          <p:cNvSpPr txBox="1"/>
          <p:nvPr/>
        </p:nvSpPr>
        <p:spPr>
          <a:xfrm>
            <a:off x="7772400" y="3429000"/>
            <a:ext cx="384048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WHY VALIDATE?</a:t>
            </a:r>
            <a:endParaRPr lang="en-US" sz="1200" dirty="0"/>
          </a:p>
        </p:txBody>
      </p:sp>
      <p:sp>
        <p:nvSpPr>
          <p:cNvPr id="27" name="Text 24"/>
          <p:cNvSpPr txBox="1"/>
          <p:nvPr/>
        </p:nvSpPr>
        <p:spPr>
          <a:xfrm>
            <a:off x="7772400" y="3749040"/>
            <a:ext cx="3867912"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Two independent methods agreeing builds trust in the model</a:t>
            </a:r>
            <a:endParaRPr lang="en-US" sz="1400" dirty="0"/>
          </a:p>
          <a:p>
            <a:pPr marL="342900" indent="-342900">
              <a:spcAft>
                <a:spcPts val="800"/>
              </a:spcAft>
              <a:buSzPct val="100000"/>
              <a:buChar char="•"/>
            </a:pPr>
            <a:r>
              <a:rPr lang="en-US" sz="1400" dirty="0">
                <a:solidFill>
                  <a:schemeClr val="tx1"/>
                </a:solidFill>
              </a:rPr>
              <a:t>Mesh convergence: refine until results change &lt; 2%</a:t>
            </a:r>
            <a:endParaRPr lang="en-US" sz="1400" dirty="0"/>
          </a:p>
          <a:p>
            <a:pPr marL="342900" indent="-342900">
              <a:spcAft>
                <a:spcPts val="800"/>
              </a:spcAft>
              <a:buSzPct val="100000"/>
              <a:buChar char="•"/>
            </a:pPr>
            <a:r>
              <a:rPr lang="en-US" sz="1400" dirty="0">
                <a:solidFill>
                  <a:schemeClr val="tx1"/>
                </a:solidFill>
              </a:rPr>
              <a:t>Parameters let one model explore many design variants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Building it: materials, process and cost</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7406640" cy="914400"/>
        </p:xfrm>
        <a:graphic>
          <a:graphicData uri="http://schemas.openxmlformats.org/drawingml/2006/table">
            <a:tbl>
              <a:tblPr/>
              <a:tblGrid>
                <a:gridCol w="2468880"/>
                <a:gridCol w="2377440"/>
                <a:gridCol w="1645920"/>
                <a:gridCol w="914400"/>
              </a:tblGrid>
              <a:tr h="566928">
                <a:tc>
                  <a:txBody>
                    <a:bodyPr/>
                    <a:lstStyle/>
                    <a:p>
                      <a:pPr algn="l" indent="0" marL="0">
                        <a:buNone/>
                      </a:pPr>
                      <a:r>
                        <a:rPr lang="en-US" sz="1400" b="1" dirty="0">
                          <a:solidFill>
                            <a:schemeClr val="bg1"/>
                          </a:solidFill>
                        </a:rPr>
                        <a:t>Part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400" b="1" dirty="0">
                          <a:solidFill>
                            <a:schemeClr val="bg1"/>
                          </a:solidFill>
                        </a:rPr>
                        <a:t>Material</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400" b="1" dirty="0">
                          <a:solidFill>
                            <a:schemeClr val="bg1"/>
                          </a:solidFill>
                        </a:rPr>
                        <a:t>Process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r" indent="0" marL="0">
                        <a:buNone/>
                      </a:pPr>
                      <a:r>
                        <a:rPr lang="en-US" sz="1400" b="1" dirty="0">
                          <a:solidFill>
                            <a:schemeClr val="bg1"/>
                          </a:solidFill>
                        </a:rPr>
                        <a:t>Cost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400" b="1" dirty="0">
                          <a:solidFill>
                            <a:schemeClr val="tx1"/>
                          </a:solidFill>
                        </a:rPr>
                        <a:t>Tray + base plate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Al 6061-T6, 2 mm sheet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Laser cut + bend</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$4.50</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400" b="1" dirty="0">
                          <a:solidFill>
                            <a:schemeClr val="tx1"/>
                          </a:solidFill>
                        </a:rPr>
                        <a:t>Adjustable rear legs (2)</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Al tube Ø12 × 1 mm</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Cut + drill</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$2.80</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400" b="1" dirty="0">
                          <a:solidFill>
                            <a:schemeClr val="tx1"/>
                          </a:solidFill>
                        </a:rPr>
                        <a:t>Hinge pins &amp; bolts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Stainless steel</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Off the shelf</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$1.20</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400" b="1" dirty="0">
                          <a:solidFill>
                            <a:schemeClr val="tx1"/>
                          </a:solidFill>
                        </a:rPr>
                        <a:t>Fasteners &amp; washers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Zinc-plated steel</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Off the shelf</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r" indent="0" marL="0">
                        <a:buNone/>
                      </a:pPr>
                      <a:r>
                        <a:rPr lang="en-US" sz="1400" dirty="0">
                          <a:solidFill>
                            <a:schemeClr val="tx1"/>
                          </a:solidFill>
                        </a:rPr>
                        <a:t>$0.90</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400" b="1" dirty="0">
                          <a:solidFill>
                            <a:schemeClr val="tx1"/>
                          </a:solidFill>
                        </a:rPr>
                        <a:t>Anti-slip feet (4)</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Silicone rubber</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Press fit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r" indent="0" marL="0">
                        <a:buNone/>
                      </a:pPr>
                      <a:r>
                        <a:rPr lang="en-US" sz="1400" dirty="0">
                          <a:solidFill>
                            <a:schemeClr val="tx1"/>
                          </a:solidFill>
                        </a:rPr>
                        <a:t>$1.00</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400" b="1" dirty="0">
                          <a:solidFill>
                            <a:schemeClr val="bg1"/>
                          </a:solidFill>
                        </a:rPr>
                        <a:t>Total (target ≤ $12)</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indent="0" marL="0">
                        <a:buNone/>
                      </a:pPr>
                      <a:endParaRPr lang="en-US" sz="1200" dirty="0"/>
                    </a:p>
                  </a:txBody>
                  <a:tcPr marL="109728" marR="109728" marT="0" marB="0"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indent="0" marL="0">
                        <a:buNone/>
                      </a:pPr>
                      <a:endParaRPr lang="en-US" sz="1200" dirty="0"/>
                    </a:p>
                  </a:txBody>
                  <a:tcPr marL="109728" marR="109728" marT="0" marB="0"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algn="r" indent="0" marL="0">
                        <a:buNone/>
                      </a:pPr>
                      <a:r>
                        <a:rPr lang="en-US" sz="1600" b="1" dirty="0">
                          <a:solidFill>
                            <a:schemeClr val="bg1"/>
                          </a:solidFill>
                        </a:rPr>
                        <a:t>$10.40</a:t>
                      </a:r>
                      <a:endParaRPr lang="en-US" sz="1600" dirty="0"/>
                    </a:p>
                  </a:txBody>
                  <a:tcPr marL="109728" marR="109728" marT="0" marB="0" anchor="ctr">
                    <a:lnL w="0" cap="flat" cmpd="sng" algn="ctr">
                      <a:noFill/>
                    </a:lnL>
                    <a:lnR w="0" cap="flat" cmpd="sng" algn="ctr">
                      <a:noFill/>
                    </a:lnR>
                    <a:lnT w="0" cap="flat" cmpd="sng" algn="ctr">
                      <a:noFill/>
                    </a:lnT>
                    <a:lnB w="0" cap="flat" cmpd="sng" algn="ctr">
                      <a:noFill/>
                    </a:lnB>
                    <a:solidFill>
                      <a:schemeClr val="accent2"/>
                    </a:solidFill>
                  </a:tcPr>
                </a:tc>
              </a:tr>
            </a:tbl>
          </a:graphicData>
        </a:graphic>
      </p:graphicFrame>
      <p:sp>
        <p:nvSpPr>
          <p:cNvPr id="4" name="Text 1"/>
          <p:cNvSpPr txBox="1"/>
          <p:nvPr/>
        </p:nvSpPr>
        <p:spPr>
          <a:xfrm>
            <a:off x="548640" y="5577840"/>
            <a:ext cx="7406640" cy="274320"/>
          </a:xfrm>
          <a:prstGeom prst="rect">
            <a:avLst/>
          </a:prstGeom>
          <a:noFill/>
          <a:ln/>
        </p:spPr>
        <p:txBody>
          <a:bodyPr wrap="square" lIns="0" tIns="0" rIns="0" bIns="0" rtlCol="0" anchor="ctr"/>
          <a:lstStyle/>
          <a:p>
            <a:pPr indent="0" marL="0">
              <a:buNone/>
            </a:pPr>
            <a:r>
              <a:rPr lang="en-US" sz="1200" dirty="0">
                <a:solidFill>
                  <a:schemeClr val="accent4"/>
                </a:solidFill>
              </a:rPr>
              <a:t>Unit costs are estimates for a one-off prototype.</a:t>
            </a:r>
            <a:endParaRPr lang="en-US" sz="1200" dirty="0"/>
          </a:p>
        </p:txBody>
      </p:sp>
      <p:sp>
        <p:nvSpPr>
          <p:cNvPr id="5" name="Text 2"/>
          <p:cNvSpPr txBox="1"/>
          <p:nvPr/>
        </p:nvSpPr>
        <p:spPr>
          <a:xfrm>
            <a:off x="8321040" y="1508760"/>
            <a:ext cx="329184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DESIGN FOR MANUFACTURE</a:t>
            </a:r>
            <a:endParaRPr lang="en-US" sz="1200" dirty="0"/>
          </a:p>
        </p:txBody>
      </p:sp>
      <p:sp>
        <p:nvSpPr>
          <p:cNvPr id="6" name="DFM icon circle 1"/>
          <p:cNvSpPr/>
          <p:nvPr/>
        </p:nvSpPr>
        <p:spPr>
          <a:xfrm>
            <a:off x="8321040" y="1965960"/>
            <a:ext cx="594360" cy="594360"/>
          </a:xfrm>
          <a:prstGeom prst="ellipse">
            <a:avLst/>
          </a:prstGeom>
          <a:solidFill>
            <a:schemeClr val="accent3"/>
          </a:solidFill>
          <a:ln/>
        </p:spPr>
      </p:sp>
      <p:pic>
        <p:nvPicPr>
          <p:cNvPr id="7" name="Image 0" descr="Standard stock icon">    </p:cNvPr>
          <p:cNvPicPr>
            <a:picLocks noChangeAspect="1"/>
          </p:cNvPicPr>
          <p:nvPr/>
        </p:nvPicPr>
        <p:blipFill>
          <a:blip r:embed="rId1"/>
          <a:stretch>
            <a:fillRect/>
          </a:stretch>
        </p:blipFill>
        <p:spPr>
          <a:xfrm>
            <a:off x="8476488" y="2121408"/>
            <a:ext cx="283464" cy="283464"/>
          </a:xfrm>
          <a:prstGeom prst="rect">
            <a:avLst/>
          </a:prstGeom>
        </p:spPr>
      </p:pic>
      <p:sp>
        <p:nvSpPr>
          <p:cNvPr id="8" name="Text 4"/>
          <p:cNvSpPr txBox="1"/>
          <p:nvPr/>
        </p:nvSpPr>
        <p:spPr>
          <a:xfrm>
            <a:off x="9098280" y="1920240"/>
            <a:ext cx="2542032" cy="365760"/>
          </a:xfrm>
          <a:prstGeom prst="rect">
            <a:avLst/>
          </a:prstGeom>
          <a:noFill/>
          <a:ln/>
        </p:spPr>
        <p:txBody>
          <a:bodyPr wrap="square" lIns="0" tIns="0" rIns="0" bIns="0" rtlCol="0" anchor="ctr"/>
          <a:lstStyle/>
          <a:p>
            <a:pPr indent="0" marL="0">
              <a:buNone/>
            </a:pPr>
            <a:r>
              <a:rPr lang="en-US" sz="1600" b="1" dirty="0">
                <a:solidFill>
                  <a:schemeClr val="tx2"/>
                </a:solidFill>
              </a:rPr>
              <a:t>Standard stock</a:t>
            </a:r>
            <a:endParaRPr lang="en-US" sz="1600" dirty="0"/>
          </a:p>
        </p:txBody>
      </p:sp>
      <p:sp>
        <p:nvSpPr>
          <p:cNvPr id="9" name="Text 5"/>
          <p:cNvSpPr txBox="1"/>
          <p:nvPr/>
        </p:nvSpPr>
        <p:spPr>
          <a:xfrm>
            <a:off x="9098280" y="2286000"/>
            <a:ext cx="2542032" cy="777240"/>
          </a:xfrm>
          <a:prstGeom prst="rect">
            <a:avLst/>
          </a:prstGeom>
          <a:noFill/>
          <a:ln/>
        </p:spPr>
        <p:txBody>
          <a:bodyPr wrap="square" lIns="0" tIns="0" rIns="0" bIns="0" rtlCol="0" anchor="t"/>
          <a:lstStyle/>
          <a:p>
            <a:pPr indent="0" marL="0">
              <a:buNone/>
            </a:pPr>
            <a:r>
              <a:rPr lang="en-US" sz="1400" dirty="0">
                <a:solidFill>
                  <a:schemeClr val="tx1"/>
                </a:solidFill>
              </a:rPr>
              <a:t>Sheet and tube sizes off the shelf</a:t>
            </a:r>
            <a:endParaRPr lang="en-US" sz="1400" dirty="0"/>
          </a:p>
        </p:txBody>
      </p:sp>
      <p:sp>
        <p:nvSpPr>
          <p:cNvPr id="10" name="DFM icon circle 2"/>
          <p:cNvSpPr/>
          <p:nvPr/>
        </p:nvSpPr>
        <p:spPr>
          <a:xfrm>
            <a:off x="8321040" y="3337560"/>
            <a:ext cx="594360" cy="594360"/>
          </a:xfrm>
          <a:prstGeom prst="ellipse">
            <a:avLst/>
          </a:prstGeom>
          <a:solidFill>
            <a:schemeClr val="accent3"/>
          </a:solidFill>
          <a:ln/>
        </p:spPr>
      </p:sp>
      <p:pic>
        <p:nvPicPr>
          <p:cNvPr id="11" name="Image 1" descr="Few unique parts icon">    </p:cNvPr>
          <p:cNvPicPr>
            <a:picLocks noChangeAspect="1"/>
          </p:cNvPicPr>
          <p:nvPr/>
        </p:nvPicPr>
        <p:blipFill>
          <a:blip r:embed="rId2"/>
          <a:stretch>
            <a:fillRect/>
          </a:stretch>
        </p:blipFill>
        <p:spPr>
          <a:xfrm>
            <a:off x="8476488" y="3493008"/>
            <a:ext cx="283464" cy="283464"/>
          </a:xfrm>
          <a:prstGeom prst="rect">
            <a:avLst/>
          </a:prstGeom>
        </p:spPr>
      </p:pic>
      <p:sp>
        <p:nvSpPr>
          <p:cNvPr id="12" name="Text 7"/>
          <p:cNvSpPr txBox="1"/>
          <p:nvPr/>
        </p:nvSpPr>
        <p:spPr>
          <a:xfrm>
            <a:off x="9098280" y="3291840"/>
            <a:ext cx="2542032" cy="365760"/>
          </a:xfrm>
          <a:prstGeom prst="rect">
            <a:avLst/>
          </a:prstGeom>
          <a:noFill/>
          <a:ln/>
        </p:spPr>
        <p:txBody>
          <a:bodyPr wrap="square" lIns="0" tIns="0" rIns="0" bIns="0" rtlCol="0" anchor="ctr"/>
          <a:lstStyle/>
          <a:p>
            <a:pPr indent="0" marL="0">
              <a:buNone/>
            </a:pPr>
            <a:r>
              <a:rPr lang="en-US" sz="1600" b="1" dirty="0">
                <a:solidFill>
                  <a:schemeClr val="tx2"/>
                </a:solidFill>
              </a:rPr>
              <a:t>Few unique parts</a:t>
            </a:r>
            <a:endParaRPr lang="en-US" sz="1600" dirty="0"/>
          </a:p>
        </p:txBody>
      </p:sp>
      <p:sp>
        <p:nvSpPr>
          <p:cNvPr id="13" name="Text 8"/>
          <p:cNvSpPr txBox="1"/>
          <p:nvPr/>
        </p:nvSpPr>
        <p:spPr>
          <a:xfrm>
            <a:off x="9098280" y="3657600"/>
            <a:ext cx="2542032" cy="777240"/>
          </a:xfrm>
          <a:prstGeom prst="rect">
            <a:avLst/>
          </a:prstGeom>
          <a:noFill/>
          <a:ln/>
        </p:spPr>
        <p:txBody>
          <a:bodyPr wrap="square" lIns="0" tIns="0" rIns="0" bIns="0" rtlCol="0" anchor="t"/>
          <a:lstStyle/>
          <a:p>
            <a:pPr indent="0" marL="0">
              <a:buNone/>
            </a:pPr>
            <a:r>
              <a:rPr lang="en-US" sz="1400" dirty="0">
                <a:solidFill>
                  <a:schemeClr val="tx1"/>
                </a:solidFill>
              </a:rPr>
              <a:t>Only 6 parts, no welding or glue</a:t>
            </a:r>
            <a:endParaRPr lang="en-US" sz="1400" dirty="0"/>
          </a:p>
        </p:txBody>
      </p:sp>
      <p:sp>
        <p:nvSpPr>
          <p:cNvPr id="14" name="DFM icon circle 3"/>
          <p:cNvSpPr/>
          <p:nvPr/>
        </p:nvSpPr>
        <p:spPr>
          <a:xfrm>
            <a:off x="8321040" y="4709160"/>
            <a:ext cx="594360" cy="594360"/>
          </a:xfrm>
          <a:prstGeom prst="ellipse">
            <a:avLst/>
          </a:prstGeom>
          <a:solidFill>
            <a:schemeClr val="accent3"/>
          </a:solidFill>
          <a:ln/>
        </p:spPr>
      </p:sp>
      <p:pic>
        <p:nvPicPr>
          <p:cNvPr id="15" name="Image 2" descr="Forgiving tolerances icon">    </p:cNvPr>
          <p:cNvPicPr>
            <a:picLocks noChangeAspect="1"/>
          </p:cNvPicPr>
          <p:nvPr/>
        </p:nvPicPr>
        <p:blipFill>
          <a:blip r:embed="rId3"/>
          <a:stretch>
            <a:fillRect/>
          </a:stretch>
        </p:blipFill>
        <p:spPr>
          <a:xfrm>
            <a:off x="8476488" y="4864608"/>
            <a:ext cx="283464" cy="283464"/>
          </a:xfrm>
          <a:prstGeom prst="rect">
            <a:avLst/>
          </a:prstGeom>
        </p:spPr>
      </p:pic>
      <p:sp>
        <p:nvSpPr>
          <p:cNvPr id="16" name="Text 10"/>
          <p:cNvSpPr txBox="1"/>
          <p:nvPr/>
        </p:nvSpPr>
        <p:spPr>
          <a:xfrm>
            <a:off x="9098280" y="4663440"/>
            <a:ext cx="2542032" cy="365760"/>
          </a:xfrm>
          <a:prstGeom prst="rect">
            <a:avLst/>
          </a:prstGeom>
          <a:noFill/>
          <a:ln/>
        </p:spPr>
        <p:txBody>
          <a:bodyPr wrap="square" lIns="0" tIns="0" rIns="0" bIns="0" rtlCol="0" anchor="ctr"/>
          <a:lstStyle/>
          <a:p>
            <a:pPr indent="0" marL="0">
              <a:buNone/>
            </a:pPr>
            <a:r>
              <a:rPr lang="en-US" sz="1600" b="1" dirty="0">
                <a:solidFill>
                  <a:schemeClr val="tx2"/>
                </a:solidFill>
              </a:rPr>
              <a:t>Forgiving tolerances</a:t>
            </a:r>
            <a:endParaRPr lang="en-US" sz="1600" dirty="0"/>
          </a:p>
        </p:txBody>
      </p:sp>
      <p:sp>
        <p:nvSpPr>
          <p:cNvPr id="17" name="Text 11"/>
          <p:cNvSpPr txBox="1"/>
          <p:nvPr/>
        </p:nvSpPr>
        <p:spPr>
          <a:xfrm>
            <a:off x="9098280" y="5029200"/>
            <a:ext cx="2542032" cy="777240"/>
          </a:xfrm>
          <a:prstGeom prst="rect">
            <a:avLst/>
          </a:prstGeom>
          <a:noFill/>
          <a:ln/>
        </p:spPr>
        <p:txBody>
          <a:bodyPr wrap="square" lIns="0" tIns="0" rIns="0" bIns="0" rtlCol="0" anchor="t"/>
          <a:lstStyle/>
          <a:p>
            <a:pPr indent="0" marL="0">
              <a:buNone/>
            </a:pPr>
            <a:r>
              <a:rPr lang="en-US" sz="1400" dirty="0">
                <a:solidFill>
                  <a:schemeClr val="tx1"/>
                </a:solidFill>
              </a:rPr>
              <a:t>Slotted holes absorb ±0.5 mm error</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Verification plan: model vs. measurement</a:t>
            </a:r>
            <a:endParaRPr lang="en-US" sz="3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737360"/>
                <a:gridCol w="3383280"/>
                <a:gridCol w="2011680"/>
                <a:gridCol w="2194560"/>
                <a:gridCol w="1764792"/>
              </a:tblGrid>
              <a:tr h="566928">
                <a:tc>
                  <a:txBody>
                    <a:bodyPr/>
                    <a:lstStyle/>
                    <a:p>
                      <a:pPr algn="l" indent="0" marL="0">
                        <a:buNone/>
                      </a:pPr>
                      <a:r>
                        <a:rPr lang="en-US" sz="1400" b="1" dirty="0">
                          <a:solidFill>
                            <a:schemeClr val="bg1"/>
                          </a:solidFill>
                        </a:rPr>
                        <a:t>Test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400" b="1" dirty="0">
                          <a:solidFill>
                            <a:schemeClr val="bg1"/>
                          </a:solidFill>
                        </a:rPr>
                        <a:t>Method</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400" b="1" dirty="0">
                          <a:solidFill>
                            <a:schemeClr val="bg1"/>
                          </a:solidFill>
                        </a:rPr>
                        <a:t>Pass criterion</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l" indent="0" marL="0">
                        <a:buNone/>
                      </a:pPr>
                      <a:r>
                        <a:rPr lang="en-US" sz="1400" b="1" dirty="0">
                          <a:solidFill>
                            <a:schemeClr val="bg1"/>
                          </a:solidFill>
                        </a:rPr>
                        <a:t>Model predicts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algn="ctr" indent="0" marL="0">
                        <a:buNone/>
                      </a:pPr>
                      <a:r>
                        <a:rPr lang="en-US" sz="1400" b="1" dirty="0">
                          <a:solidFill>
                            <a:schemeClr val="bg1"/>
                          </a:solidFill>
                        </a:rPr>
                        <a:t>Measured</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tx2"/>
                    </a:solidFill>
                  </a:tcPr>
                </a:tc>
              </a:tr>
              <a:tr h="566928">
                <a:tc>
                  <a:txBody>
                    <a:bodyPr/>
                    <a:lstStyle/>
                    <a:p>
                      <a:pPr indent="0" marL="0">
                        <a:buNone/>
                      </a:pPr>
                      <a:r>
                        <a:rPr lang="en-US" sz="1400" b="1" dirty="0">
                          <a:solidFill>
                            <a:schemeClr val="tx1"/>
                          </a:solidFill>
                        </a:rPr>
                        <a:t>Deflection</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Dial gauge, 5 kg at centre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 1.5 mm</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2"/>
                          </a:solidFill>
                        </a:rPr>
                        <a:t>1.39 mm</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i="1" dirty="0">
                          <a:solidFill>
                            <a:schemeClr val="accent4"/>
                          </a:solidFill>
                        </a:rPr>
                        <a:t>[ fill in ]</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400" b="1" dirty="0">
                          <a:solidFill>
                            <a:schemeClr val="tx1"/>
                          </a:solidFill>
                        </a:rPr>
                        <a:t>Strength</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10 kg for 10 min, check for set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No permanent set</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accent2"/>
                          </a:solidFill>
                        </a:rPr>
                        <a:t>FoS 15 at 5 kg</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i="1" dirty="0">
                          <a:solidFill>
                            <a:schemeClr val="accent4"/>
                          </a:solidFill>
                        </a:rPr>
                        <a:t>[ fill in ]</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400" b="1" dirty="0">
                          <a:solidFill>
                            <a:schemeClr val="tx1"/>
                          </a:solidFill>
                        </a:rPr>
                        <a:t>Tilt range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Protractor at each leg notch</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15° – 40°</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2"/>
                          </a:solidFill>
                        </a:rPr>
                        <a:t>15°, 28°, 40°</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i="1" dirty="0">
                          <a:solidFill>
                            <a:schemeClr val="accent4"/>
                          </a:solidFill>
                        </a:rPr>
                        <a:t>[ fill in ]</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400" b="1" dirty="0">
                          <a:solidFill>
                            <a:schemeClr val="tx1"/>
                          </a:solidFill>
                        </a:rPr>
                        <a:t>Folded thickness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Callipers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 20 mm</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b="1" dirty="0">
                          <a:solidFill>
                            <a:schemeClr val="accent2"/>
                          </a:solidFill>
                        </a:rPr>
                        <a:t>≈ 12 mm</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algn="ctr" indent="0" marL="0">
                        <a:buNone/>
                      </a:pPr>
                      <a:r>
                        <a:rPr lang="en-US" sz="1400" i="1" dirty="0">
                          <a:solidFill>
                            <a:schemeClr val="accent4"/>
                          </a:solidFill>
                        </a:rPr>
                        <a:t>[ fill in ]</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400" b="1" dirty="0">
                          <a:solidFill>
                            <a:schemeClr val="tx1"/>
                          </a:solidFill>
                        </a:rPr>
                        <a:t>Mass</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Kitchen scale</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 0.8 kg</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b="1" dirty="0">
                          <a:solidFill>
                            <a:schemeClr val="accent2"/>
                          </a:solidFill>
                        </a:rPr>
                        <a:t>≈ 0.5 kg</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algn="ctr" indent="0" marL="0">
                        <a:buNone/>
                      </a:pPr>
                      <a:r>
                        <a:rPr lang="en-US" sz="1400" i="1" dirty="0">
                          <a:solidFill>
                            <a:schemeClr val="accent4"/>
                          </a:solidFill>
                        </a:rPr>
                        <a:t>[ fill in ]</a:t>
                      </a:r>
                      <a:endParaRPr lang="en-US" sz="14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4" name="Takeaway banner"/>
          <p:cNvSpPr/>
          <p:nvPr/>
        </p:nvSpPr>
        <p:spPr>
          <a:xfrm>
            <a:off x="548640" y="5166360"/>
            <a:ext cx="11094415" cy="868680"/>
          </a:xfrm>
          <a:prstGeom prst="roundRect">
            <a:avLst>
              <a:gd name="adj" fmla="val 10526"/>
            </a:avLst>
          </a:prstGeom>
          <a:solidFill>
            <a:schemeClr val="tx2"/>
          </a:solidFill>
          <a:ln/>
        </p:spPr>
      </p:sp>
      <p:sp>
        <p:nvSpPr>
          <p:cNvPr id="5" name="Text 2"/>
          <p:cNvSpPr txBox="1"/>
          <p:nvPr/>
        </p:nvSpPr>
        <p:spPr>
          <a:xfrm>
            <a:off x="822960" y="5166360"/>
            <a:ext cx="10545775" cy="868680"/>
          </a:xfrm>
          <a:prstGeom prst="rect">
            <a:avLst/>
          </a:prstGeom>
          <a:noFill/>
          <a:ln/>
        </p:spPr>
        <p:txBody>
          <a:bodyPr wrap="square" lIns="0" tIns="0" rIns="0" bIns="0" rtlCol="0" anchor="ctr"/>
          <a:lstStyle/>
          <a:p>
            <a:pPr indent="0" marL="0">
              <a:buNone/>
            </a:pPr>
            <a:r>
              <a:rPr lang="en-US" sz="1600" b="1" dirty="0">
                <a:solidFill>
                  <a:schemeClr val="accent1"/>
                </a:solidFill>
              </a:rPr>
              <a:t>Goal: </a:t>
            </a:r>
            <a:pPr indent="0" marL="0">
              <a:buNone/>
            </a:pPr>
            <a:r>
              <a:rPr lang="en-US" sz="1600" dirty="0">
                <a:solidFill>
                  <a:schemeClr val="bg1"/>
                </a:solidFill>
              </a:rPr>
              <a:t>measured values within about 10% of the model. Larger gaps tell us which assumption in the model to revisit.</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Iteration: what version 2 fixed</a:t>
            </a:r>
            <a:endParaRPr lang="en-US" sz="3400" dirty="0"/>
          </a:p>
        </p:txBody>
      </p:sp>
      <p:sp>
        <p:nvSpPr>
          <p:cNvPr id="3" name="v1 card"/>
          <p:cNvSpPr/>
          <p:nvPr/>
        </p:nvSpPr>
        <p:spPr>
          <a:xfrm>
            <a:off x="548640" y="1508760"/>
            <a:ext cx="4572000" cy="2148840"/>
          </a:xfrm>
          <a:prstGeom prst="roundRect">
            <a:avLst>
              <a:gd name="adj" fmla="val 5106"/>
            </a:avLst>
          </a:prstGeom>
          <a:solidFill>
            <a:schemeClr val="bg2"/>
          </a:solidFill>
          <a:ln/>
        </p:spPr>
      </p:sp>
      <p:sp>
        <p:nvSpPr>
          <p:cNvPr id="4" name="Text 2"/>
          <p:cNvSpPr txBox="1"/>
          <p:nvPr/>
        </p:nvSpPr>
        <p:spPr>
          <a:xfrm>
            <a:off x="822960" y="1645920"/>
            <a:ext cx="4023360" cy="274320"/>
          </a:xfrm>
          <a:prstGeom prst="rect">
            <a:avLst/>
          </a:prstGeom>
          <a:noFill/>
          <a:ln/>
        </p:spPr>
        <p:txBody>
          <a:bodyPr wrap="square" lIns="0" tIns="0" rIns="0" bIns="0" rtlCol="0" anchor="ctr"/>
          <a:lstStyle/>
          <a:p>
            <a:pPr indent="0" marL="0">
              <a:buNone/>
            </a:pPr>
            <a:r>
              <a:rPr lang="en-US" sz="1200" b="1" spc="200" kern="0" dirty="0">
                <a:solidFill>
                  <a:schemeClr val="accent4"/>
                </a:solidFill>
              </a:rPr>
              <a:t>VERSION 1  ·  1 mm tray</a:t>
            </a:r>
            <a:endParaRPr lang="en-US" sz="1200" dirty="0"/>
          </a:p>
        </p:txBody>
      </p:sp>
      <p:sp>
        <p:nvSpPr>
          <p:cNvPr id="5" name="Text 3"/>
          <p:cNvSpPr txBox="1"/>
          <p:nvPr/>
        </p:nvSpPr>
        <p:spPr>
          <a:xfrm>
            <a:off x="822960" y="2011680"/>
            <a:ext cx="4023360" cy="914400"/>
          </a:xfrm>
          <a:prstGeom prst="rect">
            <a:avLst/>
          </a:prstGeom>
          <a:noFill/>
          <a:ln/>
        </p:spPr>
        <p:txBody>
          <a:bodyPr wrap="square" lIns="0" tIns="0" rIns="0" bIns="0" rtlCol="0" anchor="ctr"/>
          <a:lstStyle/>
          <a:p>
            <a:pPr indent="0" marL="0">
              <a:buNone/>
            </a:pPr>
            <a:r>
              <a:rPr lang="en-US" sz="5400" b="1" dirty="0">
                <a:solidFill>
                  <a:schemeClr val="accent5"/>
                </a:solidFill>
                <a:latin typeface="Cambria" pitchFamily="34" charset="0"/>
                <a:ea typeface="Cambria" pitchFamily="34" charset="-122"/>
                <a:cs typeface="Cambria" pitchFamily="34" charset="-120"/>
              </a:rPr>
              <a:t>11.1 mm</a:t>
            </a:r>
            <a:endParaRPr lang="en-US" sz="5400" dirty="0"/>
          </a:p>
        </p:txBody>
      </p:sp>
      <p:sp>
        <p:nvSpPr>
          <p:cNvPr id="6" name="Text 4"/>
          <p:cNvSpPr txBox="1"/>
          <p:nvPr/>
        </p:nvSpPr>
        <p:spPr>
          <a:xfrm>
            <a:off x="822960" y="2971800"/>
            <a:ext cx="4023360" cy="548640"/>
          </a:xfrm>
          <a:prstGeom prst="rect">
            <a:avLst/>
          </a:prstGeom>
          <a:noFill/>
          <a:ln/>
        </p:spPr>
        <p:txBody>
          <a:bodyPr wrap="square" lIns="0" tIns="0" rIns="0" bIns="0" rtlCol="0" anchor="t"/>
          <a:lstStyle/>
          <a:p>
            <a:pPr indent="0" marL="0">
              <a:buNone/>
            </a:pPr>
            <a:r>
              <a:rPr lang="en-US" sz="1400" dirty="0">
                <a:solidFill>
                  <a:schemeClr val="tx1"/>
                </a:solidFill>
              </a:rPr>
              <a:t>predicted deflection — a springy, bouncy keyboard</a:t>
            </a:r>
            <a:endParaRPr lang="en-US" sz="1400" dirty="0"/>
          </a:p>
        </p:txBody>
      </p:sp>
      <p:sp>
        <p:nvSpPr>
          <p:cNvPr id="7" name="Arrow v1 to v2"/>
          <p:cNvSpPr/>
          <p:nvPr/>
        </p:nvSpPr>
        <p:spPr>
          <a:xfrm>
            <a:off x="5303520" y="2194560"/>
            <a:ext cx="1188720" cy="685800"/>
          </a:xfrm>
          <a:prstGeom prst="rightArrow">
            <a:avLst/>
          </a:prstGeom>
          <a:solidFill>
            <a:schemeClr val="accent1"/>
          </a:solidFill>
          <a:ln/>
        </p:spPr>
      </p:sp>
      <p:sp>
        <p:nvSpPr>
          <p:cNvPr id="8" name="v2 card"/>
          <p:cNvSpPr/>
          <p:nvPr/>
        </p:nvSpPr>
        <p:spPr>
          <a:xfrm>
            <a:off x="7068312" y="1508760"/>
            <a:ext cx="4572000" cy="2148840"/>
          </a:xfrm>
          <a:prstGeom prst="roundRect">
            <a:avLst>
              <a:gd name="adj" fmla="val 5106"/>
            </a:avLst>
          </a:prstGeom>
          <a:solidFill>
            <a:schemeClr val="tx2"/>
          </a:solidFill>
          <a:ln/>
        </p:spPr>
      </p:sp>
      <p:sp>
        <p:nvSpPr>
          <p:cNvPr id="9" name="Text 7"/>
          <p:cNvSpPr txBox="1"/>
          <p:nvPr/>
        </p:nvSpPr>
        <p:spPr>
          <a:xfrm>
            <a:off x="7342632" y="1645920"/>
            <a:ext cx="402336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VERSION 2  ·  2 mm tray</a:t>
            </a:r>
            <a:endParaRPr lang="en-US" sz="1200" dirty="0"/>
          </a:p>
        </p:txBody>
      </p:sp>
      <p:sp>
        <p:nvSpPr>
          <p:cNvPr id="10" name="Text 8"/>
          <p:cNvSpPr txBox="1"/>
          <p:nvPr/>
        </p:nvSpPr>
        <p:spPr>
          <a:xfrm>
            <a:off x="7342632" y="2011680"/>
            <a:ext cx="4023360" cy="914400"/>
          </a:xfrm>
          <a:prstGeom prst="rect">
            <a:avLst/>
          </a:prstGeom>
          <a:noFill/>
          <a:ln/>
        </p:spPr>
        <p:txBody>
          <a:bodyPr wrap="square" lIns="0" tIns="0" rIns="0" bIns="0"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1.4 mm</a:t>
            </a:r>
            <a:endParaRPr lang="en-US" sz="5400" dirty="0"/>
          </a:p>
        </p:txBody>
      </p:sp>
      <p:sp>
        <p:nvSpPr>
          <p:cNvPr id="11" name="Text 9"/>
          <p:cNvSpPr txBox="1"/>
          <p:nvPr/>
        </p:nvSpPr>
        <p:spPr>
          <a:xfrm>
            <a:off x="7342632" y="2971800"/>
            <a:ext cx="4023360" cy="548640"/>
          </a:xfrm>
          <a:prstGeom prst="rect">
            <a:avLst/>
          </a:prstGeom>
          <a:noFill/>
          <a:ln/>
        </p:spPr>
        <p:txBody>
          <a:bodyPr wrap="square" lIns="0" tIns="0" rIns="0" bIns="0" rtlCol="0" anchor="t"/>
          <a:lstStyle/>
          <a:p>
            <a:pPr indent="0" marL="0">
              <a:buNone/>
            </a:pPr>
            <a:r>
              <a:rPr lang="en-US" sz="1400" dirty="0">
                <a:solidFill>
                  <a:schemeClr val="bg2"/>
                </a:solidFill>
              </a:rPr>
              <a:t>predicted deflection — 8× stiffer for only 2× the sheet mass</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3931920"/>
          <a:ext cx="11094415" cy="914400"/>
        </p:xfrm>
        <a:graphic>
          <a:graphicData uri="http://schemas.openxmlformats.org/drawingml/2006/table">
            <a:tbl>
              <a:tblPr/>
              <a:tblGrid>
                <a:gridCol w="1188720"/>
                <a:gridCol w="3291840"/>
                <a:gridCol w="3291840"/>
                <a:gridCol w="3319272"/>
              </a:tblGrid>
              <a:tr h="566928">
                <a:tc>
                  <a:txBody>
                    <a:bodyPr/>
                    <a:lstStyle/>
                    <a:p>
                      <a:pPr indent="0" marL="0">
                        <a:buNone/>
                      </a:pPr>
                      <a:r>
                        <a:rPr lang="en-US" sz="1400" b="1" dirty="0">
                          <a:solidFill>
                            <a:schemeClr val="accent2"/>
                          </a:solidFill>
                        </a:rPr>
                        <a:t>Problem</a:t>
                      </a:r>
                      <a:endParaRPr lang="en-US" sz="1400" dirty="0"/>
                    </a:p>
                  </a:txBody>
                  <a:tcPr marL="109728" marR="109728" marT="0" marB="0" anchor="ctr">
                    <a:lnL w="9525" cap="flat" cmpd="sng" algn="ctr">
                      <a:solidFill>
                        <a:srgbClr val="DDE5ED"/>
                      </a:solidFill>
                      <a:prstDash val="solid"/>
                      <a:round/>
                      <a:headEnd type="none" w="med" len="med"/>
                      <a:tailEnd type="none" w="med" len="med"/>
                    </a:lnL>
                    <a:lnR w="9525" cap="flat" cmpd="sng" algn="ctr">
                      <a:solidFill>
                        <a:srgbClr val="DDE5ED"/>
                      </a:solidFill>
                      <a:prstDash val="solid"/>
                      <a:round/>
                      <a:headEnd type="none" w="med" len="med"/>
                      <a:tailEnd type="none" w="med" len="med"/>
                    </a:lnR>
                    <a:lnT w="9525" cap="flat" cmpd="sng" algn="ctr">
                      <a:solidFill>
                        <a:srgbClr val="DDE5ED"/>
                      </a:solidFill>
                      <a:prstDash val="solid"/>
                      <a:round/>
                      <a:headEnd type="none" w="med" len="med"/>
                      <a:tailEnd type="none" w="med" len="med"/>
                    </a:lnT>
                    <a:lnB w="9525" cap="flat" cmpd="sng" algn="ctr">
                      <a:solidFill>
                        <a:srgbClr val="DDE5ED"/>
                      </a:solidFill>
                      <a:prstDash val="solid"/>
                      <a:round/>
                      <a:headEnd type="none" w="med" len="med"/>
                      <a:tailEnd type="none" w="med" len="med"/>
                    </a:lnB>
                  </a:tcPr>
                </a:tc>
                <a:tc>
                  <a:txBody>
                    <a:bodyPr/>
                    <a:lstStyle/>
                    <a:p>
                      <a:pPr indent="0" marL="0">
                        <a:buNone/>
                      </a:pPr>
                      <a:r>
                        <a:rPr lang="en-US" sz="1400" dirty="0">
                          <a:solidFill>
                            <a:schemeClr val="tx1"/>
                          </a:solidFill>
                        </a:rPr>
                        <a:t>Tray flexed when typing</a:t>
                      </a:r>
                      <a:endParaRPr lang="en-US" sz="1400" dirty="0"/>
                    </a:p>
                  </a:txBody>
                  <a:tcPr marL="109728" marR="109728" marT="0" marB="0" anchor="ctr">
                    <a:lnL w="9525" cap="flat" cmpd="sng" algn="ctr">
                      <a:solidFill>
                        <a:srgbClr val="DDE5ED"/>
                      </a:solidFill>
                      <a:prstDash val="solid"/>
                      <a:round/>
                      <a:headEnd type="none" w="med" len="med"/>
                      <a:tailEnd type="none" w="med" len="med"/>
                    </a:lnL>
                    <a:lnR w="9525" cap="flat" cmpd="sng" algn="ctr">
                      <a:solidFill>
                        <a:srgbClr val="DDE5ED"/>
                      </a:solidFill>
                      <a:prstDash val="solid"/>
                      <a:round/>
                      <a:headEnd type="none" w="med" len="med"/>
                      <a:tailEnd type="none" w="med" len="med"/>
                    </a:lnR>
                    <a:lnT w="9525" cap="flat" cmpd="sng" algn="ctr">
                      <a:solidFill>
                        <a:srgbClr val="DDE5ED"/>
                      </a:solidFill>
                      <a:prstDash val="solid"/>
                      <a:round/>
                      <a:headEnd type="none" w="med" len="med"/>
                      <a:tailEnd type="none" w="med" len="med"/>
                    </a:lnT>
                    <a:lnB w="9525" cap="flat" cmpd="sng" algn="ctr">
                      <a:solidFill>
                        <a:srgbClr val="DDE5ED"/>
                      </a:solidFill>
                      <a:prstDash val="solid"/>
                      <a:round/>
                      <a:headEnd type="none" w="med" len="med"/>
                      <a:tailEnd type="none" w="med" len="med"/>
                    </a:lnB>
                  </a:tcPr>
                </a:tc>
                <a:tc>
                  <a:txBody>
                    <a:bodyPr/>
                    <a:lstStyle/>
                    <a:p>
                      <a:pPr indent="0" marL="0">
                        <a:buNone/>
                      </a:pPr>
                      <a:r>
                        <a:rPr lang="en-US" sz="1400" dirty="0">
                          <a:solidFill>
                            <a:schemeClr val="tx1"/>
                          </a:solidFill>
                        </a:rPr>
                        <a:t>Rear legs slid on the desk</a:t>
                      </a:r>
                      <a:endParaRPr lang="en-US" sz="1400" dirty="0"/>
                    </a:p>
                  </a:txBody>
                  <a:tcPr marL="109728" marR="109728" marT="0" marB="0" anchor="ctr">
                    <a:lnL w="9525" cap="flat" cmpd="sng" algn="ctr">
                      <a:solidFill>
                        <a:srgbClr val="DDE5ED"/>
                      </a:solidFill>
                      <a:prstDash val="solid"/>
                      <a:round/>
                      <a:headEnd type="none" w="med" len="med"/>
                      <a:tailEnd type="none" w="med" len="med"/>
                    </a:lnL>
                    <a:lnR w="9525" cap="flat" cmpd="sng" algn="ctr">
                      <a:solidFill>
                        <a:srgbClr val="DDE5ED"/>
                      </a:solidFill>
                      <a:prstDash val="solid"/>
                      <a:round/>
                      <a:headEnd type="none" w="med" len="med"/>
                      <a:tailEnd type="none" w="med" len="med"/>
                    </a:lnR>
                    <a:lnT w="9525" cap="flat" cmpd="sng" algn="ctr">
                      <a:solidFill>
                        <a:srgbClr val="DDE5ED"/>
                      </a:solidFill>
                      <a:prstDash val="solid"/>
                      <a:round/>
                      <a:headEnd type="none" w="med" len="med"/>
                      <a:tailEnd type="none" w="med" len="med"/>
                    </a:lnT>
                    <a:lnB w="9525" cap="flat" cmpd="sng" algn="ctr">
                      <a:solidFill>
                        <a:srgbClr val="DDE5ED"/>
                      </a:solidFill>
                      <a:prstDash val="solid"/>
                      <a:round/>
                      <a:headEnd type="none" w="med" len="med"/>
                      <a:tailEnd type="none" w="med" len="med"/>
                    </a:lnB>
                  </a:tcPr>
                </a:tc>
                <a:tc>
                  <a:txBody>
                    <a:bodyPr/>
                    <a:lstStyle/>
                    <a:p>
                      <a:pPr indent="0" marL="0">
                        <a:buNone/>
                      </a:pPr>
                      <a:r>
                        <a:rPr lang="en-US" sz="1400" dirty="0">
                          <a:solidFill>
                            <a:schemeClr val="tx1"/>
                          </a:solidFill>
                        </a:rPr>
                        <a:t>Hinge wobbled sideways</a:t>
                      </a:r>
                      <a:endParaRPr lang="en-US" sz="1400" dirty="0"/>
                    </a:p>
                  </a:txBody>
                  <a:tcPr marL="109728" marR="109728" marT="0" marB="0" anchor="ctr">
                    <a:lnL w="9525" cap="flat" cmpd="sng" algn="ctr">
                      <a:solidFill>
                        <a:srgbClr val="DDE5ED"/>
                      </a:solidFill>
                      <a:prstDash val="solid"/>
                      <a:round/>
                      <a:headEnd type="none" w="med" len="med"/>
                      <a:tailEnd type="none" w="med" len="med"/>
                    </a:lnL>
                    <a:lnR w="9525" cap="flat" cmpd="sng" algn="ctr">
                      <a:solidFill>
                        <a:srgbClr val="DDE5ED"/>
                      </a:solidFill>
                      <a:prstDash val="solid"/>
                      <a:round/>
                      <a:headEnd type="none" w="med" len="med"/>
                      <a:tailEnd type="none" w="med" len="med"/>
                    </a:lnR>
                    <a:lnT w="9525" cap="flat" cmpd="sng" algn="ctr">
                      <a:solidFill>
                        <a:srgbClr val="DDE5ED"/>
                      </a:solidFill>
                      <a:prstDash val="solid"/>
                      <a:round/>
                      <a:headEnd type="none" w="med" len="med"/>
                      <a:tailEnd type="none" w="med" len="med"/>
                    </a:lnT>
                    <a:lnB w="9525" cap="flat" cmpd="sng" algn="ctr">
                      <a:solidFill>
                        <a:srgbClr val="DDE5ED"/>
                      </a:solidFill>
                      <a:prstDash val="solid"/>
                      <a:round/>
                      <a:headEnd type="none" w="med" len="med"/>
                      <a:tailEnd type="none" w="med" len="med"/>
                    </a:lnB>
                  </a:tcPr>
                </a:tc>
              </a:tr>
              <a:tr h="566928">
                <a:tc>
                  <a:txBody>
                    <a:bodyPr/>
                    <a:lstStyle/>
                    <a:p>
                      <a:pPr indent="0" marL="0">
                        <a:buNone/>
                      </a:pPr>
                      <a:r>
                        <a:rPr lang="en-US" sz="1400" b="1" dirty="0">
                          <a:solidFill>
                            <a:schemeClr val="accent2"/>
                          </a:solidFill>
                        </a:rPr>
                        <a:t>Change</a:t>
                      </a:r>
                      <a:endParaRPr lang="en-US" sz="1400" dirty="0"/>
                    </a:p>
                  </a:txBody>
                  <a:tcPr marL="109728" marR="109728" marT="0" marB="0" anchor="ctr">
                    <a:lnL w="9525" cap="flat" cmpd="sng" algn="ctr">
                      <a:solidFill>
                        <a:srgbClr val="DDE5ED"/>
                      </a:solidFill>
                      <a:prstDash val="solid"/>
                      <a:round/>
                      <a:headEnd type="none" w="med" len="med"/>
                      <a:tailEnd type="none" w="med" len="med"/>
                    </a:lnL>
                    <a:lnR w="9525" cap="flat" cmpd="sng" algn="ctr">
                      <a:solidFill>
                        <a:srgbClr val="DDE5ED"/>
                      </a:solidFill>
                      <a:prstDash val="solid"/>
                      <a:round/>
                      <a:headEnd type="none" w="med" len="med"/>
                      <a:tailEnd type="none" w="med" len="med"/>
                    </a:lnR>
                    <a:lnT w="9525" cap="flat" cmpd="sng" algn="ctr">
                      <a:solidFill>
                        <a:srgbClr val="DDE5ED"/>
                      </a:solidFill>
                      <a:prstDash val="solid"/>
                      <a:round/>
                      <a:headEnd type="none" w="med" len="med"/>
                      <a:tailEnd type="none" w="med" len="med"/>
                    </a:lnT>
                    <a:lnB w="9525" cap="flat" cmpd="sng" algn="ctr">
                      <a:solidFill>
                        <a:srgbClr val="DDE5ED"/>
                      </a:solidFill>
                      <a:prstDash val="solid"/>
                      <a:round/>
                      <a:headEnd type="none" w="med" len="med"/>
                      <a:tailEnd type="none" w="med" len="med"/>
                    </a:lnB>
                  </a:tcPr>
                </a:tc>
                <a:tc>
                  <a:txBody>
                    <a:bodyPr/>
                    <a:lstStyle/>
                    <a:p>
                      <a:pPr indent="0" marL="0">
                        <a:buNone/>
                      </a:pPr>
                      <a:r>
                        <a:rPr lang="en-US" sz="1400" dirty="0">
                          <a:solidFill>
                            <a:schemeClr val="tx1"/>
                          </a:solidFill>
                        </a:rPr>
                        <a:t>Doubled thickness to 2 mm</a:t>
                      </a:r>
                      <a:endParaRPr lang="en-US" sz="1400" dirty="0"/>
                    </a:p>
                  </a:txBody>
                  <a:tcPr marL="109728" marR="109728" marT="0" marB="0" anchor="ctr">
                    <a:lnL w="9525" cap="flat" cmpd="sng" algn="ctr">
                      <a:solidFill>
                        <a:srgbClr val="DDE5ED"/>
                      </a:solidFill>
                      <a:prstDash val="solid"/>
                      <a:round/>
                      <a:headEnd type="none" w="med" len="med"/>
                      <a:tailEnd type="none" w="med" len="med"/>
                    </a:lnL>
                    <a:lnR w="9525" cap="flat" cmpd="sng" algn="ctr">
                      <a:solidFill>
                        <a:srgbClr val="DDE5ED"/>
                      </a:solidFill>
                      <a:prstDash val="solid"/>
                      <a:round/>
                      <a:headEnd type="none" w="med" len="med"/>
                      <a:tailEnd type="none" w="med" len="med"/>
                    </a:lnR>
                    <a:lnT w="9525" cap="flat" cmpd="sng" algn="ctr">
                      <a:solidFill>
                        <a:srgbClr val="DDE5ED"/>
                      </a:solidFill>
                      <a:prstDash val="solid"/>
                      <a:round/>
                      <a:headEnd type="none" w="med" len="med"/>
                      <a:tailEnd type="none" w="med" len="med"/>
                    </a:lnT>
                    <a:lnB w="9525" cap="flat" cmpd="sng" algn="ctr">
                      <a:solidFill>
                        <a:srgbClr val="DDE5ED"/>
                      </a:solidFill>
                      <a:prstDash val="solid"/>
                      <a:round/>
                      <a:headEnd type="none" w="med" len="med"/>
                      <a:tailEnd type="none" w="med" len="med"/>
                    </a:lnB>
                  </a:tcPr>
                </a:tc>
                <a:tc>
                  <a:txBody>
                    <a:bodyPr/>
                    <a:lstStyle/>
                    <a:p>
                      <a:pPr indent="0" marL="0">
                        <a:buNone/>
                      </a:pPr>
                      <a:r>
                        <a:rPr lang="en-US" sz="1400" dirty="0">
                          <a:solidFill>
                            <a:schemeClr val="tx1"/>
                          </a:solidFill>
                        </a:rPr>
                        <a:t>Added silicone feet and serrated notches</a:t>
                      </a:r>
                      <a:endParaRPr lang="en-US" sz="1400" dirty="0"/>
                    </a:p>
                  </a:txBody>
                  <a:tcPr marL="109728" marR="109728" marT="0" marB="0" anchor="ctr">
                    <a:lnL w="9525" cap="flat" cmpd="sng" algn="ctr">
                      <a:solidFill>
                        <a:srgbClr val="DDE5ED"/>
                      </a:solidFill>
                      <a:prstDash val="solid"/>
                      <a:round/>
                      <a:headEnd type="none" w="med" len="med"/>
                      <a:tailEnd type="none" w="med" len="med"/>
                    </a:lnL>
                    <a:lnR w="9525" cap="flat" cmpd="sng" algn="ctr">
                      <a:solidFill>
                        <a:srgbClr val="DDE5ED"/>
                      </a:solidFill>
                      <a:prstDash val="solid"/>
                      <a:round/>
                      <a:headEnd type="none" w="med" len="med"/>
                      <a:tailEnd type="none" w="med" len="med"/>
                    </a:lnR>
                    <a:lnT w="9525" cap="flat" cmpd="sng" algn="ctr">
                      <a:solidFill>
                        <a:srgbClr val="DDE5ED"/>
                      </a:solidFill>
                      <a:prstDash val="solid"/>
                      <a:round/>
                      <a:headEnd type="none" w="med" len="med"/>
                      <a:tailEnd type="none" w="med" len="med"/>
                    </a:lnT>
                    <a:lnB w="9525" cap="flat" cmpd="sng" algn="ctr">
                      <a:solidFill>
                        <a:srgbClr val="DDE5ED"/>
                      </a:solidFill>
                      <a:prstDash val="solid"/>
                      <a:round/>
                      <a:headEnd type="none" w="med" len="med"/>
                      <a:tailEnd type="none" w="med" len="med"/>
                    </a:lnB>
                  </a:tcPr>
                </a:tc>
                <a:tc>
                  <a:txBody>
                    <a:bodyPr/>
                    <a:lstStyle/>
                    <a:p>
                      <a:pPr indent="0" marL="0">
                        <a:buNone/>
                      </a:pPr>
                      <a:r>
                        <a:rPr lang="en-US" sz="1400" dirty="0">
                          <a:solidFill>
                            <a:schemeClr val="tx1"/>
                          </a:solidFill>
                        </a:rPr>
                        <a:t>Swapped rivets for shoulder bolts</a:t>
                      </a:r>
                      <a:endParaRPr lang="en-US" sz="1400" dirty="0"/>
                    </a:p>
                  </a:txBody>
                  <a:tcPr marL="109728" marR="109728" marT="0" marB="0" anchor="ctr">
                    <a:lnL w="9525" cap="flat" cmpd="sng" algn="ctr">
                      <a:solidFill>
                        <a:srgbClr val="DDE5ED"/>
                      </a:solidFill>
                      <a:prstDash val="solid"/>
                      <a:round/>
                      <a:headEnd type="none" w="med" len="med"/>
                      <a:tailEnd type="none" w="med" len="med"/>
                    </a:lnL>
                    <a:lnR w="9525" cap="flat" cmpd="sng" algn="ctr">
                      <a:solidFill>
                        <a:srgbClr val="DDE5ED"/>
                      </a:solidFill>
                      <a:prstDash val="solid"/>
                      <a:round/>
                      <a:headEnd type="none" w="med" len="med"/>
                      <a:tailEnd type="none" w="med" len="med"/>
                    </a:lnR>
                    <a:lnT w="9525" cap="flat" cmpd="sng" algn="ctr">
                      <a:solidFill>
                        <a:srgbClr val="DDE5ED"/>
                      </a:solidFill>
                      <a:prstDash val="solid"/>
                      <a:round/>
                      <a:headEnd type="none" w="med" len="med"/>
                      <a:tailEnd type="none" w="med" len="med"/>
                    </a:lnT>
                    <a:lnB w="9525" cap="flat" cmpd="sng" algn="ctr">
                      <a:solidFill>
                        <a:srgbClr val="DDE5ED"/>
                      </a:solidFill>
                      <a:prstDash val="solid"/>
                      <a:round/>
                      <a:headEnd type="none" w="med" len="med"/>
                      <a:tailEnd type="none" w="med" len="med"/>
                    </a:lnB>
                  </a:tcPr>
                </a:tc>
              </a:tr>
              <a:tr h="566928">
                <a:tc>
                  <a:txBody>
                    <a:bodyPr/>
                    <a:lstStyle/>
                    <a:p>
                      <a:pPr indent="0" marL="0">
                        <a:buNone/>
                      </a:pPr>
                      <a:r>
                        <a:rPr lang="en-US" sz="1400" b="1" dirty="0">
                          <a:solidFill>
                            <a:schemeClr val="accent2"/>
                          </a:solidFill>
                        </a:rPr>
                        <a:t>Result</a:t>
                      </a:r>
                      <a:endParaRPr lang="en-US" sz="1400" dirty="0"/>
                    </a:p>
                  </a:txBody>
                  <a:tcPr marL="109728" marR="109728" marT="0" marB="0" anchor="ctr">
                    <a:lnL w="9525" cap="flat" cmpd="sng" algn="ctr">
                      <a:solidFill>
                        <a:srgbClr val="DDE5ED"/>
                      </a:solidFill>
                      <a:prstDash val="solid"/>
                      <a:round/>
                      <a:headEnd type="none" w="med" len="med"/>
                      <a:tailEnd type="none" w="med" len="med"/>
                    </a:lnL>
                    <a:lnR w="9525" cap="flat" cmpd="sng" algn="ctr">
                      <a:solidFill>
                        <a:srgbClr val="DDE5ED"/>
                      </a:solidFill>
                      <a:prstDash val="solid"/>
                      <a:round/>
                      <a:headEnd type="none" w="med" len="med"/>
                      <a:tailEnd type="none" w="med" len="med"/>
                    </a:lnR>
                    <a:lnT w="9525" cap="flat" cmpd="sng" algn="ctr">
                      <a:solidFill>
                        <a:srgbClr val="DDE5ED"/>
                      </a:solidFill>
                      <a:prstDash val="solid"/>
                      <a:round/>
                      <a:headEnd type="none" w="med" len="med"/>
                      <a:tailEnd type="none" w="med" len="med"/>
                    </a:lnT>
                    <a:lnB w="9525" cap="flat" cmpd="sng" algn="ctr">
                      <a:solidFill>
                        <a:srgbClr val="DDE5ED"/>
                      </a:solidFill>
                      <a:prstDash val="solid"/>
                      <a:round/>
                      <a:headEnd type="none" w="med" len="med"/>
                      <a:tailEnd type="none" w="med" len="med"/>
                    </a:lnB>
                  </a:tcPr>
                </a:tc>
                <a:tc>
                  <a:txBody>
                    <a:bodyPr/>
                    <a:lstStyle/>
                    <a:p>
                      <a:pPr indent="0" marL="0">
                        <a:buNone/>
                      </a:pPr>
                      <a:r>
                        <a:rPr lang="en-US" sz="1400" dirty="0">
                          <a:solidFill>
                            <a:schemeClr val="tx1"/>
                          </a:solidFill>
                        </a:rPr>
                        <a:t>Meets the deflection limit</a:t>
                      </a:r>
                      <a:endParaRPr lang="en-US" sz="1400" dirty="0"/>
                    </a:p>
                  </a:txBody>
                  <a:tcPr marL="109728" marR="109728" marT="0" marB="0" anchor="ctr">
                    <a:lnL w="9525" cap="flat" cmpd="sng" algn="ctr">
                      <a:solidFill>
                        <a:srgbClr val="DDE5ED"/>
                      </a:solidFill>
                      <a:prstDash val="solid"/>
                      <a:round/>
                      <a:headEnd type="none" w="med" len="med"/>
                      <a:tailEnd type="none" w="med" len="med"/>
                    </a:lnL>
                    <a:lnR w="9525" cap="flat" cmpd="sng" algn="ctr">
                      <a:solidFill>
                        <a:srgbClr val="DDE5ED"/>
                      </a:solidFill>
                      <a:prstDash val="solid"/>
                      <a:round/>
                      <a:headEnd type="none" w="med" len="med"/>
                      <a:tailEnd type="none" w="med" len="med"/>
                    </a:lnR>
                    <a:lnT w="9525" cap="flat" cmpd="sng" algn="ctr">
                      <a:solidFill>
                        <a:srgbClr val="DDE5ED"/>
                      </a:solidFill>
                      <a:prstDash val="solid"/>
                      <a:round/>
                      <a:headEnd type="none" w="med" len="med"/>
                      <a:tailEnd type="none" w="med" len="med"/>
                    </a:lnT>
                    <a:lnB w="9525" cap="flat" cmpd="sng" algn="ctr">
                      <a:solidFill>
                        <a:srgbClr val="DDE5ED"/>
                      </a:solidFill>
                      <a:prstDash val="solid"/>
                      <a:round/>
                      <a:headEnd type="none" w="med" len="med"/>
                      <a:tailEnd type="none" w="med" len="med"/>
                    </a:lnB>
                  </a:tcPr>
                </a:tc>
                <a:tc>
                  <a:txBody>
                    <a:bodyPr/>
                    <a:lstStyle/>
                    <a:p>
                      <a:pPr indent="0" marL="0">
                        <a:buNone/>
                      </a:pPr>
                      <a:r>
                        <a:rPr lang="en-US" sz="1400" dirty="0">
                          <a:solidFill>
                            <a:schemeClr val="tx1"/>
                          </a:solidFill>
                        </a:rPr>
                        <a:t>Holds position on smooth desks</a:t>
                      </a:r>
                      <a:endParaRPr lang="en-US" sz="1400" dirty="0"/>
                    </a:p>
                  </a:txBody>
                  <a:tcPr marL="109728" marR="109728" marT="0" marB="0" anchor="ctr">
                    <a:lnL w="9525" cap="flat" cmpd="sng" algn="ctr">
                      <a:solidFill>
                        <a:srgbClr val="DDE5ED"/>
                      </a:solidFill>
                      <a:prstDash val="solid"/>
                      <a:round/>
                      <a:headEnd type="none" w="med" len="med"/>
                      <a:tailEnd type="none" w="med" len="med"/>
                    </a:lnL>
                    <a:lnR w="9525" cap="flat" cmpd="sng" algn="ctr">
                      <a:solidFill>
                        <a:srgbClr val="DDE5ED"/>
                      </a:solidFill>
                      <a:prstDash val="solid"/>
                      <a:round/>
                      <a:headEnd type="none" w="med" len="med"/>
                      <a:tailEnd type="none" w="med" len="med"/>
                    </a:lnR>
                    <a:lnT w="9525" cap="flat" cmpd="sng" algn="ctr">
                      <a:solidFill>
                        <a:srgbClr val="DDE5ED"/>
                      </a:solidFill>
                      <a:prstDash val="solid"/>
                      <a:round/>
                      <a:headEnd type="none" w="med" len="med"/>
                      <a:tailEnd type="none" w="med" len="med"/>
                    </a:lnT>
                    <a:lnB w="9525" cap="flat" cmpd="sng" algn="ctr">
                      <a:solidFill>
                        <a:srgbClr val="DDE5ED"/>
                      </a:solidFill>
                      <a:prstDash val="solid"/>
                      <a:round/>
                      <a:headEnd type="none" w="med" len="med"/>
                      <a:tailEnd type="none" w="med" len="med"/>
                    </a:lnB>
                  </a:tcPr>
                </a:tc>
                <a:tc>
                  <a:txBody>
                    <a:bodyPr/>
                    <a:lstStyle/>
                    <a:p>
                      <a:pPr indent="0" marL="0">
                        <a:buNone/>
                      </a:pPr>
                      <a:r>
                        <a:rPr lang="en-US" sz="1400" dirty="0">
                          <a:solidFill>
                            <a:schemeClr val="tx1"/>
                          </a:solidFill>
                        </a:rPr>
                        <a:t>Rigid, repeatable pivot</a:t>
                      </a:r>
                      <a:endParaRPr lang="en-US" sz="1400" dirty="0"/>
                    </a:p>
                  </a:txBody>
                  <a:tcPr marL="109728" marR="109728" marT="0" marB="0" anchor="ctr">
                    <a:lnL w="9525" cap="flat" cmpd="sng" algn="ctr">
                      <a:solidFill>
                        <a:srgbClr val="DDE5ED"/>
                      </a:solidFill>
                      <a:prstDash val="solid"/>
                      <a:round/>
                      <a:headEnd type="none" w="med" len="med"/>
                      <a:tailEnd type="none" w="med" len="med"/>
                    </a:lnL>
                    <a:lnR w="9525" cap="flat" cmpd="sng" algn="ctr">
                      <a:solidFill>
                        <a:srgbClr val="DDE5ED"/>
                      </a:solidFill>
                      <a:prstDash val="solid"/>
                      <a:round/>
                      <a:headEnd type="none" w="med" len="med"/>
                      <a:tailEnd type="none" w="med" len="med"/>
                    </a:lnR>
                    <a:lnT w="9525" cap="flat" cmpd="sng" algn="ctr">
                      <a:solidFill>
                        <a:srgbClr val="DDE5ED"/>
                      </a:solidFill>
                      <a:prstDash val="solid"/>
                      <a:round/>
                      <a:headEnd type="none" w="med" len="med"/>
                      <a:tailEnd type="none" w="med" len="med"/>
                    </a:lnT>
                    <a:lnB w="9525" cap="flat" cmpd="sng" algn="ctr">
                      <a:solidFill>
                        <a:srgbClr val="DDE5ED"/>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400" b="1" dirty="0">
                <a:solidFill>
                  <a:schemeClr val="tx2"/>
                </a:solidFill>
              </a:rPr>
              <a:t>Beyond the calculations</a:t>
            </a:r>
            <a:endParaRPr lang="en-US" sz="3400" dirty="0"/>
          </a:p>
        </p:txBody>
      </p:sp>
      <p:sp>
        <p:nvSpPr>
          <p:cNvPr id="3" name="Consideration card 1"/>
          <p:cNvSpPr/>
          <p:nvPr/>
        </p:nvSpPr>
        <p:spPr>
          <a:xfrm>
            <a:off x="548640" y="1508760"/>
            <a:ext cx="5468112" cy="2286000"/>
          </a:xfrm>
          <a:prstGeom prst="roundRect">
            <a:avLst>
              <a:gd name="adj" fmla="val 4800"/>
            </a:avLst>
          </a:prstGeom>
          <a:solidFill>
            <a:schemeClr val="bg2"/>
          </a:solidFill>
          <a:ln/>
        </p:spPr>
      </p:sp>
      <p:sp>
        <p:nvSpPr>
          <p:cNvPr id="4" name="Consideration icon circle 1"/>
          <p:cNvSpPr/>
          <p:nvPr/>
        </p:nvSpPr>
        <p:spPr>
          <a:xfrm>
            <a:off x="822960" y="1783080"/>
            <a:ext cx="685800" cy="685800"/>
          </a:xfrm>
          <a:prstGeom prst="ellipse">
            <a:avLst/>
          </a:prstGeom>
          <a:solidFill>
            <a:schemeClr val="accent2"/>
          </a:solidFill>
          <a:ln/>
        </p:spPr>
      </p:sp>
      <p:pic>
        <p:nvPicPr>
          <p:cNvPr id="5" name="Image 0" descr="Safety icon">    </p:cNvPr>
          <p:cNvPicPr>
            <a:picLocks noChangeAspect="1"/>
          </p:cNvPicPr>
          <p:nvPr/>
        </p:nvPicPr>
        <p:blipFill>
          <a:blip r:embed="rId1"/>
          <a:stretch>
            <a:fillRect/>
          </a:stretch>
        </p:blipFill>
        <p:spPr>
          <a:xfrm>
            <a:off x="1005840" y="1965960"/>
            <a:ext cx="320040" cy="320040"/>
          </a:xfrm>
          <a:prstGeom prst="rect">
            <a:avLst/>
          </a:prstGeom>
        </p:spPr>
      </p:pic>
      <p:sp>
        <p:nvSpPr>
          <p:cNvPr id="6" name="Text 3"/>
          <p:cNvSpPr txBox="1"/>
          <p:nvPr/>
        </p:nvSpPr>
        <p:spPr>
          <a:xfrm>
            <a:off x="1737360" y="1783080"/>
            <a:ext cx="4023360" cy="685800"/>
          </a:xfrm>
          <a:prstGeom prst="rect">
            <a:avLst/>
          </a:prstGeom>
          <a:noFill/>
          <a:ln/>
        </p:spPr>
        <p:txBody>
          <a:bodyPr wrap="square" lIns="0" tIns="0" rIns="0" bIns="0" rtlCol="0" anchor="ctr"/>
          <a:lstStyle/>
          <a:p>
            <a:pPr indent="0" marL="0">
              <a:buNone/>
            </a:pPr>
            <a:r>
              <a:rPr lang="en-US" sz="2200" b="1" dirty="0">
                <a:solidFill>
                  <a:schemeClr val="tx2"/>
                </a:solidFill>
              </a:rPr>
              <a:t>Safety</a:t>
            </a:r>
            <a:endParaRPr lang="en-US" sz="2200" dirty="0"/>
          </a:p>
        </p:txBody>
      </p:sp>
      <p:sp>
        <p:nvSpPr>
          <p:cNvPr id="7" name="Text 4"/>
          <p:cNvSpPr txBox="1"/>
          <p:nvPr/>
        </p:nvSpPr>
        <p:spPr>
          <a:xfrm>
            <a:off x="822960" y="2697480"/>
            <a:ext cx="4937760" cy="960120"/>
          </a:xfrm>
          <a:prstGeom prst="rect">
            <a:avLst/>
          </a:prstGeom>
          <a:noFill/>
          <a:ln/>
        </p:spPr>
        <p:txBody>
          <a:bodyPr wrap="square" lIns="0" tIns="0" rIns="0" bIns="0" rtlCol="0" anchor="t"/>
          <a:lstStyle/>
          <a:p>
            <a:pPr indent="0" marL="0">
              <a:buNone/>
            </a:pPr>
            <a:r>
              <a:rPr lang="en-US" sz="1600" dirty="0">
                <a:solidFill>
                  <a:schemeClr val="tx1"/>
                </a:solidFill>
              </a:rPr>
              <a:t>Rounded edges and corners, pinch-free hinge gap, factor of safety above 3 on the test load.</a:t>
            </a:r>
            <a:endParaRPr lang="en-US" sz="1600" dirty="0"/>
          </a:p>
        </p:txBody>
      </p:sp>
      <p:sp>
        <p:nvSpPr>
          <p:cNvPr id="8" name="Consideration card 2"/>
          <p:cNvSpPr/>
          <p:nvPr/>
        </p:nvSpPr>
        <p:spPr>
          <a:xfrm>
            <a:off x="6172200" y="1508760"/>
            <a:ext cx="5468112" cy="2286000"/>
          </a:xfrm>
          <a:prstGeom prst="roundRect">
            <a:avLst>
              <a:gd name="adj" fmla="val 4800"/>
            </a:avLst>
          </a:prstGeom>
          <a:solidFill>
            <a:schemeClr val="bg2"/>
          </a:solidFill>
          <a:ln/>
        </p:spPr>
      </p:sp>
      <p:sp>
        <p:nvSpPr>
          <p:cNvPr id="9" name="Consideration icon circle 2"/>
          <p:cNvSpPr/>
          <p:nvPr/>
        </p:nvSpPr>
        <p:spPr>
          <a:xfrm>
            <a:off x="6446520" y="1783080"/>
            <a:ext cx="685800" cy="685800"/>
          </a:xfrm>
          <a:prstGeom prst="ellipse">
            <a:avLst/>
          </a:prstGeom>
          <a:solidFill>
            <a:schemeClr val="accent2"/>
          </a:solidFill>
          <a:ln/>
        </p:spPr>
      </p:sp>
      <p:pic>
        <p:nvPicPr>
          <p:cNvPr id="10" name="Image 1" descr="Sustainability icon">    </p:cNvPr>
          <p:cNvPicPr>
            <a:picLocks noChangeAspect="1"/>
          </p:cNvPicPr>
          <p:nvPr/>
        </p:nvPicPr>
        <p:blipFill>
          <a:blip r:embed="rId2"/>
          <a:stretch>
            <a:fillRect/>
          </a:stretch>
        </p:blipFill>
        <p:spPr>
          <a:xfrm>
            <a:off x="6629400" y="1965960"/>
            <a:ext cx="320040" cy="320040"/>
          </a:xfrm>
          <a:prstGeom prst="rect">
            <a:avLst/>
          </a:prstGeom>
        </p:spPr>
      </p:pic>
      <p:sp>
        <p:nvSpPr>
          <p:cNvPr id="11" name="Text 7"/>
          <p:cNvSpPr txBox="1"/>
          <p:nvPr/>
        </p:nvSpPr>
        <p:spPr>
          <a:xfrm>
            <a:off x="7360920" y="1783080"/>
            <a:ext cx="4023360" cy="685800"/>
          </a:xfrm>
          <a:prstGeom prst="rect">
            <a:avLst/>
          </a:prstGeom>
          <a:noFill/>
          <a:ln/>
        </p:spPr>
        <p:txBody>
          <a:bodyPr wrap="square" lIns="0" tIns="0" rIns="0" bIns="0" rtlCol="0" anchor="ctr"/>
          <a:lstStyle/>
          <a:p>
            <a:pPr indent="0" marL="0">
              <a:buNone/>
            </a:pPr>
            <a:r>
              <a:rPr lang="en-US" sz="2200" b="1" dirty="0">
                <a:solidFill>
                  <a:schemeClr val="tx2"/>
                </a:solidFill>
              </a:rPr>
              <a:t>Sustainability</a:t>
            </a:r>
            <a:endParaRPr lang="en-US" sz="2200" dirty="0"/>
          </a:p>
        </p:txBody>
      </p:sp>
      <p:sp>
        <p:nvSpPr>
          <p:cNvPr id="12" name="Text 8"/>
          <p:cNvSpPr txBox="1"/>
          <p:nvPr/>
        </p:nvSpPr>
        <p:spPr>
          <a:xfrm>
            <a:off x="6446520" y="2697480"/>
            <a:ext cx="4937760" cy="960120"/>
          </a:xfrm>
          <a:prstGeom prst="rect">
            <a:avLst/>
          </a:prstGeom>
          <a:noFill/>
          <a:ln/>
        </p:spPr>
        <p:txBody>
          <a:bodyPr wrap="square" lIns="0" tIns="0" rIns="0" bIns="0" rtlCol="0" anchor="t"/>
          <a:lstStyle/>
          <a:p>
            <a:pPr indent="0" marL="0">
              <a:buNone/>
            </a:pPr>
            <a:r>
              <a:rPr lang="en-US" sz="1600" dirty="0">
                <a:solidFill>
                  <a:schemeClr val="tx1"/>
                </a:solidFill>
              </a:rPr>
              <a:t>One recyclable material family, no adhesives, every part repairable or replaceable.</a:t>
            </a:r>
            <a:endParaRPr lang="en-US" sz="1600" dirty="0"/>
          </a:p>
        </p:txBody>
      </p:sp>
      <p:sp>
        <p:nvSpPr>
          <p:cNvPr id="13" name="Consideration card 3"/>
          <p:cNvSpPr/>
          <p:nvPr/>
        </p:nvSpPr>
        <p:spPr>
          <a:xfrm>
            <a:off x="548640" y="4023360"/>
            <a:ext cx="5468112" cy="2286000"/>
          </a:xfrm>
          <a:prstGeom prst="roundRect">
            <a:avLst>
              <a:gd name="adj" fmla="val 4800"/>
            </a:avLst>
          </a:prstGeom>
          <a:solidFill>
            <a:schemeClr val="bg2"/>
          </a:solidFill>
          <a:ln/>
        </p:spPr>
      </p:sp>
      <p:sp>
        <p:nvSpPr>
          <p:cNvPr id="14" name="Consideration icon circle 3"/>
          <p:cNvSpPr/>
          <p:nvPr/>
        </p:nvSpPr>
        <p:spPr>
          <a:xfrm>
            <a:off x="822960" y="4297680"/>
            <a:ext cx="685800" cy="685800"/>
          </a:xfrm>
          <a:prstGeom prst="ellipse">
            <a:avLst/>
          </a:prstGeom>
          <a:solidFill>
            <a:schemeClr val="accent2"/>
          </a:solidFill>
          <a:ln/>
        </p:spPr>
      </p:sp>
      <p:pic>
        <p:nvPicPr>
          <p:cNvPr id="15" name="Image 2" descr="Ergonomics icon">    </p:cNvPr>
          <p:cNvPicPr>
            <a:picLocks noChangeAspect="1"/>
          </p:cNvPicPr>
          <p:nvPr/>
        </p:nvPicPr>
        <p:blipFill>
          <a:blip r:embed="rId3"/>
          <a:stretch>
            <a:fillRect/>
          </a:stretch>
        </p:blipFill>
        <p:spPr>
          <a:xfrm>
            <a:off x="1005840" y="4480560"/>
            <a:ext cx="320040" cy="320040"/>
          </a:xfrm>
          <a:prstGeom prst="rect">
            <a:avLst/>
          </a:prstGeom>
        </p:spPr>
      </p:pic>
      <p:sp>
        <p:nvSpPr>
          <p:cNvPr id="16" name="Text 11"/>
          <p:cNvSpPr txBox="1"/>
          <p:nvPr/>
        </p:nvSpPr>
        <p:spPr>
          <a:xfrm>
            <a:off x="1737360" y="4297680"/>
            <a:ext cx="4023360" cy="685800"/>
          </a:xfrm>
          <a:prstGeom prst="rect">
            <a:avLst/>
          </a:prstGeom>
          <a:noFill/>
          <a:ln/>
        </p:spPr>
        <p:txBody>
          <a:bodyPr wrap="square" lIns="0" tIns="0" rIns="0" bIns="0" rtlCol="0" anchor="ctr"/>
          <a:lstStyle/>
          <a:p>
            <a:pPr indent="0" marL="0">
              <a:buNone/>
            </a:pPr>
            <a:r>
              <a:rPr lang="en-US" sz="2200" b="1" dirty="0">
                <a:solidFill>
                  <a:schemeClr val="tx2"/>
                </a:solidFill>
              </a:rPr>
              <a:t>Ergonomics</a:t>
            </a:r>
            <a:endParaRPr lang="en-US" sz="2200" dirty="0"/>
          </a:p>
        </p:txBody>
      </p:sp>
      <p:sp>
        <p:nvSpPr>
          <p:cNvPr id="17" name="Text 12"/>
          <p:cNvSpPr txBox="1"/>
          <p:nvPr/>
        </p:nvSpPr>
        <p:spPr>
          <a:xfrm>
            <a:off x="822960" y="5212080"/>
            <a:ext cx="4937760" cy="960120"/>
          </a:xfrm>
          <a:prstGeom prst="rect">
            <a:avLst/>
          </a:prstGeom>
          <a:noFill/>
          <a:ln/>
        </p:spPr>
        <p:txBody>
          <a:bodyPr wrap="square" lIns="0" tIns="0" rIns="0" bIns="0" rtlCol="0" anchor="t"/>
          <a:lstStyle/>
          <a:p>
            <a:pPr indent="0" marL="0">
              <a:buNone/>
            </a:pPr>
            <a:r>
              <a:rPr lang="en-US" sz="1600" dirty="0">
                <a:solidFill>
                  <a:schemeClr val="tx1"/>
                </a:solidFill>
              </a:rPr>
              <a:t>Tilt range lets screen top sit near eye level for different desk and user heights.</a:t>
            </a:r>
            <a:endParaRPr lang="en-US" sz="1600" dirty="0"/>
          </a:p>
        </p:txBody>
      </p:sp>
      <p:sp>
        <p:nvSpPr>
          <p:cNvPr id="18" name="Consideration card 4"/>
          <p:cNvSpPr/>
          <p:nvPr/>
        </p:nvSpPr>
        <p:spPr>
          <a:xfrm>
            <a:off x="6172200" y="4023360"/>
            <a:ext cx="5468112" cy="2286000"/>
          </a:xfrm>
          <a:prstGeom prst="roundRect">
            <a:avLst>
              <a:gd name="adj" fmla="val 4800"/>
            </a:avLst>
          </a:prstGeom>
          <a:solidFill>
            <a:schemeClr val="tx2"/>
          </a:solidFill>
          <a:ln/>
        </p:spPr>
      </p:sp>
      <p:sp>
        <p:nvSpPr>
          <p:cNvPr id="19" name="Consideration icon circle 4"/>
          <p:cNvSpPr/>
          <p:nvPr/>
        </p:nvSpPr>
        <p:spPr>
          <a:xfrm>
            <a:off x="6446520" y="4297680"/>
            <a:ext cx="685800" cy="685800"/>
          </a:xfrm>
          <a:prstGeom prst="ellipse">
            <a:avLst/>
          </a:prstGeom>
          <a:solidFill>
            <a:schemeClr val="accent1"/>
          </a:solidFill>
          <a:ln/>
        </p:spPr>
      </p:sp>
      <p:pic>
        <p:nvPicPr>
          <p:cNvPr id="20" name="Image 3" descr="Limitations icon">    </p:cNvPr>
          <p:cNvPicPr>
            <a:picLocks noChangeAspect="1"/>
          </p:cNvPicPr>
          <p:nvPr/>
        </p:nvPicPr>
        <p:blipFill>
          <a:blip r:embed="rId4"/>
          <a:stretch>
            <a:fillRect/>
          </a:stretch>
        </p:blipFill>
        <p:spPr>
          <a:xfrm>
            <a:off x="6629400" y="4480560"/>
            <a:ext cx="320040" cy="320040"/>
          </a:xfrm>
          <a:prstGeom prst="rect">
            <a:avLst/>
          </a:prstGeom>
        </p:spPr>
      </p:pic>
      <p:sp>
        <p:nvSpPr>
          <p:cNvPr id="21" name="Text 15"/>
          <p:cNvSpPr txBox="1"/>
          <p:nvPr/>
        </p:nvSpPr>
        <p:spPr>
          <a:xfrm>
            <a:off x="7360920" y="4297680"/>
            <a:ext cx="4023360" cy="685800"/>
          </a:xfrm>
          <a:prstGeom prst="rect">
            <a:avLst/>
          </a:prstGeom>
          <a:noFill/>
          <a:ln/>
        </p:spPr>
        <p:txBody>
          <a:bodyPr wrap="square" lIns="0" tIns="0" rIns="0" bIns="0" rtlCol="0" anchor="ctr"/>
          <a:lstStyle/>
          <a:p>
            <a:pPr indent="0" marL="0">
              <a:buNone/>
            </a:pPr>
            <a:r>
              <a:rPr lang="en-US" sz="2200" b="1" dirty="0">
                <a:solidFill>
                  <a:schemeClr val="bg1"/>
                </a:solidFill>
              </a:rPr>
              <a:t>Limitations</a:t>
            </a:r>
            <a:endParaRPr lang="en-US" sz="2200" dirty="0"/>
          </a:p>
        </p:txBody>
      </p:sp>
      <p:sp>
        <p:nvSpPr>
          <p:cNvPr id="22" name="Text 16"/>
          <p:cNvSpPr txBox="1"/>
          <p:nvPr/>
        </p:nvSpPr>
        <p:spPr>
          <a:xfrm>
            <a:off x="6446520" y="5212080"/>
            <a:ext cx="4937760" cy="960120"/>
          </a:xfrm>
          <a:prstGeom prst="rect">
            <a:avLst/>
          </a:prstGeom>
          <a:noFill/>
          <a:ln/>
        </p:spPr>
        <p:txBody>
          <a:bodyPr wrap="square" lIns="0" tIns="0" rIns="0" bIns="0" rtlCol="0" anchor="t"/>
          <a:lstStyle/>
          <a:p>
            <a:pPr indent="0" marL="0">
              <a:buNone/>
            </a:pPr>
            <a:r>
              <a:rPr lang="en-US" sz="1600" dirty="0">
                <a:solidFill>
                  <a:schemeClr val="bg2"/>
                </a:solidFill>
              </a:rPr>
              <a:t>Static loads only. Fatigue, vibration and bend-radius stress concentrations were not modelled.</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640080"/>
            <a:ext cx="8229600" cy="82296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Conclusion and next steps</a:t>
            </a:r>
            <a:endParaRPr lang="en-US" sz="4000" dirty="0"/>
          </a:p>
        </p:txBody>
      </p:sp>
      <p:sp>
        <p:nvSpPr>
          <p:cNvPr id="3" name="Summary card 1"/>
          <p:cNvSpPr/>
          <p:nvPr/>
        </p:nvSpPr>
        <p:spPr>
          <a:xfrm>
            <a:off x="548640" y="1874520"/>
            <a:ext cx="3566160" cy="2377440"/>
          </a:xfrm>
          <a:prstGeom prst="roundRect">
            <a:avLst>
              <a:gd name="adj" fmla="val 4615"/>
            </a:avLst>
          </a:prstGeom>
          <a:solidFill>
            <a:schemeClr val="bg1">
              <a:alpha val="8000"/>
            </a:schemeClr>
          </a:solidFill>
          <a:ln w="12700">
            <a:solidFill>
              <a:schemeClr val="accent2"/>
            </a:solidFill>
            <a:prstDash val="solid"/>
          </a:ln>
        </p:spPr>
      </p:sp>
      <p:sp>
        <p:nvSpPr>
          <p:cNvPr id="4" name="Text 2"/>
          <p:cNvSpPr txBox="1"/>
          <p:nvPr/>
        </p:nvSpPr>
        <p:spPr>
          <a:xfrm>
            <a:off x="822960" y="2011680"/>
            <a:ext cx="137160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01</a:t>
            </a:r>
            <a:endParaRPr lang="en-US" sz="3000" dirty="0"/>
          </a:p>
        </p:txBody>
      </p:sp>
      <p:sp>
        <p:nvSpPr>
          <p:cNvPr id="5" name="Text 3"/>
          <p:cNvSpPr txBox="1"/>
          <p:nvPr/>
        </p:nvSpPr>
        <p:spPr>
          <a:xfrm>
            <a:off x="822960" y="2651760"/>
            <a:ext cx="3017520" cy="411480"/>
          </a:xfrm>
          <a:prstGeom prst="rect">
            <a:avLst/>
          </a:prstGeom>
          <a:noFill/>
          <a:ln/>
        </p:spPr>
        <p:txBody>
          <a:bodyPr wrap="square" lIns="0" tIns="0" rIns="0" bIns="0" rtlCol="0" anchor="ctr"/>
          <a:lstStyle/>
          <a:p>
            <a:pPr indent="0" marL="0">
              <a:buNone/>
            </a:pPr>
            <a:r>
              <a:rPr lang="en-US" sz="2000" b="1" dirty="0">
                <a:solidFill>
                  <a:schemeClr val="bg1"/>
                </a:solidFill>
              </a:rPr>
              <a:t>Need to spec</a:t>
            </a:r>
            <a:endParaRPr lang="en-US" sz="2000" dirty="0"/>
          </a:p>
        </p:txBody>
      </p:sp>
      <p:sp>
        <p:nvSpPr>
          <p:cNvPr id="6" name="Text 4"/>
          <p:cNvSpPr txBox="1"/>
          <p:nvPr/>
        </p:nvSpPr>
        <p:spPr>
          <a:xfrm>
            <a:off x="822960" y="3154680"/>
            <a:ext cx="3017520" cy="1005840"/>
          </a:xfrm>
          <a:prstGeom prst="rect">
            <a:avLst/>
          </a:prstGeom>
          <a:noFill/>
          <a:ln/>
        </p:spPr>
        <p:txBody>
          <a:bodyPr wrap="square" lIns="0" tIns="0" rIns="0" bIns="0" rtlCol="0" anchor="t"/>
          <a:lstStyle/>
          <a:p>
            <a:pPr indent="0" marL="0">
              <a:buNone/>
            </a:pPr>
            <a:r>
              <a:rPr lang="en-US" sz="1400" dirty="0">
                <a:solidFill>
                  <a:schemeClr val="bg2"/>
                </a:solidFill>
              </a:rPr>
              <a:t>A posture problem became six measurable targets.</a:t>
            </a:r>
            <a:endParaRPr lang="en-US" sz="1400" dirty="0"/>
          </a:p>
        </p:txBody>
      </p:sp>
      <p:sp>
        <p:nvSpPr>
          <p:cNvPr id="7" name="Summary card 2"/>
          <p:cNvSpPr/>
          <p:nvPr/>
        </p:nvSpPr>
        <p:spPr>
          <a:xfrm>
            <a:off x="4297680" y="1874520"/>
            <a:ext cx="3566160" cy="2377440"/>
          </a:xfrm>
          <a:prstGeom prst="roundRect">
            <a:avLst>
              <a:gd name="adj" fmla="val 4615"/>
            </a:avLst>
          </a:prstGeom>
          <a:solidFill>
            <a:schemeClr val="bg1">
              <a:alpha val="8000"/>
            </a:schemeClr>
          </a:solidFill>
          <a:ln w="12700">
            <a:solidFill>
              <a:schemeClr val="accent2"/>
            </a:solidFill>
            <a:prstDash val="solid"/>
          </a:ln>
        </p:spPr>
      </p:sp>
      <p:sp>
        <p:nvSpPr>
          <p:cNvPr id="8" name="Text 6"/>
          <p:cNvSpPr txBox="1"/>
          <p:nvPr/>
        </p:nvSpPr>
        <p:spPr>
          <a:xfrm>
            <a:off x="4572000" y="2011680"/>
            <a:ext cx="137160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02</a:t>
            </a:r>
            <a:endParaRPr lang="en-US" sz="3000" dirty="0"/>
          </a:p>
        </p:txBody>
      </p:sp>
      <p:sp>
        <p:nvSpPr>
          <p:cNvPr id="9" name="Text 7"/>
          <p:cNvSpPr txBox="1"/>
          <p:nvPr/>
        </p:nvSpPr>
        <p:spPr>
          <a:xfrm>
            <a:off x="4572000" y="2651760"/>
            <a:ext cx="3017520" cy="411480"/>
          </a:xfrm>
          <a:prstGeom prst="rect">
            <a:avLst/>
          </a:prstGeom>
          <a:noFill/>
          <a:ln/>
        </p:spPr>
        <p:txBody>
          <a:bodyPr wrap="square" lIns="0" tIns="0" rIns="0" bIns="0" rtlCol="0" anchor="ctr"/>
          <a:lstStyle/>
          <a:p>
            <a:pPr indent="0" marL="0">
              <a:buNone/>
            </a:pPr>
            <a:r>
              <a:rPr lang="en-US" sz="2000" b="1" dirty="0">
                <a:solidFill>
                  <a:schemeClr val="bg1"/>
                </a:solidFill>
              </a:rPr>
              <a:t>Model-led design</a:t>
            </a:r>
            <a:endParaRPr lang="en-US" sz="2000" dirty="0"/>
          </a:p>
        </p:txBody>
      </p:sp>
      <p:sp>
        <p:nvSpPr>
          <p:cNvPr id="10" name="Text 8"/>
          <p:cNvSpPr txBox="1"/>
          <p:nvPr/>
        </p:nvSpPr>
        <p:spPr>
          <a:xfrm>
            <a:off x="4572000" y="3154680"/>
            <a:ext cx="3017520" cy="1005840"/>
          </a:xfrm>
          <a:prstGeom prst="rect">
            <a:avLst/>
          </a:prstGeom>
          <a:noFill/>
          <a:ln/>
        </p:spPr>
        <p:txBody>
          <a:bodyPr wrap="square" lIns="0" tIns="0" rIns="0" bIns="0" rtlCol="0" anchor="t"/>
          <a:lstStyle/>
          <a:p>
            <a:pPr indent="0" marL="0">
              <a:buNone/>
            </a:pPr>
            <a:r>
              <a:rPr lang="en-US" sz="1400" dirty="0">
                <a:solidFill>
                  <a:schemeClr val="bg2"/>
                </a:solidFill>
              </a:rPr>
              <a:t>Beam theory showed stiffness, not strength, sets the thickness (1.4 mm vs 1.5 mm limit).</a:t>
            </a:r>
            <a:endParaRPr lang="en-US" sz="1400" dirty="0"/>
          </a:p>
        </p:txBody>
      </p:sp>
      <p:sp>
        <p:nvSpPr>
          <p:cNvPr id="11" name="Summary card 3"/>
          <p:cNvSpPr/>
          <p:nvPr/>
        </p:nvSpPr>
        <p:spPr>
          <a:xfrm>
            <a:off x="8046720" y="1874520"/>
            <a:ext cx="3566160" cy="2377440"/>
          </a:xfrm>
          <a:prstGeom prst="roundRect">
            <a:avLst>
              <a:gd name="adj" fmla="val 4615"/>
            </a:avLst>
          </a:prstGeom>
          <a:solidFill>
            <a:schemeClr val="bg1">
              <a:alpha val="8000"/>
            </a:schemeClr>
          </a:solidFill>
          <a:ln w="12700">
            <a:solidFill>
              <a:schemeClr val="accent2"/>
            </a:solidFill>
            <a:prstDash val="solid"/>
          </a:ln>
        </p:spPr>
      </p:sp>
      <p:sp>
        <p:nvSpPr>
          <p:cNvPr id="12" name="Text 10"/>
          <p:cNvSpPr txBox="1"/>
          <p:nvPr/>
        </p:nvSpPr>
        <p:spPr>
          <a:xfrm>
            <a:off x="8321040" y="2011680"/>
            <a:ext cx="1371600" cy="54864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03</a:t>
            </a:r>
            <a:endParaRPr lang="en-US" sz="3000" dirty="0"/>
          </a:p>
        </p:txBody>
      </p:sp>
      <p:sp>
        <p:nvSpPr>
          <p:cNvPr id="13" name="Text 11"/>
          <p:cNvSpPr txBox="1"/>
          <p:nvPr/>
        </p:nvSpPr>
        <p:spPr>
          <a:xfrm>
            <a:off x="8321040" y="2651760"/>
            <a:ext cx="3017520" cy="411480"/>
          </a:xfrm>
          <a:prstGeom prst="rect">
            <a:avLst/>
          </a:prstGeom>
          <a:noFill/>
          <a:ln/>
        </p:spPr>
        <p:txBody>
          <a:bodyPr wrap="square" lIns="0" tIns="0" rIns="0" bIns="0" rtlCol="0" anchor="ctr"/>
          <a:lstStyle/>
          <a:p>
            <a:pPr indent="0" marL="0">
              <a:buNone/>
            </a:pPr>
            <a:r>
              <a:rPr lang="en-US" sz="2000" b="1" dirty="0">
                <a:solidFill>
                  <a:schemeClr val="bg1"/>
                </a:solidFill>
              </a:rPr>
              <a:t>Built and iterated</a:t>
            </a:r>
            <a:endParaRPr lang="en-US" sz="2000" dirty="0"/>
          </a:p>
        </p:txBody>
      </p:sp>
      <p:sp>
        <p:nvSpPr>
          <p:cNvPr id="14" name="Text 12"/>
          <p:cNvSpPr txBox="1"/>
          <p:nvPr/>
        </p:nvSpPr>
        <p:spPr>
          <a:xfrm>
            <a:off x="8321040" y="3154680"/>
            <a:ext cx="3017520" cy="1005840"/>
          </a:xfrm>
          <a:prstGeom prst="rect">
            <a:avLst/>
          </a:prstGeom>
          <a:noFill/>
          <a:ln/>
        </p:spPr>
        <p:txBody>
          <a:bodyPr wrap="square" lIns="0" tIns="0" rIns="0" bIns="0" rtlCol="0" anchor="t"/>
          <a:lstStyle/>
          <a:p>
            <a:pPr indent="0" marL="0">
              <a:buNone/>
            </a:pPr>
            <a:r>
              <a:rPr lang="en-US" sz="1400" dirty="0">
                <a:solidFill>
                  <a:schemeClr val="bg2"/>
                </a:solidFill>
              </a:rPr>
              <a:t>Version 2 meets the spec at about $10 and 0.5 kg.</a:t>
            </a:r>
            <a:endParaRPr lang="en-US" sz="1400" dirty="0"/>
          </a:p>
        </p:txBody>
      </p:sp>
      <p:sp>
        <p:nvSpPr>
          <p:cNvPr id="15" name="Text 13"/>
          <p:cNvSpPr txBox="1"/>
          <p:nvPr/>
        </p:nvSpPr>
        <p:spPr>
          <a:xfrm>
            <a:off x="548640" y="4663440"/>
            <a:ext cx="45720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NEXT STEPS</a:t>
            </a:r>
            <a:endParaRPr lang="en-US" sz="1200" dirty="0"/>
          </a:p>
        </p:txBody>
      </p:sp>
      <p:sp>
        <p:nvSpPr>
          <p:cNvPr id="16" name="Text 14"/>
          <p:cNvSpPr txBox="1"/>
          <p:nvPr/>
        </p:nvSpPr>
        <p:spPr>
          <a:xfrm>
            <a:off x="548640" y="4983480"/>
            <a:ext cx="6949440" cy="118872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bg2"/>
                </a:solidFill>
              </a:rPr>
              <a:t>Fatigue and vibration analysis of hinge and leg joints</a:t>
            </a:r>
            <a:endParaRPr lang="en-US" sz="1600" dirty="0"/>
          </a:p>
          <a:p>
            <a:pPr marL="342900" indent="-342900">
              <a:spcAft>
                <a:spcPts val="400"/>
              </a:spcAft>
              <a:buSzPct val="100000"/>
              <a:buChar char="•"/>
            </a:pPr>
            <a:r>
              <a:rPr lang="en-US" sz="1600" dirty="0">
                <a:solidFill>
                  <a:schemeClr val="bg2"/>
                </a:solidFill>
              </a:rPr>
              <a:t>Topology-optimised tray cut-outs to reduce mass further</a:t>
            </a:r>
            <a:endParaRPr lang="en-US" sz="1600" dirty="0"/>
          </a:p>
          <a:p>
            <a:pPr marL="342900" indent="-342900">
              <a:spcAft>
                <a:spcPts val="400"/>
              </a:spcAft>
              <a:buSzPct val="100000"/>
              <a:buChar char="•"/>
            </a:pPr>
            <a:r>
              <a:rPr lang="en-US" sz="1600" dirty="0">
                <a:solidFill>
                  <a:schemeClr val="bg2"/>
                </a:solidFill>
              </a:rPr>
              <a:t>User trial with 10 participants to validate comfort</a:t>
            </a:r>
            <a:endParaRPr lang="en-US" sz="1600" dirty="0"/>
          </a:p>
        </p:txBody>
      </p:sp>
      <p:sp>
        <p:nvSpPr>
          <p:cNvPr id="17" name="Text 15"/>
          <p:cNvSpPr txBox="1"/>
          <p:nvPr/>
        </p:nvSpPr>
        <p:spPr>
          <a:xfrm>
            <a:off x="7863840" y="5029200"/>
            <a:ext cx="3776472" cy="640080"/>
          </a:xfrm>
          <a:prstGeom prst="rect">
            <a:avLst/>
          </a:prstGeom>
          <a:noFill/>
          <a:ln/>
        </p:spPr>
        <p:txBody>
          <a:bodyPr wrap="square" lIns="0" tIns="0" rIns="0" bIns="0" rtlCol="0" anchor="ctr"/>
          <a:lstStyle/>
          <a:p>
            <a:pPr algn="r" indent="0" marL="0">
              <a:buNone/>
            </a:pPr>
            <a:r>
              <a:rPr lang="en-US" sz="3600" b="1" dirty="0">
                <a:solidFill>
                  <a:schemeClr val="bg1"/>
                </a:solidFill>
                <a:latin typeface="Cambria" pitchFamily="34" charset="0"/>
                <a:ea typeface="Cambria" pitchFamily="34" charset="-122"/>
                <a:cs typeface="Cambria" pitchFamily="34" charset="-120"/>
              </a:rPr>
              <a:t>Thank you</a:t>
            </a:r>
            <a:endParaRPr lang="en-US" sz="3600" dirty="0"/>
          </a:p>
        </p:txBody>
      </p:sp>
      <p:sp>
        <p:nvSpPr>
          <p:cNvPr id="18" name="Text 16"/>
          <p:cNvSpPr txBox="1"/>
          <p:nvPr/>
        </p:nvSpPr>
        <p:spPr>
          <a:xfrm>
            <a:off x="7863840" y="5669280"/>
            <a:ext cx="3776472" cy="457200"/>
          </a:xfrm>
          <a:prstGeom prst="rect">
            <a:avLst/>
          </a:prstGeom>
          <a:noFill/>
          <a:ln/>
        </p:spPr>
        <p:txBody>
          <a:bodyPr wrap="square" lIns="0" tIns="0" rIns="0" bIns="0" rtlCol="0" anchor="ctr"/>
          <a:lstStyle/>
          <a:p>
            <a:pPr algn="r" indent="0" marL="0">
              <a:buNone/>
            </a:pPr>
            <a:r>
              <a:rPr lang="en-US" sz="2000" dirty="0">
                <a:solidFill>
                  <a:schemeClr val="accent1"/>
                </a:solidFill>
              </a:rPr>
              <a:t>Questions?</a:t>
            </a:r>
            <a:endParaRPr lang="en-US" sz="2000" dirty="0"/>
          </a:p>
        </p:txBody>
      </p:sp>
      <p:sp>
        <p:nvSpPr>
          <p:cNvPr id="20" name="Text 0"/>
          <p:cNvSpPr/>
          <p:nvPr>
            <p:ph idx="100" type="title" hasCustomPrompt="1"/>
          </p:nvPr>
        </p:nvSpPr>
        <p:spPr>
          <a:xfrm>
            <a:off x="548640" y="2103120"/>
            <a:ext cx="5852160" cy="1005840"/>
          </a:xfrm>
          <a:prstGeom prst="rect">
            <a:avLst/>
          </a:prstGeom>
          <a:noFill/>
          <a:ln/>
        </p:spPr>
        <p:txBody>
          <a:bodyPr wrap="square" lIns="0" tIns="0" rIns="0" bIns="0" rtlCol="0" anchor="t"/>
          <a:lstStyle/>
          <a:p>
            <a:pPr algn="l" indent="0" marL="0">
              <a:buNone/>
            </a:pPr>
            <a:endParaRPr lang="en-US" sz="6000" dirty="0"/>
          </a:p>
        </p:txBody>
      </p:sp>
      <p:sp>
        <p:nvSpPr>
          <p:cNvPr id="21" name="Text 0"/>
          <p:cNvSpPr/>
          <p:nvPr>
            <p:ph idx="101" type="body" hasCustomPrompt="1"/>
          </p:nvPr>
        </p:nvSpPr>
        <p:spPr>
          <a:xfrm>
            <a:off x="548640" y="3246120"/>
            <a:ext cx="5394960" cy="100584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theme/theme1.xml><?xml version="1.0" encoding="utf-8"?>
<a:theme xmlns:a="http://schemas.openxmlformats.org/drawingml/2006/main" name="Blueprint Orange">
  <a:themeElements>
    <a:clrScheme name="Blueprint Orange">
      <a:dk1>
        <a:srgbClr val="12202F"/>
      </a:dk1>
      <a:lt1>
        <a:srgbClr val="FFFFFF"/>
      </a:lt1>
      <a:dk2>
        <a:srgbClr val="0A2540"/>
      </a:dk2>
      <a:lt2>
        <a:srgbClr val="EEF2F6"/>
      </a:lt2>
      <a:accent1>
        <a:srgbClr val="F28C28"/>
      </a:accent1>
      <a:accent2>
        <a:srgbClr val="2563A8"/>
      </a:accent2>
      <a:accent3>
        <a:srgbClr val="1FA39A"/>
      </a:accent3>
      <a:accent4>
        <a:srgbClr val="5B6773"/>
      </a:accent4>
      <a:accent5>
        <a:srgbClr val="D64B4B"/>
      </a:accent5>
      <a:accent6>
        <a:srgbClr val="F2C14E"/>
      </a:accent6>
      <a:hlink>
        <a:srgbClr val="2563A8"/>
      </a:hlink>
      <a:folHlink>
        <a:srgbClr val="5B6773"/>
      </a:folHlink>
    </a:clrScheme>
    <a:fontScheme name="Blueprint Orang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StandUp – Engineering Design &amp; Modelling Prototype Showcase</dc:title>
  <dc:subject>PptxGenJS Presentation</dc:subject>
  <dc:creator>Your Name</dc:creator>
  <cp:lastModifiedBy>Your Name</cp:lastModifiedBy>
  <cp:revision>1</cp:revision>
  <dcterms:created xsi:type="dcterms:W3CDTF">2026-10-10T06:57:01Z</dcterms:created>
  <dcterms:modified xsi:type="dcterms:W3CDTF">2026-10-10T06:57:01Z</dcterms:modified>
</cp:coreProperties>
</file>